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2" r:id="rId23"/>
    <p:sldId id="257" r:id="rId3"/>
    <p:sldId id="258" r:id="rId4"/>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43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500" b="0" i="0" u="none" strike="noStrike">
                <a:solidFill>
                  <a:srgbClr val="16203A"/>
                </a:solidFill>
                <a:latin typeface="Calibri"/>
              </a:defRPr>
            </a:pPr>
            <a:r>
              <a:rPr lang="en-US" altLang="ko-KR" sz="1500" b="0" i="0" u="none" strike="noStrike">
                <a:solidFill>
                  <a:srgbClr val="16203A"/>
                </a:solidFill>
                <a:latin typeface="Calibri"/>
              </a:rPr>
              <a:t>WER · CER </a:t>
            </a:r>
            <a:r>
              <a:rPr lang="ko-KR" altLang="en-US" sz="1500" b="0" i="0" u="none" strike="noStrike">
                <a:solidFill>
                  <a:srgbClr val="16203A"/>
                </a:solidFill>
                <a:latin typeface="Calibri"/>
              </a:rPr>
              <a:t>평균 </a:t>
            </a:r>
            <a:r>
              <a:rPr lang="en-US" altLang="ko-KR" sz="1500" b="0" i="0" u="none" strike="noStrike">
                <a:solidFill>
                  <a:srgbClr val="16203A"/>
                </a:solidFill>
                <a:latin typeface="Calibri"/>
              </a:rPr>
              <a:t>(%, 9</a:t>
            </a:r>
            <a:r>
              <a:rPr lang="ko-KR" altLang="en-US" sz="1500" b="0" i="0" u="none" strike="noStrike">
                <a:solidFill>
                  <a:srgbClr val="16203A"/>
                </a:solidFill>
                <a:latin typeface="Calibri"/>
              </a:rPr>
              <a:t>개 데이터셋</a:t>
            </a:r>
            <a:r>
              <a:rPr lang="en-US" altLang="ko-KR" sz="1500" b="0" i="0" u="none" strike="noStrike">
                <a:solidFill>
                  <a:srgbClr val="16203A"/>
                </a:solidFill>
                <a:latin typeface="Calibri"/>
              </a:rPr>
              <a:t>)</a:t>
            </a:r>
          </a:p>
        </c:rich>
      </c:tx>
      <c:overlay val="0"/>
    </c:title>
    <c:autoTitleDeleted val="0"/>
    <c:plotArea>
      <c:layout/>
      <c:barChart>
        <c:barDir val="col"/>
        <c:grouping val="clustered"/>
        <c:varyColors val="0"/>
        <c:ser>
          <c:idx val="0"/>
          <c:order val="0"/>
          <c:tx>
            <c:strRef>
              <c:f>Sheet1!$B$1</c:f>
              <c:strCache>
                <c:ptCount val="1"/>
                <c:pt idx="0">
                  <c:v>CLOVA</c:v>
                </c:pt>
              </c:strCache>
            </c:strRef>
          </c:tx>
          <c:spPr>
            <a:solidFill>
              <a:srgbClr val="5A6B8C"/>
            </a:solidFill>
            <a:effectLst/>
          </c:spPr>
          <c:invertIfNegative val="0"/>
          <c:dLbls>
            <c:numFmt formatCode="0.0&quot;%&quot;" sourceLinked="0"/>
            <c:spPr>
              <a:noFill/>
              <a:ln>
                <a:noFill/>
              </a:ln>
              <a:effectLst/>
            </c:spPr>
            <c:txPr>
              <a:bodyPr/>
              <a:lstStyle/>
              <a:p>
                <a:pPr>
                  <a:defRPr sz="1200" b="0" i="0" u="none" strike="noStrike">
                    <a:solidFill>
                      <a:srgbClr val="16203A"/>
                    </a:solidFill>
                    <a:latin typeface="Calibri"/>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평균 WER</c:v>
                </c:pt>
                <c:pt idx="1">
                  <c:v>평균 CER</c:v>
                </c:pt>
              </c:strCache>
            </c:strRef>
          </c:cat>
          <c:val>
            <c:numRef>
              <c:f>Sheet1!$B$2:$B$3</c:f>
              <c:numCache>
                <c:formatCode>General</c:formatCode>
                <c:ptCount val="2"/>
                <c:pt idx="0">
                  <c:v>26.9</c:v>
                </c:pt>
                <c:pt idx="1">
                  <c:v>10.1</c:v>
                </c:pt>
              </c:numCache>
            </c:numRef>
          </c:val>
          <c:extLst>
            <c:ext xmlns:c16="http://schemas.microsoft.com/office/drawing/2014/chart" uri="{C3380CC4-5D6E-409C-BE32-E72D297353CC}">
              <c16:uniqueId val="{00000000-4C4D-4DE6-A43F-6BA3E4ACB4AA}"/>
            </c:ext>
          </c:extLst>
        </c:ser>
        <c:ser>
          <c:idx val="1"/>
          <c:order val="1"/>
          <c:tx>
            <c:strRef>
              <c:f>Sheet1!$C$1</c:f>
              <c:strCache>
                <c:ptCount val="1"/>
                <c:pt idx="0">
                  <c:v>Soniox</c:v>
                </c:pt>
              </c:strCache>
            </c:strRef>
          </c:tx>
          <c:spPr>
            <a:solidFill>
              <a:srgbClr val="065A82"/>
            </a:solidFill>
            <a:effectLst/>
          </c:spPr>
          <c:invertIfNegative val="0"/>
          <c:dLbls>
            <c:numFmt formatCode="0.0&quot;%&quot;" sourceLinked="0"/>
            <c:spPr>
              <a:noFill/>
              <a:ln>
                <a:noFill/>
              </a:ln>
              <a:effectLst/>
            </c:spPr>
            <c:txPr>
              <a:bodyPr/>
              <a:lstStyle/>
              <a:p>
                <a:pPr>
                  <a:defRPr sz="1200" b="0" i="0" u="none" strike="noStrike">
                    <a:solidFill>
                      <a:srgbClr val="16203A"/>
                    </a:solidFill>
                    <a:latin typeface="Calibri"/>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평균 WER</c:v>
                </c:pt>
                <c:pt idx="1">
                  <c:v>평균 CER</c:v>
                </c:pt>
              </c:strCache>
            </c:strRef>
          </c:cat>
          <c:val>
            <c:numRef>
              <c:f>Sheet1!$C$2:$C$3</c:f>
              <c:numCache>
                <c:formatCode>General</c:formatCode>
                <c:ptCount val="2"/>
                <c:pt idx="0">
                  <c:v>23.5</c:v>
                </c:pt>
                <c:pt idx="1">
                  <c:v>9.6</c:v>
                </c:pt>
              </c:numCache>
            </c:numRef>
          </c:val>
          <c:extLst>
            <c:ext xmlns:c16="http://schemas.microsoft.com/office/drawing/2014/chart" uri="{C3380CC4-5D6E-409C-BE32-E72D297353CC}">
              <c16:uniqueId val="{00000001-4C4D-4DE6-A43F-6BA3E4ACB4A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203A"/>
                </a:solidFill>
                <a:latin typeface="Calibri"/>
              </a:defRPr>
            </a:pPr>
            <a:endParaRPr lang="en-US"/>
          </a:p>
        </c:txPr>
        <c:crossAx val="2094734552"/>
        <c:crosses val="autoZero"/>
        <c:auto val="1"/>
        <c:lblAlgn val="ctr"/>
        <c:lblOffset val="100"/>
        <c:noMultiLvlLbl val="1"/>
      </c:catAx>
      <c:valAx>
        <c:axId val="2094734552"/>
        <c:scaling>
          <c:orientation val="minMax"/>
          <c:max val="32"/>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9813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40초] 안녕하십니까. 저희 프로젝트 SynapVox를 소개하겠습니다. 한 문장으로 말씀드리면, 강의나 회의에서 나오는 음성 기록을 하나의 지식 그래프로 만들어서, 시간축과 의미축으로 연결하고, 그 그래프 위에서 출처까지 추적되는 대화를 할 수 있게 하는 시스템입니다. 저희가 흩어진 음성 기록을 그냥 텍스트로 남기는 데서 그치지 않고, 정확한 전사에서 시작해서 연결된 그래프를 거쳐 근거 기반 대화까지 이어지도록 만든 것이 핵심입니다. 발표는 세 부분으로 진행하겠습니다. 먼저 왜 이걸 만들었는지 문제 정의, 다음으로 STT·그래프·챗봇 세 축의 구현, 마지막으로 성능 평가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55초] 저희가 이 시스템을 만들게 된 문제는 크게 두 가지입니다. 첫 번째는 STT, 즉 음성 인식의 도메인 특화 문제입니다. 범용 STT 엔진은 일상 대화에는 잘 동작하지만, 강의에서 쏟아지는 전문용어에서 무너집니다. 예를 들어 프로빗, 피셔, 로지스틱 회귀 같은 영문 용어가 집중적으로 잘못 전사되면서, 뒤에서 보여드리겠지만 단어 오류율이 17%에서 46%까지 치솟습니다. 그래서 강의자료에서 용어를 미리 뽑아 전사에 주입하고, 전사한 뒤 LLM으로 오전사를 정제하는 과정이 필요했습니다. 두 번째 문제는 정리의 파편화입니다. 회의나 강의가 각각 독립된 문서로만 남으면, 세션 사이의 연결이 끊겨서 무엇이 언제 다뤄졌고 어떤 주제가 이어지는지 한눈에 볼 수 없습니다. 저희는 이걸 두 축으로 연결하려 했습니다. 언제 다뤄졌는지를 나타내는 시간축과, 어떤 주제인지를 나타내는 의미축입니다. 그리고 이걸 그래프로 시각화해서 탐색할 수 있게 하는 것이 목표였습니다.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45초] 본격적인 구현에 들어가기 전에 전체 그림을 먼저 보여드리겠습니다. 왼쪽부터 보시면, 입력은 음성 녹음과 강의 자료입니다. 이게 STT 파이프라인으로 들어가서 두 단계 전사를 거치고, chunking 단계에서 적절한 크기로 쪼개진 다음, 지식 그래프로 적재됩니다. 그래프는 Graphiti 엔진을 써서 만드는데, LLM이 개념과 관계를 추출하고 시간축까지 보존해서 Neo4j에 저장합니다. 뒤에 자세히 설명드리겠습니다. 마지막으로 이 그래프는 두 가지로 소비됩니다. 하나는 개념과 세션을 노드로 보여주는 그래프 뷰이고, 다른 하나는 그래프 위에서 대화하는 RAG 챗봇입니다. 여기서 한 가지 강조하고 싶은 설계 포인트가 있습니다. 아래 문구에 있듯이, 저희가 쓰는 세 STT 엔진, 즉 Soniox, CLOVA, Whisper가 모두 동일한 중간포맷 스키마로 수렴합니다. 그래서 하위 모듈은 어떤 엔진이 전사했는지 몰라도 됩니다. 이게 뒤에 나올 엔진 교체와 폴백을 가능하게 하는 기반입니다.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60초] 첫 번째 구현, STT 파이프라인입니다. 구조 자체는 위에 요약했듯이 2-pass입니다. 1차로 관리형 API가 전사하고, 2차로 LLM이 batch 병렬로 정제합니다. 그런데 여기서 심사위원께서 자연스럽게 드실 의문이, 왜 굳이 비용이 드는 외부 API를 쓰느냐일 겁니다. 그 당위성을 왼쪽에 정리했습니다. 저희도 처음엔 무료인 로컬 Whisper 경로를 검토했습니다. 그런데 세 가지가 걸렸습니다. 첫째, Whisper는 화자분리가 내장되어 있지 않아서 pyannote라는 별도 파이프라인을 붙여야 합니다. 둘째, 실제로 재보니 관리형 API 대비 오류율이 유의미하게 높았습니다. 셋째, 저희 아키텍처 결정인 ADR-005가 화자분리 내장 관리형 API를 요구합니다. 결국 전사와 화자분리 품질을 확보하려면 관리형 API가 불가피했고, 그래서 비용을 감수할 근거가 명확했습니다. 다만 비용을 그냥 지불한 게 아니라, 오른쪽처럼 세 가지로 줄였습니다. 첫째, 앞서 보여드릴 9개 데이터셋 모델 비교로 더 정확한 Soniox를 골랐습니다. 더 정확하다는 건 오전사와 재작업이 줄어서 하류 호출도 준다는 뜻입니다. 둘째, 2차 정제의 추론량 파라미터를 minimal에서 low로 올렸습니다. minimal일 때는 모델이 세그먼트 id를 정확히 반환 못 해서 배치당 평균 두 번씩 재시도하며 호출을 낭비했는데, 이걸 없앴습니다. 셋째, 배치 일부가 실패해도 배치 전체를 다시 부르지 않고 누락된 조각만 원문을 유지합니다. 정리하면, 외부 API는 품질상 불가피했지만 토큰 비용은 설계로 최소화했다는 것이 이 슬라이드의 핵심입니다.</a:t>
            </a:r>
          </a:p>
          <a:p>
            <a:r>
              <a:t>★ 구현 차별점 ① · STT 입력을 배치로 나눠 병렬 처리 — 이 점을 한 문장으로 반드시 짚을 것.</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55초] 두 번째 구현, 지식 그래프입니다. 저희는 Graphiti라는 엔진을 써서 그래프를 만듭니다. 흐름은 이렇습니다. 왼쪽에서, chunking으로 쪼갠 청크 텍스트를 화자 발화 형태의 평문으로 만들어 에피소드로 투입합니다. 가운데에서, LLM이 이 청크를 읽고 개념과 관계를 추출합니다. 이때 저희가 엔티티 타입 스키마와 한국어 추출 지시문을 함께 줘서, 무엇을 개념으로 볼지를 통제합니다. 예를 들어 학술 개념, 방법, 조건, 수식 같은 타입만 개념으로 인정하고 문서 제목이나 화자명은 제외하도록 합니다. 오른쪽 결과를 보시면, Neo4j에 두 종류 노드로 저장됩니다. 원본 조각인 Episodic이 세션이 되고, 추출된 개념이 Entity가 됩니다. 그리고 개념끼리의 관계, 이걸 fact라고 부르는데, A는 B의 특수한 경우다 같은 의미적 관계로 연결됩니다. 이 fact가 뒤에 나올 챗봇의 검색 단위가 됩니다. 핵심은, 저희가 텍스트만 던지면 엔진이 개념과 관계, 시간축까지 알아서 그래프로 만들어 준다는 점입니다. 그리고 이 그래프는 프론트에 session과 concept 노드로 나가서 그래프 뷰가 그대로 렌더링합니다.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그럼 Graphiti를 써서 구체적으로 무엇을 얻는지, 네 가지로 정리했습니다. 첫째, 의미적 관계 추출입니다. LLM이 청크를 읽고 개념 사이 관계를 판단하기 때문에, 단순히 함께 등장했다가 아니라 A는 B의 특수한 경우다 같은 의미 관계를 만듭니다. 둘째, 이 관계 fact가 검색 단위가 됩니다. 개념 노드가 아니라 관계 자체를 검색하니까, 왜와 어떻게 같은 질문에 바로 답할 근거를 회수할 수 있습니다. 셋째, bi-temporal 시간축입니다. 이벤트가 실제 일어난 시점과 그것이 기록된 시점을 함께 보존해서, 나중에 값이 바뀌어도 과거 상태를 정확히 되짚을 수 있습니다. 넷째, 출처 추적이 내장되어 있습니다. fact마다 어느 강의나 자료에서 나왔는지 붙기 때문에, 답변의 인용을 실제 출처로 연결할 수 있습니다. 그리고 아래 띠에 있듯이, 저희가 엔티티 타입과 한국어 지시문으로 무엇을 개념으로 볼지 통제합니다. 학술 개념, 방법, 조건, 수식 같은 전공 용어만 인정하고 화자명이나 문서 제목은 제외합니다. 이 네 가지가 뒤에 설명드릴 근거 기반 대화, RAG의 토대가 됩니다.</a:t>
            </a:r>
          </a:p>
          <a:p>
            <a:r>
              <a:t>★ 구현 차별점 ② · temporal 정보를 참조할 수 있다 — 이 점을 한 문장으로 반드시 짚을 것.</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55초] 세 번째 구현, RAG 챗봇입니다. 흐름은 세 단계입니다. 첫째, 검색 단계에서 사용자 질문을 Graphiti에 보내서 관련된 관계 fact를 몇 개 회수합니다. 여기서 핵심은, 개념 노드가 아니라 관계 문장, 즉 엣지가 검색 단위라는 점입니다. 둘째, 그 fact들의 양 끝 개념 노드를 조회해서 그래프에서 하이라이트하고, 답변의 인용 칩과 노드를 연결합니다. 셋째, LLM이 이 근거만 사용해서 답변을 생성하는데, 각 주장 끝에 [1], [2] 같은 인용 번호를 반드시 붙이도록 강제하고, 사실 기반이라 temperature는 0.2로 낮췄습니다. 오른쪽에 네 가지 특징을 정리했습니다. 근거마다 번호와 출처를 붙이는 출처 표기, 엣지를 검색 단위로 쓰는 fact 기반, 토큰을 즉시 전달하는 스트리밍, 그리고 수식이 깨지지 않게 하는 LaTeX 보호입니다. 아래 강조하고 싶은 건, 개념이 아니라 관계 fact를 검색하기 때문에 왜와 어떻게에 강하고, 답변의 인용 번호가 실제 강의나 자료로 매핑되며, 근거가 부족하면 지어내지 않고 기권한다는 점입니다. 이게 환각을 억제하는 장치입니다.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45초] 구현에서 어떤 모델을 썼는지 한 장에 정리했습니다. 표를 위에서부터 보시면, STT 1차 전사는 Soniox와 CLOVA 같은 관리형 API가 담당합니다. 2차 정제와 그래프 개념 추출, 그리고 평가 채점에는 gpt-5-mini를 씁니다. 정확도가 중요한 단계들입니다. 자료에 들어간 이미지는 gpt-4o 비전이 텍스트로 설명하고, 개념과 청크의 벡터화는 text-embedding-3-small을 씁니다. 마지막으로 챗봇 답변 생성에는 경량 모델인 gpt-4o-mini를 씁니다. 아래 요약처럼, 정확도가 중요한 곳에는 gpt-5-mini를, 대량으로 빠르게 응답해야 하는 답변에는 경량 모델을 배치해서 성능과 비용을 단계별로 최적화했습니다. 그리고 이 모델들은 전부 환경변수로 교체할 수 있게 해두었습니다.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유료 API를 쓰는 만큼 토큰 사용량을 실제로 관측해야 합니다. 그래서 LangSmith로 계측을 붙였습니다. 왼쪽처럼, 저희가 OpenAI를 호출하는 모든 클라이언트를 wrap_openai_client라는 함수로 감쌉니다. 챗봇 답변 LLM, Graphiti의 개념 추출 LLM, 임베더, 그리고 재랭킹용 cross-encoder까지 전부 대상입니다. 가운데를 보시면, 이렇게 감싸면 LangSmith가 호출마다 입력과 출력 토큰 수, 모델 단가를 반영한 누적 비용, 지연 시간과 재시도 횟수를 자동으로 잡아줍니다. 그리고 traceable 데코레이터로 적재나 검색, 답변 생성 같은 단계를 트레이스로 묶습니다. 중요한 건, 추적이 꺼져 있으면 원본 클라이언트를 그대로 반환해서 관측 때문에 비용이 추가되지 않는다는 점입니다. 오른쪽은 조금 더 실용적인 부분인데, 각 실행에 프로젝트 id와 회의 id를 메타데이터로 붙입니다. 그래서 어느 과목, 어느 회의가 토큰을 얼마나 썼는지 분해해서 조회할 수 있습니다. 그리고 이 관측 로직은 실패하더라도 본 기능을 멈추지 않도록 예외를 조용히 무시하게 설계했습니다. 정리하면, 앞서 말씀드린 비용 절감의 효과를 느낌이 아니라 LangSmith 수치로 검증할 수 있게 한 겁니다.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45초] 이제 성능 평가입니다. 평가도 두 축으로 진행했습니다. 왼쪽은 STT 성능 평가인데, 국회 골든 데이터셋을 썼습니다. 위원회 회의 9개, 약 7시간 57분 분량이고 화자가 1명에서 23명까지 다양합니다. 국회사무처 공식 회의록을 정답으로 대조해서 단어 오류율 WER, 음절 오류율 CER, 그리고 화자분리 정확도를 측정했고, CLOVA와 Soniox 두 엔진을 비교했습니다. 오른쪽은 RAG 품질 평가입니다. 사람이 직접 검수한 49문항 골드셋을 썼고, 코퍼스는 통계학 4장 대본 5개입니다. 텍스트 경로와 STT 경로를 대조했고, 문항 유형은 정의, 관계, 멀티홉, 인과, 시간으로 나눴습니다. 답변은 gpt-4o-mini가 생성하고 채점은 gpt-5-mini가 하는 방식이며, 지표로는 Hit, 정답도, 충실도, 인용, 그리고 기권 정확도와 환각 주장 비율을 봤습니다.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55초] 평가에서 가장 신경 쓴 부분이 temporal, 즉 시간에 따라 값이 바뀌는 상황을 시스템이 제대로 추적하는지입니다. 이걸 시험하려고 골든셋을 이렇게 설계했습니다. 위 시간축을 보시면, T1 시점 원래 강의에서 어떤 개념 X를 값 A라고 가르칩니다. 예를 들어 이 분석에는 프로빗 모형을 쓴다고 합니다. 그리고 T2 시점, 바로 4.5 보강 정정공지에서 그 값을 삭제하거나 정정합니다. 프로빗이 아니라 로짓이라고 바로잡는 식입니다. 그러면 최신 그래프에는 옛날 값이 더 이상 없습니다. 이 상태에서 아래 파란 박스처럼 historical 문항을 던집니다. 원래, 그러니까 4.5 정정 전에 이 분석에 쓰기로 한 모형이 무엇이었냐고 묻습니다. 핵심은, 최신 값에는 답이 없기 때문에 오직 과거 세션 T1을 실제로 검색해야만 값 A를 답할 수 있다는 겁니다. 결과는 왼쪽 아래처럼 세 문항 전부 hit 100%였습니다. 옛 값을 지웠는데도 과거 세션을 정확히 회수한 겁니다. 오른쪽 아래가 이게 왜 중요한지인데, 만약 단순히 최신 값으로 덮어쓰는 방식이었다면 과거는 사라졌을 겁니다. Graphiti는 이벤트가 일어난 시점과 기록된 시점을 함께 보존하는 bi-temporal이라서 과거를 되짚을 수 있었고, 그게 이 실험으로 실증된 겁니다. 덧붙이면, 골든셋 49문항은 전부 사람이 검수했고, 문항마다 원문 축자 인용을 붙여 정답을 원문에 고정했습니다.</a:t>
            </a:r>
          </a:p>
          <a:p>
            <a:r>
              <a:t>★ 구현 차별점 ② · temporal 정보를 참조할 수 있다 — 이 점을 한 문장으로 반드시 짚을 것.</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55초] STT 평가 결과입니다. 왼쪽 차트를 보시면, Soniox가 평균 WER 23.5%로 CLOVA의 26.9%보다 낮고, CER도 9.6%로 CLOVA 10.1%보다 우세합니다. 발견 1처럼, 9개 데이터셋 중 WER은 8개, CER은 7개에서 Soniox가 이겼습니다. 여기서 앞서 말씀드린 비용 이야기와 연결됩니다. 이 모델별 비교가 바로 왜 유료 외부 API를 쓰느냐에 대한 답입니다. 무료 대안이 품질을 못 맞추는 상황에서 가장 정확한 엔진을 골랐고, 더 정확하다는 건 오전사와 재작업이 줄어서 하류 LLM 호출 비용까지 낮아진다는 뜻입니다. 그래서 Soniox를 기본으로, CLOVA를 폴백으로 두었습니다. 그런데 더 흥미로운 건 발견 2입니다. CLOVA는 검증된 8개 데이터셋 전부에서 검출한 화자 수가 10명을 넘지 않았습니다. 실제 화자가 12명, 15명인 회의도 예외 없이 정확히 10으로 잘렸습니다. 우연이라고 보기엔 지나치게 일관적이어서, CLOVA 화자분리에 내부적으로 10명 상한이 있는 게 아닌가 의심하고 있습니다. 공식 문서로는 아직 확인되지 않은 가설이지만, 화자가 많은 실제 상임위 회의에서는 반드시 별도 검증이 필요하다는 점을 시사합니다.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55초] RAG의 엔드투엔드 결과입니다. 텍스트 경로와 STT 경로를 비교했는데, 발견이 세 가지입니다. 첫 번째가 가장 인상적입니다. 앞에서 WER이 17%에서 46%까지 나온다고 말씀드렸는데, 전사 오류가 이렇게 큰데도 최종 정답도는 텍스트 4.07, STT 4.11로 사실상 동등합니다. 전사가 망가져도 그래프와 LLM 추출이 그 잡음을 흡수한 겁니다. 한글 병기와 오전사 정규화가 여기서 효과를 냈습니다. 두 번째, Graphiti의 bi-temporal이 실증됐습니다. temporal historical 유형에서 hit이 100%인데, 이건 보강 세션에서 옛날 값을 일부러 지워도 과거 세션을 정확히 회수했다는 뜻입니다. 세 번째가 정직하게 말씀드릴 부분인데, 실질 비용은 정답도가 아니라 인용 신뢰성에서 나옵니다. STT 경로에서 인용 정확도가 95%에서 84%로 떨어졌습니다. 오염된 fact가 인용 대상이 되면서 인용과 주장의 정합이 흔들린 겁니다. 즉 답은 맞게 하는데, 그 답이 어느 근거에서 나왔는지가 STT 잡음에 취약하다는 것이 이번 평가의 핵심 교훈입니다.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55초] 마지막으로 앞으로의 방향을 말씀드리겠습니다. 저희가 잡은 핵심 전략은, 서비스 운영 자체가 학습 데이터를 만들어 준다는 것입니다. 1차 서비스는 지금처럼 관리형 API로 운영합니다. 그런데 서비스가 돌아가는 동안 강의 음성과 강의자료, 그리고 사람이 검수한 전사와 문항이 그대로 쌓입니다. 이게 곧 도메인 골든 데이터셋입니다. 그래서 실행 계획은 세 단계입니다. 첫째, 골든 데이터셋 확보입니다. 서비스를 쓰면 쓸수록 통계 강의 도메인 데이터가 축적됩니다. 둘째, 그 데이터로 독자 모델을 파인튜닝합니다. 여기서 앞서 슬라이드 3에서 말씀드린 설계가 그대로 힘을 발휘합니다. 세 STT 엔진이 모두 같은 중간포맷 스키마로 수렴하기 때문에, 하위 모듈은 어떤 엔진이 전사했는지 모릅니다. 그래서 상위 코드를 고치지 않고 모델만 갈아끼울 수 있습니다. 셋째, 인프라입니다. 강의와 회의 음성은 민감한 데이터이기 때문에, 민감 구간은 온프레미스에서 처리하고 탄력적으로 늘어나는 부하만 클라우드로 보내는 하이브리드 구성을 계획하고 있습니다. 보안과 비용을 함께 고려한 선택입니다. 정리하면, 1차는 API로 빠르게 서비스하고, 데이터가 쌓이면 모델과 인프라를 우리 것으로 바꿔 나가는 로드맵입니다. 그 전환이 가능하도록 엔진에 종속되지 않는 구조는 이번 프로젝트에서 이미 만들어 뒀습니다.</a:t>
            </a:r>
          </a:p>
          <a:p>
            <a:r>
              <a:t>★ 구현 차별점 — 슬라이드 3의 '중간포맷 스키마 수렴'이 여기서 '모델만 교체 가능'으로 회수됨을 반드시 짚을 것.</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40초] 정리하겠습니다. 저희 SynapVox는 파편화된 음성 기록을, 도메인 특화 STT로 정확히 받아서, 시간과 의미로 연결된 그래프로 만들고, 그 위에서 출처가 추적되는 대화를 하는 시스템입니다. 핵심 성과를 세 가지로 요약하면, 첫째 Soniox를 채택해 WER 23.5%를 확보했고, 둘째 전사 오류가 커도 최종 정답도가 유지된다는 걸 확인했으며, 셋째 Graphiti의 bi-temporal 시간 보존을 실증했습니다. 물론 아쉬운 점도 있습니다. 시간과 데이터셋의 한계로 도메인 fine-tuning 같은 근본적 개선은 이번에 시도하지 못했습니다. 앞으로 여건이 되면 도메인 어휘 부스팅부터 자체 모델 파인튜닝까지, 성능 저하를 극복하면서 비용도 함께 낮추는 방향으로 발전시키고자 합니다. 이상으로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1295C"/>
          </a:solidFill>
          <a:ln/>
        </p:spPr>
        <p:txBody>
          <a:bodyPr/>
          <a:p/>
        </p:txBody>
      </p:sp>
      <p:sp>
        <p:nvSpPr>
          <p:cNvPr id="3" name="Shape 1"/>
          <p:cNvSpPr/>
          <p:nvPr/>
        </p:nvSpPr>
        <p:spPr>
          <a:xfrm>
            <a:off x="10241280" y="3291840"/>
            <a:ext cx="4114800" cy="4114800"/>
          </a:xfrm>
          <a:prstGeom prst="ellipse">
            <a:avLst/>
          </a:prstGeom>
          <a:solidFill>
            <a:srgbClr val="065A82"/>
          </a:solidFill>
          <a:ln/>
        </p:spPr>
        <p:txBody>
          <a:bodyPr/>
          <a:p/>
        </p:txBody>
      </p:sp>
      <p:sp>
        <p:nvSpPr>
          <p:cNvPr id="4" name="Text 2"/>
          <p:cNvSpPr/>
          <p:nvPr/>
        </p:nvSpPr>
        <p:spPr>
          <a:xfrm>
            <a:off x="640080" y="1371600"/>
            <a:ext cx="8229600" cy="457200"/>
          </a:xfrm>
          <a:prstGeom prst="rect">
            <a:avLst/>
          </a:prstGeom>
          <a:noFill/>
          <a:ln/>
        </p:spPr>
        <p:txBody>
          <a:bodyPr wrap="square" lIns="0" tIns="0" rIns="0" bIns="0" rtlCol="0" anchor="ctr"/>
          <a:lstStyle/>
          <a:p>
            <a:pPr marL="0" indent="0">
              <a:buNone/>
            </a:pPr>
            <a:r>
              <a:rPr lang="en-US" sz="1700" b="1" kern="0" spc="400" dirty="0">
                <a:solidFill>
                  <a:srgbClr val="CADCFC"/>
                </a:solidFill>
                <a:latin typeface="Calibri" pitchFamily="34" charset="0"/>
                <a:ea typeface="Calibri" pitchFamily="34" charset="-122"/>
                <a:cs typeface="Calibri" pitchFamily="34" charset="-120"/>
              </a:rPr>
              <a:t>SYNAPVOX</a:t>
            </a:r>
            <a:endParaRPr lang="en-US" sz="1700" dirty="0"/>
          </a:p>
        </p:txBody>
      </p:sp>
      <p:sp>
        <p:nvSpPr>
          <p:cNvPr id="5" name="Text 3"/>
          <p:cNvSpPr/>
          <p:nvPr/>
        </p:nvSpPr>
        <p:spPr>
          <a:xfrm>
            <a:off x="640080" y="1965960"/>
            <a:ext cx="10515600" cy="13716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음성 기록을 지식 그래프로</a:t>
            </a:r>
            <a:endParaRPr lang="en-US" sz="4600" dirty="0"/>
          </a:p>
        </p:txBody>
      </p:sp>
      <p:sp>
        <p:nvSpPr>
          <p:cNvPr id="6" name="Text 4"/>
          <p:cNvSpPr/>
          <p:nvPr/>
        </p:nvSpPr>
        <p:spPr>
          <a:xfrm>
            <a:off x="640080" y="3429000"/>
            <a:ext cx="10058400" cy="54864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시간·의미로 연결해 탐색하고 출처까지 추적하는 시스템</a:t>
            </a:r>
            <a:endParaRPr lang="en-US" sz="2000" dirty="0"/>
          </a:p>
        </p:txBody>
      </p:sp>
      <p:sp>
        <p:nvSpPr>
          <p:cNvPr id="7" name="Shape 5"/>
          <p:cNvSpPr/>
          <p:nvPr/>
        </p:nvSpPr>
        <p:spPr>
          <a:xfrm>
            <a:off x="640080" y="4480560"/>
            <a:ext cx="2103120" cy="457200"/>
          </a:xfrm>
          <a:prstGeom prst="roundRect">
            <a:avLst>
              <a:gd name="adj" fmla="val 16000"/>
            </a:avLst>
          </a:prstGeom>
          <a:solidFill>
            <a:srgbClr val="065A82"/>
          </a:solidFill>
          <a:ln/>
        </p:spPr>
        <p:txBody>
          <a:bodyPr/>
          <a:p/>
        </p:txBody>
      </p:sp>
      <p:sp>
        <p:nvSpPr>
          <p:cNvPr id="8" name="Text 6"/>
          <p:cNvSpPr/>
          <p:nvPr/>
        </p:nvSpPr>
        <p:spPr>
          <a:xfrm>
            <a:off x="640080" y="4480560"/>
            <a:ext cx="21031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STT 파이프라인</a:t>
            </a:r>
            <a:endParaRPr lang="en-US" sz="1400" dirty="0"/>
          </a:p>
        </p:txBody>
      </p:sp>
      <p:sp>
        <p:nvSpPr>
          <p:cNvPr id="9" name="Shape 7"/>
          <p:cNvSpPr/>
          <p:nvPr/>
        </p:nvSpPr>
        <p:spPr>
          <a:xfrm>
            <a:off x="2880360" y="4480560"/>
            <a:ext cx="2103120" cy="457200"/>
          </a:xfrm>
          <a:prstGeom prst="roundRect">
            <a:avLst>
              <a:gd name="adj" fmla="val 16000"/>
            </a:avLst>
          </a:prstGeom>
          <a:solidFill>
            <a:srgbClr val="1C7293"/>
          </a:solidFill>
          <a:ln/>
        </p:spPr>
        <p:txBody>
          <a:bodyPr/>
          <a:p/>
        </p:txBody>
      </p:sp>
      <p:sp>
        <p:nvSpPr>
          <p:cNvPr id="10" name="Text 8"/>
          <p:cNvSpPr/>
          <p:nvPr/>
        </p:nvSpPr>
        <p:spPr>
          <a:xfrm>
            <a:off x="2880360" y="4480560"/>
            <a:ext cx="21031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지식 그래프</a:t>
            </a:r>
            <a:endParaRPr lang="en-US" sz="1400" dirty="0"/>
          </a:p>
        </p:txBody>
      </p:sp>
      <p:sp>
        <p:nvSpPr>
          <p:cNvPr id="11" name="Shape 9"/>
          <p:cNvSpPr/>
          <p:nvPr/>
        </p:nvSpPr>
        <p:spPr>
          <a:xfrm>
            <a:off x="5120640" y="4480560"/>
            <a:ext cx="1828800" cy="457200"/>
          </a:xfrm>
          <a:prstGeom prst="roundRect">
            <a:avLst>
              <a:gd name="adj" fmla="val 16000"/>
            </a:avLst>
          </a:prstGeom>
          <a:solidFill>
            <a:schemeClr val="accent5">
              <a:lumMod val="50000"/>
            </a:schemeClr>
          </a:solidFill>
          <a:ln/>
        </p:spPr>
        <p:txBody>
          <a:bodyPr/>
          <a:p/>
        </p:txBody>
      </p:sp>
      <p:sp>
        <p:nvSpPr>
          <p:cNvPr id="12" name="Text 10"/>
          <p:cNvSpPr/>
          <p:nvPr/>
        </p:nvSpPr>
        <p:spPr>
          <a:xfrm>
            <a:off x="5120640" y="4480560"/>
            <a:ext cx="1828800" cy="457200"/>
          </a:xfrm>
          <a:prstGeom prst="rect">
            <a:avLst/>
          </a:prstGeom>
          <a:noFill/>
          <a:ln/>
        </p:spPr>
        <p:txBody>
          <a:bodyPr wrap="square" lIns="0" tIns="0" rIns="0" bIns="0" rtlCol="0" anchor="ctr"/>
          <a:lstStyle/>
          <a:p>
            <a:pPr marL="0" indent="0" algn="ctr">
              <a:buNone/>
            </a:pPr>
            <a:r>
              <a:rPr lang="en-US" sz="1400" b="1" dirty="0">
                <a:solidFill>
                  <a:srgbClr val="CADCFC"/>
                </a:solidFill>
                <a:latin typeface="Calibri" pitchFamily="34" charset="0"/>
                <a:ea typeface="Calibri" pitchFamily="34" charset="-122"/>
                <a:cs typeface="Calibri" pitchFamily="34" charset="-120"/>
              </a:rPr>
              <a:t>RAG 챗봇</a:t>
            </a:r>
            <a:endParaRPr lang="en-US" sz="1400" dirty="0"/>
          </a:p>
        </p:txBody>
      </p:sp>
      <p:sp>
        <p:nvSpPr>
          <p:cNvPr id="13" name="Text 11"/>
          <p:cNvSpPr/>
          <p:nvPr/>
        </p:nvSpPr>
        <p:spPr>
          <a:xfrm>
            <a:off x="640080" y="5852160"/>
            <a:ext cx="10058400" cy="36576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강의·회의 음성 → 정확한 전사 → 연결된 그래프 → 근거 기반 대화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01 · 문제 정의</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왜 만들게 되었나 — 두 가지 문제</a:t>
            </a:r>
            <a:endParaRPr lang="en-US" sz="3200" dirty="0"/>
          </a:p>
        </p:txBody>
      </p:sp>
      <p:sp>
        <p:nvSpPr>
          <p:cNvPr id="4" name="Shape 2"/>
          <p:cNvSpPr/>
          <p:nvPr/>
        </p:nvSpPr>
        <p:spPr>
          <a:xfrm>
            <a:off x="548640" y="1691640"/>
            <a:ext cx="5394960" cy="4480560"/>
          </a:xfrm>
          <a:prstGeom prst="roundRect">
            <a:avLst>
              <a:gd name="adj" fmla="val 2041"/>
            </a:avLst>
          </a:prstGeom>
          <a:solidFill>
            <a:srgbClr val="FFFFFF"/>
          </a:solidFill>
          <a:ln w="12700">
            <a:solidFill>
              <a:srgbClr val="D4DEEC"/>
            </a:solidFill>
            <a:prstDash val="solid"/>
          </a:ln>
        </p:spPr>
        <p:txBody>
          <a:bodyPr/>
          <a:p/>
        </p:txBody>
      </p:sp>
      <p:sp>
        <p:nvSpPr>
          <p:cNvPr id="5" name="Shape 3"/>
          <p:cNvSpPr/>
          <p:nvPr/>
        </p:nvSpPr>
        <p:spPr>
          <a:xfrm>
            <a:off x="868680" y="1965960"/>
            <a:ext cx="1371600" cy="457200"/>
          </a:xfrm>
          <a:prstGeom prst="roundRect">
            <a:avLst>
              <a:gd name="adj" fmla="val 16000"/>
            </a:avLst>
          </a:prstGeom>
          <a:solidFill>
            <a:srgbClr val="1E2761"/>
          </a:solidFill>
          <a:ln/>
        </p:spPr>
        <p:txBody>
          <a:bodyPr/>
          <a:p/>
        </p:txBody>
      </p:sp>
      <p:sp>
        <p:nvSpPr>
          <p:cNvPr id="6" name="Text 4"/>
          <p:cNvSpPr/>
          <p:nvPr/>
        </p:nvSpPr>
        <p:spPr>
          <a:xfrm>
            <a:off x="868680" y="1965960"/>
            <a:ext cx="13716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문제 ①</a:t>
            </a:r>
            <a:endParaRPr lang="en-US" sz="1400" dirty="0"/>
          </a:p>
        </p:txBody>
      </p:sp>
      <p:sp>
        <p:nvSpPr>
          <p:cNvPr id="7" name="Text 5"/>
          <p:cNvSpPr/>
          <p:nvPr/>
        </p:nvSpPr>
        <p:spPr>
          <a:xfrm>
            <a:off x="868680" y="2560320"/>
            <a:ext cx="4754880" cy="457200"/>
          </a:xfrm>
          <a:prstGeom prst="rect">
            <a:avLst/>
          </a:prstGeom>
          <a:noFill/>
          <a:ln/>
        </p:spPr>
        <p:txBody>
          <a:bodyPr wrap="square" lIns="0" tIns="0" rIns="0" bIns="0" rtlCol="0" anchor="ctr"/>
          <a:lstStyle/>
          <a:p>
            <a:pPr marL="0" indent="0">
              <a:buNone/>
            </a:pPr>
            <a:r>
              <a:rPr lang="en-US" sz="2200" b="1" dirty="0">
                <a:solidFill>
                  <a:srgbClr val="16203A"/>
                </a:solidFill>
                <a:latin typeface="Cambria" pitchFamily="34" charset="0"/>
                <a:ea typeface="Cambria" pitchFamily="34" charset="-122"/>
                <a:cs typeface="Cambria" pitchFamily="34" charset="-120"/>
              </a:rPr>
              <a:t>STT의 도메인 특화 부재</a:t>
            </a:r>
            <a:endParaRPr lang="en-US" sz="2200" dirty="0"/>
          </a:p>
        </p:txBody>
      </p:sp>
      <p:sp>
        <p:nvSpPr>
          <p:cNvPr id="8" name="Text 6"/>
          <p:cNvSpPr/>
          <p:nvPr/>
        </p:nvSpPr>
        <p:spPr>
          <a:xfrm>
            <a:off x="868680" y="3108960"/>
            <a:ext cx="4754880" cy="1005840"/>
          </a:xfrm>
          <a:prstGeom prst="rect">
            <a:avLst/>
          </a:prstGeom>
          <a:noFill/>
          <a:ln/>
        </p:spPr>
        <p:txBody>
          <a:bodyPr wrap="square" lIns="0" tIns="0" rIns="0" bIns="0" rtlCol="0" anchor="t"/>
          <a:lstStyle/>
          <a:p>
            <a:pPr marL="0" indent="0" algn="l">
              <a:lnSpc>
                <a:spcPct val="105000"/>
              </a:lnSpc>
              <a:buNone/>
            </a:pPr>
            <a:r>
              <a:rPr lang="en-US" sz="1500" b="1" dirty="0">
                <a:solidFill>
                  <a:srgbClr val="065A82"/>
                </a:solidFill>
                <a:latin typeface="Calibri" pitchFamily="34" charset="0"/>
                <a:ea typeface="Calibri" pitchFamily="34" charset="-122"/>
                <a:cs typeface="Calibri" pitchFamily="34" charset="-120"/>
              </a:rPr>
              <a:t>범용 STT는 전문용어에서 무너진다
</a:t>
            </a:r>
            <a:r>
              <a:rPr lang="en-US" sz="1450" dirty="0">
                <a:solidFill>
                  <a:srgbClr val="5A6B8C"/>
                </a:solidFill>
                <a:latin typeface="Calibri" pitchFamily="34" charset="0"/>
                <a:ea typeface="Calibri" pitchFamily="34" charset="-122"/>
                <a:cs typeface="Calibri" pitchFamily="34" charset="-120"/>
              </a:rPr>
              <a:t>프로빗·피셔·로지스틱회귀 같은 영문 용어가 집중적으로 오전사 — WER이 17~46%까지 치솟음</a:t>
            </a:r>
            <a:endParaRPr lang="en-US" sz="1500" dirty="0"/>
          </a:p>
        </p:txBody>
      </p:sp>
      <p:sp>
        <p:nvSpPr>
          <p:cNvPr id="9" name="Text 7"/>
          <p:cNvSpPr/>
          <p:nvPr/>
        </p:nvSpPr>
        <p:spPr>
          <a:xfrm>
            <a:off x="868680" y="4343400"/>
            <a:ext cx="4754880" cy="1463040"/>
          </a:xfrm>
          <a:prstGeom prst="rect">
            <a:avLst/>
          </a:prstGeom>
          <a:noFill/>
          <a:ln/>
        </p:spPr>
        <p:txBody>
          <a:bodyPr wrap="square" lIns="0" tIns="0" rIns="0" bIns="0" rtlCol="0" anchor="t"/>
          <a:lstStyle/>
          <a:p>
            <a:pPr marL="0" indent="0" algn="l">
              <a:lnSpc>
                <a:spcPct val="115000"/>
              </a:lnSpc>
              <a:buNone/>
            </a:pPr>
            <a:r>
              <a:rPr lang="en-US" sz="1500" b="1" dirty="0">
                <a:solidFill>
                  <a:srgbClr val="16203A"/>
                </a:solidFill>
                <a:latin typeface="Calibri" pitchFamily="34" charset="0"/>
                <a:ea typeface="Calibri" pitchFamily="34" charset="-122"/>
                <a:cs typeface="Calibri" pitchFamily="34" charset="-120"/>
              </a:rPr>
              <a:t>필요한 것
</a:t>
            </a:r>
            <a:r>
              <a:rPr lang="en-US" sz="1450" dirty="0">
                <a:solidFill>
                  <a:srgbClr val="5A6B8C"/>
                </a:solidFill>
                <a:latin typeface="Calibri" pitchFamily="34" charset="0"/>
                <a:ea typeface="Calibri" pitchFamily="34" charset="-122"/>
                <a:cs typeface="Calibri" pitchFamily="34" charset="-120"/>
              </a:rPr>
              <a:t>· 강의자료에서 용어를 뽑아 전사에 주입</a:t>
            </a:r>
            <a:endParaRPr lang="en-US" sz="1500" dirty="0"/>
          </a:p>
          <a:p>
            <a:pPr marL="0" indent="0" algn="l">
              <a:lnSpc>
                <a:spcPct val="115000"/>
              </a:lnSpc>
              <a:buNone/>
            </a:pPr>
            <a:r>
              <a:rPr lang="en-US" sz="1450" dirty="0">
                <a:solidFill>
                  <a:srgbClr val="5A6B8C"/>
                </a:solidFill>
                <a:latin typeface="Calibri" pitchFamily="34" charset="0"/>
                <a:ea typeface="Calibri" pitchFamily="34" charset="-122"/>
                <a:cs typeface="Calibri" pitchFamily="34" charset="-120"/>
              </a:rPr>
              <a:t>· 전사 후 LLM으로 오전사 정제</a:t>
            </a:r>
            <a:endParaRPr lang="en-US" sz="1500" dirty="0"/>
          </a:p>
        </p:txBody>
      </p:sp>
      <p:sp>
        <p:nvSpPr>
          <p:cNvPr id="10" name="Shape 8"/>
          <p:cNvSpPr/>
          <p:nvPr/>
        </p:nvSpPr>
        <p:spPr>
          <a:xfrm>
            <a:off x="6217920" y="1691640"/>
            <a:ext cx="5394960" cy="4480560"/>
          </a:xfrm>
          <a:prstGeom prst="roundRect">
            <a:avLst>
              <a:gd name="adj" fmla="val 2041"/>
            </a:avLst>
          </a:prstGeom>
          <a:solidFill>
            <a:srgbClr val="FFFFFF"/>
          </a:solidFill>
          <a:ln w="12700">
            <a:solidFill>
              <a:srgbClr val="D4DEEC"/>
            </a:solidFill>
            <a:prstDash val="solid"/>
          </a:ln>
        </p:spPr>
        <p:txBody>
          <a:bodyPr/>
          <a:p/>
        </p:txBody>
      </p:sp>
      <p:sp>
        <p:nvSpPr>
          <p:cNvPr id="11" name="Shape 9"/>
          <p:cNvSpPr/>
          <p:nvPr/>
        </p:nvSpPr>
        <p:spPr>
          <a:xfrm>
            <a:off x="6537960" y="1965960"/>
            <a:ext cx="1371600" cy="457200"/>
          </a:xfrm>
          <a:prstGeom prst="roundRect">
            <a:avLst>
              <a:gd name="adj" fmla="val 16000"/>
            </a:avLst>
          </a:prstGeom>
          <a:solidFill>
            <a:srgbClr val="065A82"/>
          </a:solidFill>
          <a:ln/>
        </p:spPr>
        <p:txBody>
          <a:bodyPr/>
          <a:p/>
        </p:txBody>
      </p:sp>
      <p:sp>
        <p:nvSpPr>
          <p:cNvPr id="12" name="Text 10"/>
          <p:cNvSpPr/>
          <p:nvPr/>
        </p:nvSpPr>
        <p:spPr>
          <a:xfrm>
            <a:off x="6537960" y="1965960"/>
            <a:ext cx="13716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문제 ②</a:t>
            </a:r>
            <a:endParaRPr lang="en-US" sz="1400" dirty="0"/>
          </a:p>
        </p:txBody>
      </p:sp>
      <p:sp>
        <p:nvSpPr>
          <p:cNvPr id="13" name="Text 11"/>
          <p:cNvSpPr/>
          <p:nvPr/>
        </p:nvSpPr>
        <p:spPr>
          <a:xfrm>
            <a:off x="6537960" y="2560320"/>
            <a:ext cx="4754880" cy="457200"/>
          </a:xfrm>
          <a:prstGeom prst="rect">
            <a:avLst/>
          </a:prstGeom>
          <a:noFill/>
          <a:ln/>
        </p:spPr>
        <p:txBody>
          <a:bodyPr wrap="square" lIns="0" tIns="0" rIns="0" bIns="0" rtlCol="0" anchor="ctr"/>
          <a:lstStyle/>
          <a:p>
            <a:pPr marL="0" indent="0">
              <a:buNone/>
            </a:pPr>
            <a:r>
              <a:rPr lang="en-US" sz="2200" b="1" dirty="0">
                <a:solidFill>
                  <a:srgbClr val="16203A"/>
                </a:solidFill>
                <a:latin typeface="Cambria" pitchFamily="34" charset="0"/>
                <a:ea typeface="Cambria" pitchFamily="34" charset="-122"/>
                <a:cs typeface="Cambria" pitchFamily="34" charset="-120"/>
              </a:rPr>
              <a:t>정리의 파편화</a:t>
            </a:r>
            <a:endParaRPr lang="en-US" sz="2200" dirty="0"/>
          </a:p>
        </p:txBody>
      </p:sp>
      <p:sp>
        <p:nvSpPr>
          <p:cNvPr id="14" name="Text 12"/>
          <p:cNvSpPr/>
          <p:nvPr/>
        </p:nvSpPr>
        <p:spPr>
          <a:xfrm>
            <a:off x="6537960" y="3108960"/>
            <a:ext cx="4754880" cy="1005840"/>
          </a:xfrm>
          <a:prstGeom prst="rect">
            <a:avLst/>
          </a:prstGeom>
          <a:noFill/>
          <a:ln/>
        </p:spPr>
        <p:txBody>
          <a:bodyPr wrap="square" lIns="0" tIns="0" rIns="0" bIns="0" rtlCol="0" anchor="t"/>
          <a:lstStyle/>
          <a:p>
            <a:pPr marL="0" indent="0" algn="l">
              <a:lnSpc>
                <a:spcPct val="105000"/>
              </a:lnSpc>
              <a:buNone/>
            </a:pPr>
            <a:r>
              <a:rPr lang="en-US" sz="1500" b="1" dirty="0">
                <a:solidFill>
                  <a:srgbClr val="1C7293"/>
                </a:solidFill>
                <a:latin typeface="Calibri" pitchFamily="34" charset="0"/>
                <a:ea typeface="Calibri" pitchFamily="34" charset="-122"/>
                <a:cs typeface="Calibri" pitchFamily="34" charset="-120"/>
              </a:rPr>
              <a:t>회의·강의가 각각 독립 문서로만 남는다
</a:t>
            </a:r>
            <a:r>
              <a:rPr lang="en-US" sz="1450" dirty="0">
                <a:solidFill>
                  <a:srgbClr val="5A6B8C"/>
                </a:solidFill>
                <a:latin typeface="Calibri" pitchFamily="34" charset="0"/>
                <a:ea typeface="Calibri" pitchFamily="34" charset="-122"/>
                <a:cs typeface="Calibri" pitchFamily="34" charset="-120"/>
              </a:rPr>
              <a:t>세션 사이의 연결이 끊겨, 무엇이 언제 다뤄졌고 어떤 주제가 이어지는지 한눈에 볼 수 없음</a:t>
            </a:r>
            <a:endParaRPr lang="en-US" sz="1500" dirty="0"/>
          </a:p>
        </p:txBody>
      </p:sp>
      <p:sp>
        <p:nvSpPr>
          <p:cNvPr id="15" name="Text 13"/>
          <p:cNvSpPr/>
          <p:nvPr/>
        </p:nvSpPr>
        <p:spPr>
          <a:xfrm>
            <a:off x="6537960" y="4343400"/>
            <a:ext cx="4754880" cy="1463040"/>
          </a:xfrm>
          <a:prstGeom prst="rect">
            <a:avLst/>
          </a:prstGeom>
          <a:noFill/>
          <a:ln/>
        </p:spPr>
        <p:txBody>
          <a:bodyPr wrap="square" lIns="0" tIns="0" rIns="0" bIns="0" rtlCol="0" anchor="t"/>
          <a:lstStyle/>
          <a:p>
            <a:pPr marL="0" indent="0" algn="l">
              <a:lnSpc>
                <a:spcPct val="115000"/>
              </a:lnSpc>
              <a:buNone/>
            </a:pPr>
            <a:r>
              <a:rPr lang="en-US" sz="1500" b="1" dirty="0">
                <a:solidFill>
                  <a:srgbClr val="16203A"/>
                </a:solidFill>
                <a:latin typeface="Calibri" pitchFamily="34" charset="0"/>
                <a:ea typeface="Calibri" pitchFamily="34" charset="-122"/>
                <a:cs typeface="Calibri" pitchFamily="34" charset="-120"/>
              </a:rPr>
              <a:t>필요한 것 — 두 축으로 연결
</a:t>
            </a:r>
            <a:r>
              <a:rPr lang="en-US" sz="1450" dirty="0">
                <a:solidFill>
                  <a:srgbClr val="5A6B8C"/>
                </a:solidFill>
                <a:latin typeface="Calibri" pitchFamily="34" charset="0"/>
                <a:ea typeface="Calibri" pitchFamily="34" charset="-122"/>
                <a:cs typeface="Calibri" pitchFamily="34" charset="-120"/>
              </a:rPr>
              <a:t>· 시간축: 언제 다뤄졌나 (세션 순서)</a:t>
            </a:r>
            <a:endParaRPr lang="en-US" sz="1500" dirty="0"/>
          </a:p>
          <a:p>
            <a:pPr marL="0" indent="0" algn="l">
              <a:lnSpc>
                <a:spcPct val="115000"/>
              </a:lnSpc>
              <a:buNone/>
            </a:pPr>
            <a:r>
              <a:rPr lang="en-US" sz="1450" dirty="0">
                <a:solidFill>
                  <a:srgbClr val="5A6B8C"/>
                </a:solidFill>
                <a:latin typeface="Calibri" pitchFamily="34" charset="0"/>
                <a:ea typeface="Calibri" pitchFamily="34" charset="-122"/>
                <a:cs typeface="Calibri" pitchFamily="34" charset="-120"/>
              </a:rPr>
              <a:t>· 의미축: 어떤 주제인가 (개념 연결)</a:t>
            </a:r>
            <a:endParaRPr lang="en-US" sz="1500" dirty="0"/>
          </a:p>
          <a:p>
            <a:pPr marL="0" indent="0" algn="l">
              <a:lnSpc>
                <a:spcPct val="115000"/>
              </a:lnSpc>
              <a:buNone/>
            </a:pPr>
            <a:r>
              <a:rPr lang="en-US" sz="1450" dirty="0">
                <a:solidFill>
                  <a:srgbClr val="5A6B8C"/>
                </a:solidFill>
                <a:latin typeface="Calibri" pitchFamily="34" charset="0"/>
                <a:ea typeface="Calibri" pitchFamily="34" charset="-122"/>
                <a:cs typeface="Calibri" pitchFamily="34" charset="-120"/>
              </a:rPr>
              <a:t>→ 그래프로 시각화해 탐색</a:t>
            </a:r>
            <a:endParaRPr lang="en-US" sz="1500" dirty="0"/>
          </a:p>
        </p:txBody>
      </p:sp>
      <p:sp>
        <p:nvSpPr>
          <p:cNvPr id="16" name="Text 14"/>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02 · 시스템 아키텍처</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전체 그림 — 입력에서 그래프·대화까지</a:t>
            </a:r>
            <a:endParaRPr lang="en-US" sz="3200" dirty="0"/>
          </a:p>
        </p:txBody>
      </p:sp>
      <p:sp>
        <p:nvSpPr>
          <p:cNvPr id="5" name="Text 2"/>
          <p:cNvSpPr/>
          <p:nvPr/>
        </p:nvSpPr>
        <p:spPr>
          <a:xfrm>
            <a:off x="548640" y="6172200"/>
            <a:ext cx="10972800" cy="365760"/>
          </a:xfrm>
          <a:prstGeom prst="rect">
            <a:avLst/>
          </a:prstGeom>
          <a:noFill/>
          <a:ln/>
        </p:spPr>
        <p:txBody>
          <a:bodyPr wrap="square" lIns="0" tIns="0" rIns="0" bIns="0" rtlCol="0" anchor="ctr"/>
          <a:lstStyle/>
          <a:p>
            <a:pPr marL="0" indent="0" algn="ctr">
              <a:buNone/>
            </a:pPr>
            <a:r>
              <a:rPr lang="en-US" sz="1350" i="1" dirty="0">
                <a:solidFill>
                  <a:srgbClr val="5A6B8C"/>
                </a:solidFill>
                <a:latin typeface="Calibri" pitchFamily="34" charset="0"/>
                <a:ea typeface="Calibri" pitchFamily="34" charset="-122"/>
                <a:cs typeface="Calibri" pitchFamily="34" charset="-120"/>
              </a:rPr>
              <a:t>세 STT 엔진(Soniox·CLOVA·Whisper)은 모두 동일한 중간포맷 스키마로 수렴 → 하위 모듈은 엔진을 몰라도 된다</a:t>
            </a:r>
            <a:endParaRPr lang="en-US" sz="1350" dirty="0"/>
          </a:p>
        </p:txBody>
      </p:sp>
      <p:sp>
        <p:nvSpPr>
          <p:cNvPr id="6" name="Text 3"/>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3</a:t>
            </a:r>
            <a:endParaRPr lang="en-US" sz="1100" dirty="0"/>
          </a:p>
        </p:txBody>
      </p:sp>
      <p:sp>
        <p:nvSpPr>
          <p:cNvPr id="7" name="Rounded Rectangle 6"/>
          <p:cNvSpPr/>
          <p:nvPr/>
        </p:nvSpPr>
        <p:spPr>
          <a:xfrm>
            <a:off x="752436" y="3301326"/>
            <a:ext cx="1237183" cy="956005"/>
          </a:xfrm>
          <a:prstGeom prst="roundRect">
            <a:avLst>
              <a:gd name="adj" fmla="val 7352"/>
            </a:avLst>
          </a:prstGeom>
          <a:solidFill>
            <a:srgbClr val="FFFFFF"/>
          </a:solidFill>
          <a:ln w="14058">
            <a:solidFill>
              <a:srgbClr val="1C7293"/>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8" name="TextBox 7"/>
          <p:cNvSpPr txBox="1"/>
          <p:nvPr/>
        </p:nvSpPr>
        <p:spPr>
          <a:xfrm>
            <a:off x="-1440751" y="3439104"/>
            <a:ext cx="5623560" cy="293831"/>
          </a:xfrm>
          <a:prstGeom prst="rect">
            <a:avLst/>
          </a:prstGeom>
          <a:noFill/>
        </p:spPr>
        <p:txBody>
          <a:bodyPr wrap="none" lIns="0" tIns="0" rIns="0" bIns="0" anchor="ctr">
            <a:spAutoFit/>
          </a:bodyPr>
          <a:lstStyle/>
          <a:p>
            <a:pPr algn="ctr"/>
            <a:r>
              <a:rPr sz="1220" b="1" i="0">
                <a:solidFill>
                  <a:srgbClr val="16203A"/>
                </a:solidFill>
                <a:latin typeface="맑은 고딕"/>
              </a:rPr>
              <a:t>입력</a:t>
            </a:r>
          </a:p>
        </p:txBody>
      </p:sp>
      <p:sp>
        <p:nvSpPr>
          <p:cNvPr id="9" name="TextBox 8"/>
          <p:cNvSpPr txBox="1"/>
          <p:nvPr/>
        </p:nvSpPr>
        <p:spPr>
          <a:xfrm>
            <a:off x="-1440751" y="3711495"/>
            <a:ext cx="5623560" cy="227051"/>
          </a:xfrm>
          <a:prstGeom prst="rect">
            <a:avLst/>
          </a:prstGeom>
          <a:noFill/>
        </p:spPr>
        <p:txBody>
          <a:bodyPr wrap="none" lIns="0" tIns="0" rIns="0" bIns="0" anchor="ctr">
            <a:spAutoFit/>
          </a:bodyPr>
          <a:lstStyle/>
          <a:p>
            <a:pPr algn="ctr"/>
            <a:r>
              <a:rPr sz="940" b="0" i="0">
                <a:solidFill>
                  <a:srgbClr val="5A6B8C"/>
                </a:solidFill>
                <a:latin typeface="맑은 고딕"/>
              </a:rPr>
              <a:t>음성 녹음</a:t>
            </a:r>
          </a:p>
        </p:txBody>
      </p:sp>
      <p:sp>
        <p:nvSpPr>
          <p:cNvPr id="10" name="TextBox 9"/>
          <p:cNvSpPr txBox="1"/>
          <p:nvPr/>
        </p:nvSpPr>
        <p:spPr>
          <a:xfrm>
            <a:off x="-1437236" y="3880202"/>
            <a:ext cx="5623560" cy="227051"/>
          </a:xfrm>
          <a:prstGeom prst="rect">
            <a:avLst/>
          </a:prstGeom>
          <a:noFill/>
        </p:spPr>
        <p:txBody>
          <a:bodyPr wrap="none" lIns="0" tIns="0" rIns="0" bIns="0" anchor="ctr">
            <a:spAutoFit/>
          </a:bodyPr>
          <a:lstStyle/>
          <a:p>
            <a:pPr algn="ctr"/>
            <a:r>
              <a:rPr sz="940" b="0" i="0">
                <a:solidFill>
                  <a:srgbClr val="5A6B8C"/>
                </a:solidFill>
                <a:latin typeface="맑은 고딕"/>
              </a:rPr>
              <a:t>강의 자료</a:t>
            </a:r>
          </a:p>
        </p:txBody>
      </p:sp>
      <p:sp>
        <p:nvSpPr>
          <p:cNvPr id="11" name="TextBox 10"/>
          <p:cNvSpPr txBox="1"/>
          <p:nvPr/>
        </p:nvSpPr>
        <p:spPr>
          <a:xfrm>
            <a:off x="-1440751" y="4065428"/>
            <a:ext cx="5623560" cy="186983"/>
          </a:xfrm>
          <a:prstGeom prst="rect">
            <a:avLst/>
          </a:prstGeom>
          <a:noFill/>
        </p:spPr>
        <p:txBody>
          <a:bodyPr wrap="none" lIns="0" tIns="0" rIns="0" bIns="0" anchor="ctr">
            <a:spAutoFit/>
          </a:bodyPr>
          <a:lstStyle/>
          <a:p>
            <a:pPr algn="ctr"/>
            <a:r>
              <a:rPr sz="770" b="0" i="0">
                <a:solidFill>
                  <a:srgbClr val="657594"/>
                </a:solidFill>
                <a:latin typeface="맑은 고딕"/>
              </a:rPr>
              <a:t>(pdf·pptx·docx)</a:t>
            </a:r>
          </a:p>
        </p:txBody>
      </p:sp>
      <p:sp>
        <p:nvSpPr>
          <p:cNvPr id="12" name="Rounded Rectangle 11"/>
          <p:cNvSpPr/>
          <p:nvPr/>
        </p:nvSpPr>
        <p:spPr>
          <a:xfrm>
            <a:off x="2495740" y="2724912"/>
            <a:ext cx="1757362" cy="2108835"/>
          </a:xfrm>
          <a:prstGeom prst="roundRect">
            <a:avLst>
              <a:gd name="adj" fmla="val 56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3" name="TextBox 12"/>
          <p:cNvSpPr txBox="1"/>
          <p:nvPr/>
        </p:nvSpPr>
        <p:spPr>
          <a:xfrm>
            <a:off x="569671" y="2799775"/>
            <a:ext cx="5623560" cy="307186"/>
          </a:xfrm>
          <a:prstGeom prst="rect">
            <a:avLst/>
          </a:prstGeom>
          <a:noFill/>
        </p:spPr>
        <p:txBody>
          <a:bodyPr wrap="none" lIns="0" tIns="0" rIns="0" bIns="0" anchor="ctr">
            <a:spAutoFit/>
          </a:bodyPr>
          <a:lstStyle/>
          <a:p>
            <a:pPr algn="ctr"/>
            <a:r>
              <a:rPr sz="1270" b="1" i="0">
                <a:solidFill>
                  <a:srgbClr val="FFFFFF"/>
                </a:solidFill>
                <a:latin typeface="맑은 고딕"/>
              </a:rPr>
              <a:t>① STT 파이프라인</a:t>
            </a:r>
          </a:p>
        </p:txBody>
      </p:sp>
      <p:sp>
        <p:nvSpPr>
          <p:cNvPr id="14" name="Rounded Rectangle 13"/>
          <p:cNvSpPr/>
          <p:nvPr/>
        </p:nvSpPr>
        <p:spPr>
          <a:xfrm>
            <a:off x="2671476" y="3160737"/>
            <a:ext cx="1405890" cy="506120"/>
          </a:xfrm>
          <a:prstGeom prst="roundRect">
            <a:avLst>
              <a:gd name="adj" fmla="val 125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5" name="TextBox 14"/>
          <p:cNvSpPr txBox="1"/>
          <p:nvPr/>
        </p:nvSpPr>
        <p:spPr>
          <a:xfrm>
            <a:off x="569671" y="3208538"/>
            <a:ext cx="5623560" cy="213695"/>
          </a:xfrm>
          <a:prstGeom prst="rect">
            <a:avLst/>
          </a:prstGeom>
          <a:noFill/>
        </p:spPr>
        <p:txBody>
          <a:bodyPr wrap="none" lIns="0" tIns="0" rIns="0" bIns="0" anchor="ctr">
            <a:spAutoFit/>
          </a:bodyPr>
          <a:lstStyle/>
          <a:p>
            <a:pPr algn="ctr"/>
            <a:r>
              <a:rPr sz="890" b="1" i="0" dirty="0">
                <a:solidFill>
                  <a:srgbClr val="FFFFFF"/>
                </a:solidFill>
                <a:latin typeface="맑은 고딕"/>
              </a:rPr>
              <a:t>1차 · </a:t>
            </a:r>
            <a:r>
              <a:rPr sz="890" b="1" i="0" dirty="0" err="1">
                <a:solidFill>
                  <a:srgbClr val="FFFFFF"/>
                </a:solidFill>
                <a:latin typeface="맑은 고딕"/>
              </a:rPr>
              <a:t>관리형</a:t>
            </a:r>
            <a:r>
              <a:rPr sz="890" b="1" i="0" dirty="0">
                <a:solidFill>
                  <a:srgbClr val="FFFFFF"/>
                </a:solidFill>
                <a:latin typeface="맑은 고딕"/>
              </a:rPr>
              <a:t> </a:t>
            </a:r>
            <a:r>
              <a:rPr sz="890" b="1" i="0" dirty="0" err="1">
                <a:solidFill>
                  <a:srgbClr val="FFFFFF"/>
                </a:solidFill>
                <a:latin typeface="맑은 고딕"/>
              </a:rPr>
              <a:t>전사</a:t>
            </a:r>
            <a:endParaRPr sz="890" b="1" i="0" dirty="0">
              <a:solidFill>
                <a:srgbClr val="FFFFFF"/>
              </a:solidFill>
              <a:latin typeface="맑은 고딕"/>
            </a:endParaRPr>
          </a:p>
        </p:txBody>
      </p:sp>
      <p:sp>
        <p:nvSpPr>
          <p:cNvPr id="16" name="TextBox 15"/>
          <p:cNvSpPr txBox="1"/>
          <p:nvPr/>
        </p:nvSpPr>
        <p:spPr>
          <a:xfrm>
            <a:off x="555612" y="3421881"/>
            <a:ext cx="5623560" cy="173627"/>
          </a:xfrm>
          <a:prstGeom prst="rect">
            <a:avLst/>
          </a:prstGeom>
          <a:noFill/>
        </p:spPr>
        <p:txBody>
          <a:bodyPr wrap="none" lIns="0" tIns="0" rIns="0" bIns="0" anchor="ctr">
            <a:spAutoFit/>
          </a:bodyPr>
          <a:lstStyle/>
          <a:p>
            <a:pPr algn="ctr"/>
            <a:r>
              <a:rPr sz="720" b="0" i="0">
                <a:solidFill>
                  <a:srgbClr val="C0D6F6"/>
                </a:solidFill>
                <a:latin typeface="맑은 고딕"/>
              </a:rPr>
              <a:t>Soniox 기본 / CLOVA 폴백</a:t>
            </a:r>
          </a:p>
        </p:txBody>
      </p:sp>
      <p:sp>
        <p:nvSpPr>
          <p:cNvPr id="17" name="Rounded Rectangle 16"/>
          <p:cNvSpPr/>
          <p:nvPr/>
        </p:nvSpPr>
        <p:spPr>
          <a:xfrm>
            <a:off x="2671476" y="3737152"/>
            <a:ext cx="1405890" cy="506120"/>
          </a:xfrm>
          <a:prstGeom prst="roundRect">
            <a:avLst>
              <a:gd name="adj" fmla="val 125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8" name="TextBox 17"/>
          <p:cNvSpPr txBox="1"/>
          <p:nvPr/>
        </p:nvSpPr>
        <p:spPr>
          <a:xfrm>
            <a:off x="559127" y="3791631"/>
            <a:ext cx="5623560" cy="200339"/>
          </a:xfrm>
          <a:prstGeom prst="rect">
            <a:avLst/>
          </a:prstGeom>
          <a:noFill/>
        </p:spPr>
        <p:txBody>
          <a:bodyPr wrap="none" lIns="0" tIns="0" rIns="0" bIns="0" anchor="ctr">
            <a:spAutoFit/>
          </a:bodyPr>
          <a:lstStyle/>
          <a:p>
            <a:pPr algn="ctr"/>
            <a:r>
              <a:rPr sz="830" b="1" i="0">
                <a:solidFill>
                  <a:srgbClr val="FFFFFF"/>
                </a:solidFill>
                <a:latin typeface="맑은 고딕"/>
              </a:rPr>
              <a:t>2차 · LLM 정제</a:t>
            </a:r>
          </a:p>
        </p:txBody>
      </p:sp>
      <p:sp>
        <p:nvSpPr>
          <p:cNvPr id="19" name="TextBox 18"/>
          <p:cNvSpPr txBox="1"/>
          <p:nvPr/>
        </p:nvSpPr>
        <p:spPr>
          <a:xfrm>
            <a:off x="562641" y="3974045"/>
            <a:ext cx="5623560" cy="186983"/>
          </a:xfrm>
          <a:prstGeom prst="rect">
            <a:avLst/>
          </a:prstGeom>
          <a:noFill/>
        </p:spPr>
        <p:txBody>
          <a:bodyPr wrap="none" lIns="0" tIns="0" rIns="0" bIns="0" anchor="ctr">
            <a:spAutoFit/>
          </a:bodyPr>
          <a:lstStyle/>
          <a:p>
            <a:pPr algn="ctr"/>
            <a:r>
              <a:rPr sz="770" b="0" i="0">
                <a:solidFill>
                  <a:srgbClr val="F0F7FA"/>
                </a:solidFill>
                <a:latin typeface="맑은 고딕"/>
              </a:rPr>
              <a:t>batch 병렬 (동시성 6)</a:t>
            </a:r>
          </a:p>
        </p:txBody>
      </p:sp>
      <p:sp>
        <p:nvSpPr>
          <p:cNvPr id="20" name="Rounded Rectangle 19"/>
          <p:cNvSpPr/>
          <p:nvPr/>
        </p:nvSpPr>
        <p:spPr>
          <a:xfrm>
            <a:off x="2678506" y="4320597"/>
            <a:ext cx="1391831" cy="379590"/>
          </a:xfrm>
          <a:prstGeom prst="roundRect">
            <a:avLst>
              <a:gd name="adj" fmla="val 1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1" name="TextBox 20"/>
          <p:cNvSpPr txBox="1"/>
          <p:nvPr/>
        </p:nvSpPr>
        <p:spPr>
          <a:xfrm>
            <a:off x="562641" y="4353635"/>
            <a:ext cx="5623560" cy="186983"/>
          </a:xfrm>
          <a:prstGeom prst="rect">
            <a:avLst/>
          </a:prstGeom>
          <a:noFill/>
        </p:spPr>
        <p:txBody>
          <a:bodyPr wrap="none" lIns="0" tIns="0" rIns="0" bIns="0" anchor="ctr">
            <a:spAutoFit/>
          </a:bodyPr>
          <a:lstStyle/>
          <a:p>
            <a:pPr algn="ctr"/>
            <a:r>
              <a:rPr sz="770" b="1" i="0">
                <a:solidFill>
                  <a:srgbClr val="16203A"/>
                </a:solidFill>
                <a:latin typeface="맑은 고딕"/>
              </a:rPr>
              <a:t>중간포맷 JSON</a:t>
            </a:r>
          </a:p>
        </p:txBody>
      </p:sp>
      <p:sp>
        <p:nvSpPr>
          <p:cNvPr id="22" name="TextBox 21"/>
          <p:cNvSpPr txBox="1"/>
          <p:nvPr/>
        </p:nvSpPr>
        <p:spPr>
          <a:xfrm>
            <a:off x="559127" y="4507931"/>
            <a:ext cx="5623560" cy="173627"/>
          </a:xfrm>
          <a:prstGeom prst="rect">
            <a:avLst/>
          </a:prstGeom>
          <a:noFill/>
        </p:spPr>
        <p:txBody>
          <a:bodyPr wrap="none" lIns="0" tIns="0" rIns="0" bIns="0" anchor="ctr">
            <a:spAutoFit/>
          </a:bodyPr>
          <a:lstStyle/>
          <a:p>
            <a:pPr algn="ctr"/>
            <a:r>
              <a:rPr sz="720" b="0" i="0">
                <a:solidFill>
                  <a:srgbClr val="7685A0"/>
                </a:solidFill>
                <a:latin typeface="맑은 고딕"/>
              </a:rPr>
              <a:t>공통 스키마로 수렴</a:t>
            </a:r>
          </a:p>
        </p:txBody>
      </p:sp>
      <p:sp>
        <p:nvSpPr>
          <p:cNvPr id="23" name="Rounded Rectangle 22"/>
          <p:cNvSpPr/>
          <p:nvPr/>
        </p:nvSpPr>
        <p:spPr>
          <a:xfrm>
            <a:off x="4759223" y="3301326"/>
            <a:ext cx="1166888" cy="956005"/>
          </a:xfrm>
          <a:prstGeom prst="roundRect">
            <a:avLst>
              <a:gd name="adj" fmla="val 7352"/>
            </a:avLst>
          </a:prstGeom>
          <a:solidFill>
            <a:srgbClr val="FFFFFF"/>
          </a:solidFill>
          <a:ln w="14058">
            <a:solidFill>
              <a:srgbClr val="1C7293"/>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4" name="TextBox 23"/>
          <p:cNvSpPr txBox="1"/>
          <p:nvPr/>
        </p:nvSpPr>
        <p:spPr>
          <a:xfrm>
            <a:off x="2534402" y="3455623"/>
            <a:ext cx="5623560" cy="253763"/>
          </a:xfrm>
          <a:prstGeom prst="rect">
            <a:avLst/>
          </a:prstGeom>
          <a:noFill/>
        </p:spPr>
        <p:txBody>
          <a:bodyPr wrap="none" lIns="0" tIns="0" rIns="0" bIns="0" anchor="ctr">
            <a:spAutoFit/>
          </a:bodyPr>
          <a:lstStyle/>
          <a:p>
            <a:pPr algn="ctr"/>
            <a:r>
              <a:rPr sz="1050" b="1" i="0">
                <a:solidFill>
                  <a:srgbClr val="16203A"/>
                </a:solidFill>
                <a:latin typeface="맑은 고딕"/>
              </a:rPr>
              <a:t>chunking</a:t>
            </a:r>
          </a:p>
        </p:txBody>
      </p:sp>
      <p:sp>
        <p:nvSpPr>
          <p:cNvPr id="25" name="TextBox 24"/>
          <p:cNvSpPr txBox="1"/>
          <p:nvPr/>
        </p:nvSpPr>
        <p:spPr>
          <a:xfrm>
            <a:off x="2530887" y="3717821"/>
            <a:ext cx="5623560" cy="200339"/>
          </a:xfrm>
          <a:prstGeom prst="rect">
            <a:avLst/>
          </a:prstGeom>
          <a:noFill/>
        </p:spPr>
        <p:txBody>
          <a:bodyPr wrap="none" lIns="0" tIns="0" rIns="0" bIns="0" anchor="ctr">
            <a:spAutoFit/>
          </a:bodyPr>
          <a:lstStyle/>
          <a:p>
            <a:pPr algn="ctr"/>
            <a:r>
              <a:rPr sz="830" b="0" i="0">
                <a:solidFill>
                  <a:srgbClr val="657594"/>
                </a:solidFill>
                <a:latin typeface="맑은 고딕"/>
              </a:rPr>
              <a:t>전사문 · 자료</a:t>
            </a:r>
          </a:p>
        </p:txBody>
      </p:sp>
      <p:sp>
        <p:nvSpPr>
          <p:cNvPr id="26" name="TextBox 25"/>
          <p:cNvSpPr txBox="1"/>
          <p:nvPr/>
        </p:nvSpPr>
        <p:spPr>
          <a:xfrm>
            <a:off x="2527373" y="3886528"/>
            <a:ext cx="5623560" cy="200339"/>
          </a:xfrm>
          <a:prstGeom prst="rect">
            <a:avLst/>
          </a:prstGeom>
          <a:noFill/>
        </p:spPr>
        <p:txBody>
          <a:bodyPr wrap="none" lIns="0" tIns="0" rIns="0" bIns="0" anchor="ctr">
            <a:spAutoFit/>
          </a:bodyPr>
          <a:lstStyle/>
          <a:p>
            <a:pPr algn="ctr"/>
            <a:r>
              <a:rPr sz="830" b="0" i="0">
                <a:solidFill>
                  <a:srgbClr val="657594"/>
                </a:solidFill>
                <a:latin typeface="맑은 고딕"/>
              </a:rPr>
              <a:t>두 분할기</a:t>
            </a:r>
          </a:p>
        </p:txBody>
      </p:sp>
      <p:sp>
        <p:nvSpPr>
          <p:cNvPr id="27" name="Rounded Rectangle 26"/>
          <p:cNvSpPr/>
          <p:nvPr/>
        </p:nvSpPr>
        <p:spPr>
          <a:xfrm>
            <a:off x="6432232" y="2724912"/>
            <a:ext cx="1897951" cy="2108835"/>
          </a:xfrm>
          <a:prstGeom prst="roundRect">
            <a:avLst>
              <a:gd name="adj" fmla="val 5185"/>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8" name="TextBox 27"/>
          <p:cNvSpPr txBox="1"/>
          <p:nvPr/>
        </p:nvSpPr>
        <p:spPr>
          <a:xfrm>
            <a:off x="4579972" y="2793097"/>
            <a:ext cx="5623560" cy="320542"/>
          </a:xfrm>
          <a:prstGeom prst="rect">
            <a:avLst/>
          </a:prstGeom>
          <a:noFill/>
        </p:spPr>
        <p:txBody>
          <a:bodyPr wrap="none" lIns="0" tIns="0" rIns="0" bIns="0" anchor="ctr">
            <a:spAutoFit/>
          </a:bodyPr>
          <a:lstStyle/>
          <a:p>
            <a:pPr algn="ctr"/>
            <a:r>
              <a:rPr sz="1330" b="1" i="0">
                <a:solidFill>
                  <a:srgbClr val="FFFFFF"/>
                </a:solidFill>
                <a:latin typeface="맑은 고딕"/>
              </a:rPr>
              <a:t>② 지식 그래프</a:t>
            </a:r>
          </a:p>
        </p:txBody>
      </p:sp>
      <p:sp>
        <p:nvSpPr>
          <p:cNvPr id="29" name="Rounded Rectangle 28"/>
          <p:cNvSpPr/>
          <p:nvPr/>
        </p:nvSpPr>
        <p:spPr>
          <a:xfrm>
            <a:off x="6607968" y="3181826"/>
            <a:ext cx="1546479" cy="63265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0" name="TextBox 29"/>
          <p:cNvSpPr txBox="1"/>
          <p:nvPr/>
        </p:nvSpPr>
        <p:spPr>
          <a:xfrm>
            <a:off x="4565913" y="3264773"/>
            <a:ext cx="5623560" cy="213695"/>
          </a:xfrm>
          <a:prstGeom prst="rect">
            <a:avLst/>
          </a:prstGeom>
          <a:noFill/>
        </p:spPr>
        <p:txBody>
          <a:bodyPr wrap="none" lIns="0" tIns="0" rIns="0" bIns="0" anchor="ctr">
            <a:spAutoFit/>
          </a:bodyPr>
          <a:lstStyle/>
          <a:p>
            <a:pPr algn="ctr"/>
            <a:r>
              <a:rPr sz="890" b="1" i="0">
                <a:solidFill>
                  <a:srgbClr val="FFFFFF"/>
                </a:solidFill>
                <a:latin typeface="맑은 고딕"/>
              </a:rPr>
              <a:t>Graphiti 엔진</a:t>
            </a:r>
          </a:p>
        </p:txBody>
      </p:sp>
      <p:sp>
        <p:nvSpPr>
          <p:cNvPr id="31" name="TextBox 30"/>
          <p:cNvSpPr txBox="1"/>
          <p:nvPr/>
        </p:nvSpPr>
        <p:spPr>
          <a:xfrm>
            <a:off x="4565913" y="3471088"/>
            <a:ext cx="5623560" cy="173627"/>
          </a:xfrm>
          <a:prstGeom prst="rect">
            <a:avLst/>
          </a:prstGeom>
          <a:noFill/>
        </p:spPr>
        <p:txBody>
          <a:bodyPr wrap="none" lIns="0" tIns="0" rIns="0" bIns="0" anchor="ctr">
            <a:spAutoFit/>
          </a:bodyPr>
          <a:lstStyle/>
          <a:p>
            <a:pPr algn="ctr"/>
            <a:r>
              <a:rPr sz="720" b="0" i="0">
                <a:solidFill>
                  <a:srgbClr val="B1CBEC"/>
                </a:solidFill>
                <a:latin typeface="맑은 고딕"/>
              </a:rPr>
              <a:t>LLM 개념·관계 추출</a:t>
            </a:r>
          </a:p>
        </p:txBody>
      </p:sp>
      <p:sp>
        <p:nvSpPr>
          <p:cNvPr id="32" name="TextBox 31"/>
          <p:cNvSpPr txBox="1"/>
          <p:nvPr/>
        </p:nvSpPr>
        <p:spPr>
          <a:xfrm>
            <a:off x="4569428" y="3625736"/>
            <a:ext cx="5623560" cy="173627"/>
          </a:xfrm>
          <a:prstGeom prst="rect">
            <a:avLst/>
          </a:prstGeom>
          <a:noFill/>
        </p:spPr>
        <p:txBody>
          <a:bodyPr wrap="none" lIns="0" tIns="0" rIns="0" bIns="0" anchor="ctr">
            <a:spAutoFit/>
          </a:bodyPr>
          <a:lstStyle/>
          <a:p>
            <a:pPr algn="ctr"/>
            <a:r>
              <a:rPr sz="720" b="0" i="0">
                <a:solidFill>
                  <a:srgbClr val="B2CCEC"/>
                </a:solidFill>
                <a:latin typeface="맑은 고딕"/>
              </a:rPr>
              <a:t>bi-temporal 시간축</a:t>
            </a:r>
          </a:p>
        </p:txBody>
      </p:sp>
      <p:sp>
        <p:nvSpPr>
          <p:cNvPr id="33" name="Rounded Rectangle 32"/>
          <p:cNvSpPr/>
          <p:nvPr/>
        </p:nvSpPr>
        <p:spPr>
          <a:xfrm>
            <a:off x="6607968" y="3898830"/>
            <a:ext cx="1546479" cy="738092"/>
          </a:xfrm>
          <a:prstGeom prst="roundRect">
            <a:avLst>
              <a:gd name="adj" fmla="val 8571"/>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4" name="TextBox 33"/>
          <p:cNvSpPr txBox="1"/>
          <p:nvPr/>
        </p:nvSpPr>
        <p:spPr>
          <a:xfrm>
            <a:off x="4572942" y="3988104"/>
            <a:ext cx="5623560" cy="186983"/>
          </a:xfrm>
          <a:prstGeom prst="rect">
            <a:avLst/>
          </a:prstGeom>
          <a:noFill/>
        </p:spPr>
        <p:txBody>
          <a:bodyPr wrap="none" lIns="0" tIns="0" rIns="0" bIns="0" anchor="ctr">
            <a:spAutoFit/>
          </a:bodyPr>
          <a:lstStyle/>
          <a:p>
            <a:pPr algn="ctr"/>
            <a:r>
              <a:rPr sz="770" b="1" i="0">
                <a:solidFill>
                  <a:srgbClr val="FFFFFF"/>
                </a:solidFill>
                <a:latin typeface="맑은 고딕"/>
              </a:rPr>
              <a:t>Neo4j 저장</a:t>
            </a:r>
          </a:p>
        </p:txBody>
      </p:sp>
      <p:sp>
        <p:nvSpPr>
          <p:cNvPr id="35" name="TextBox 34"/>
          <p:cNvSpPr txBox="1"/>
          <p:nvPr/>
        </p:nvSpPr>
        <p:spPr>
          <a:xfrm>
            <a:off x="4569428" y="4177196"/>
            <a:ext cx="5623560" cy="160271"/>
          </a:xfrm>
          <a:prstGeom prst="rect">
            <a:avLst/>
          </a:prstGeom>
          <a:noFill/>
        </p:spPr>
        <p:txBody>
          <a:bodyPr wrap="none" lIns="0" tIns="0" rIns="0" bIns="0" anchor="ctr">
            <a:spAutoFit/>
          </a:bodyPr>
          <a:lstStyle/>
          <a:p>
            <a:pPr algn="ctr"/>
            <a:r>
              <a:rPr sz="660" b="0" i="0">
                <a:solidFill>
                  <a:srgbClr val="F3F8F9"/>
                </a:solidFill>
                <a:latin typeface="맑은 고딕"/>
              </a:rPr>
              <a:t>Episodic = 세션</a:t>
            </a:r>
          </a:p>
        </p:txBody>
      </p:sp>
      <p:sp>
        <p:nvSpPr>
          <p:cNvPr id="36" name="TextBox 35"/>
          <p:cNvSpPr txBox="1"/>
          <p:nvPr/>
        </p:nvSpPr>
        <p:spPr>
          <a:xfrm>
            <a:off x="4565913" y="4331844"/>
            <a:ext cx="5623560" cy="160271"/>
          </a:xfrm>
          <a:prstGeom prst="rect">
            <a:avLst/>
          </a:prstGeom>
          <a:noFill/>
        </p:spPr>
        <p:txBody>
          <a:bodyPr wrap="none" lIns="0" tIns="0" rIns="0" bIns="0" anchor="ctr">
            <a:spAutoFit/>
          </a:bodyPr>
          <a:lstStyle/>
          <a:p>
            <a:pPr algn="ctr"/>
            <a:r>
              <a:rPr sz="660" b="0" i="0">
                <a:solidFill>
                  <a:srgbClr val="F4F8FA"/>
                </a:solidFill>
                <a:latin typeface="맑은 고딕"/>
              </a:rPr>
              <a:t>Entity = 개념</a:t>
            </a:r>
          </a:p>
        </p:txBody>
      </p:sp>
      <p:sp>
        <p:nvSpPr>
          <p:cNvPr id="37" name="TextBox 36"/>
          <p:cNvSpPr txBox="1"/>
          <p:nvPr/>
        </p:nvSpPr>
        <p:spPr>
          <a:xfrm>
            <a:off x="4569428" y="4475596"/>
            <a:ext cx="5623560" cy="146915"/>
          </a:xfrm>
          <a:prstGeom prst="rect">
            <a:avLst/>
          </a:prstGeom>
          <a:noFill/>
        </p:spPr>
        <p:txBody>
          <a:bodyPr wrap="none" lIns="0" tIns="0" rIns="0" bIns="0" anchor="ctr">
            <a:spAutoFit/>
          </a:bodyPr>
          <a:lstStyle/>
          <a:p>
            <a:pPr algn="ctr"/>
            <a:r>
              <a:rPr sz="610" b="0" i="0">
                <a:solidFill>
                  <a:srgbClr val="EAF2F5"/>
                </a:solidFill>
                <a:latin typeface="맑은 고딕"/>
              </a:rPr>
              <a:t>RELATES_TO = fact</a:t>
            </a:r>
          </a:p>
        </p:txBody>
      </p:sp>
      <p:sp>
        <p:nvSpPr>
          <p:cNvPr id="38" name="Rounded Rectangle 37"/>
          <p:cNvSpPr/>
          <p:nvPr/>
        </p:nvSpPr>
        <p:spPr>
          <a:xfrm>
            <a:off x="8836304" y="2809265"/>
            <a:ext cx="1377772" cy="885710"/>
          </a:xfrm>
          <a:prstGeom prst="roundRect">
            <a:avLst>
              <a:gd name="adj" fmla="val 7936"/>
            </a:avLst>
          </a:prstGeom>
          <a:solidFill>
            <a:srgbClr val="FFFFFF"/>
          </a:solidFill>
          <a:ln w="14058">
            <a:solidFill>
              <a:srgbClr val="065A8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9" name="TextBox 38"/>
          <p:cNvSpPr txBox="1"/>
          <p:nvPr/>
        </p:nvSpPr>
        <p:spPr>
          <a:xfrm>
            <a:off x="6716925" y="2939661"/>
            <a:ext cx="5623560" cy="280475"/>
          </a:xfrm>
          <a:prstGeom prst="rect">
            <a:avLst/>
          </a:prstGeom>
          <a:noFill/>
        </p:spPr>
        <p:txBody>
          <a:bodyPr wrap="none" lIns="0" tIns="0" rIns="0" bIns="0" anchor="ctr">
            <a:spAutoFit/>
          </a:bodyPr>
          <a:lstStyle/>
          <a:p>
            <a:pPr algn="ctr"/>
            <a:r>
              <a:rPr sz="1160" b="1" i="0">
                <a:solidFill>
                  <a:srgbClr val="16203A"/>
                </a:solidFill>
                <a:latin typeface="맑은 고딕"/>
              </a:rPr>
              <a:t>그래프 뷰</a:t>
            </a:r>
          </a:p>
        </p:txBody>
      </p:sp>
      <p:sp>
        <p:nvSpPr>
          <p:cNvPr id="40" name="TextBox 39"/>
          <p:cNvSpPr txBox="1"/>
          <p:nvPr/>
        </p:nvSpPr>
        <p:spPr>
          <a:xfrm>
            <a:off x="6709895" y="3219082"/>
            <a:ext cx="5623560" cy="213695"/>
          </a:xfrm>
          <a:prstGeom prst="rect">
            <a:avLst/>
          </a:prstGeom>
          <a:noFill/>
        </p:spPr>
        <p:txBody>
          <a:bodyPr wrap="none" lIns="0" tIns="0" rIns="0" bIns="0" anchor="ctr">
            <a:spAutoFit/>
          </a:bodyPr>
          <a:lstStyle/>
          <a:p>
            <a:pPr algn="ctr"/>
            <a:r>
              <a:rPr sz="890" b="0" i="0">
                <a:solidFill>
                  <a:srgbClr val="657594"/>
                </a:solidFill>
                <a:latin typeface="맑은 고딕"/>
              </a:rPr>
              <a:t>개념·세션 노드</a:t>
            </a:r>
          </a:p>
        </p:txBody>
      </p:sp>
      <p:sp>
        <p:nvSpPr>
          <p:cNvPr id="41" name="TextBox 40"/>
          <p:cNvSpPr txBox="1"/>
          <p:nvPr/>
        </p:nvSpPr>
        <p:spPr>
          <a:xfrm>
            <a:off x="6706381" y="3394467"/>
            <a:ext cx="5623560" cy="200339"/>
          </a:xfrm>
          <a:prstGeom prst="rect">
            <a:avLst/>
          </a:prstGeom>
          <a:noFill/>
        </p:spPr>
        <p:txBody>
          <a:bodyPr wrap="none" lIns="0" tIns="0" rIns="0" bIns="0" anchor="ctr">
            <a:spAutoFit/>
          </a:bodyPr>
          <a:lstStyle/>
          <a:p>
            <a:pPr algn="ctr"/>
            <a:r>
              <a:rPr sz="830" b="0" i="0">
                <a:solidFill>
                  <a:srgbClr val="5A6B8C"/>
                </a:solidFill>
                <a:latin typeface="맑은 고딕"/>
              </a:rPr>
              <a:t>시각적 탐색</a:t>
            </a:r>
          </a:p>
        </p:txBody>
      </p:sp>
      <p:sp>
        <p:nvSpPr>
          <p:cNvPr id="42" name="Rounded Rectangle 41"/>
          <p:cNvSpPr/>
          <p:nvPr/>
        </p:nvSpPr>
        <p:spPr>
          <a:xfrm>
            <a:off x="8836304" y="3863682"/>
            <a:ext cx="1377772" cy="885710"/>
          </a:xfrm>
          <a:prstGeom prst="roundRect">
            <a:avLst>
              <a:gd name="adj" fmla="val 7936"/>
            </a:avLst>
          </a:prstGeom>
          <a:solidFill>
            <a:srgbClr val="FFFFFF"/>
          </a:solidFill>
          <a:ln w="14058">
            <a:solidFill>
              <a:srgbClr val="065A8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43" name="TextBox 42"/>
          <p:cNvSpPr txBox="1"/>
          <p:nvPr/>
        </p:nvSpPr>
        <p:spPr>
          <a:xfrm>
            <a:off x="6720439" y="4007786"/>
            <a:ext cx="5623560" cy="267119"/>
          </a:xfrm>
          <a:prstGeom prst="rect">
            <a:avLst/>
          </a:prstGeom>
          <a:noFill/>
        </p:spPr>
        <p:txBody>
          <a:bodyPr wrap="none" lIns="0" tIns="0" rIns="0" bIns="0" anchor="ctr">
            <a:spAutoFit/>
          </a:bodyPr>
          <a:lstStyle/>
          <a:p>
            <a:pPr algn="ctr"/>
            <a:r>
              <a:rPr sz="1110" b="1" i="0">
                <a:solidFill>
                  <a:srgbClr val="16203A"/>
                </a:solidFill>
                <a:latin typeface="맑은 고딕"/>
              </a:rPr>
              <a:t>③ 챗봇 (RAG)</a:t>
            </a:r>
          </a:p>
        </p:txBody>
      </p:sp>
      <p:sp>
        <p:nvSpPr>
          <p:cNvPr id="44" name="TextBox 43"/>
          <p:cNvSpPr txBox="1"/>
          <p:nvPr/>
        </p:nvSpPr>
        <p:spPr>
          <a:xfrm>
            <a:off x="6706381" y="4280177"/>
            <a:ext cx="5623560" cy="200339"/>
          </a:xfrm>
          <a:prstGeom prst="rect">
            <a:avLst/>
          </a:prstGeom>
          <a:noFill/>
        </p:spPr>
        <p:txBody>
          <a:bodyPr wrap="none" lIns="0" tIns="0" rIns="0" bIns="0" anchor="ctr">
            <a:spAutoFit/>
          </a:bodyPr>
          <a:lstStyle/>
          <a:p>
            <a:pPr algn="ctr"/>
            <a:r>
              <a:rPr sz="830" b="0" i="0">
                <a:solidFill>
                  <a:srgbClr val="5A6B8C"/>
                </a:solidFill>
                <a:latin typeface="맑은 고딕"/>
              </a:rPr>
              <a:t>fact 기반 검색</a:t>
            </a:r>
          </a:p>
        </p:txBody>
      </p:sp>
      <p:sp>
        <p:nvSpPr>
          <p:cNvPr id="45" name="TextBox 44"/>
          <p:cNvSpPr txBox="1"/>
          <p:nvPr/>
        </p:nvSpPr>
        <p:spPr>
          <a:xfrm>
            <a:off x="6709895" y="4445369"/>
            <a:ext cx="5623560" cy="200339"/>
          </a:xfrm>
          <a:prstGeom prst="rect">
            <a:avLst/>
          </a:prstGeom>
          <a:noFill/>
        </p:spPr>
        <p:txBody>
          <a:bodyPr wrap="none" lIns="0" tIns="0" rIns="0" bIns="0" anchor="ctr">
            <a:spAutoFit/>
          </a:bodyPr>
          <a:lstStyle/>
          <a:p>
            <a:pPr algn="ctr"/>
            <a:r>
              <a:rPr sz="830" b="0" i="0">
                <a:solidFill>
                  <a:srgbClr val="657594"/>
                </a:solidFill>
                <a:latin typeface="맑은 고딕"/>
              </a:rPr>
              <a:t>출처 표기 답변</a:t>
            </a:r>
          </a:p>
        </p:txBody>
      </p:sp>
      <p:cxnSp>
        <p:nvCxnSpPr>
          <p:cNvPr id="46" name="Connector 45"/>
          <p:cNvCxnSpPr/>
          <p:nvPr/>
        </p:nvCxnSpPr>
        <p:spPr>
          <a:xfrm>
            <a:off x="2017737" y="3779329"/>
            <a:ext cx="449885" cy="0"/>
          </a:xfrm>
          <a:prstGeom prst="line">
            <a:avLst/>
          </a:prstGeom>
          <a:ln w="21088">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267161" y="3779329"/>
            <a:ext cx="449885" cy="0"/>
          </a:xfrm>
          <a:prstGeom prst="line">
            <a:avLst/>
          </a:prstGeom>
          <a:ln w="21088">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54229" y="3779329"/>
            <a:ext cx="449885" cy="0"/>
          </a:xfrm>
          <a:prstGeom prst="line">
            <a:avLst/>
          </a:prstGeom>
          <a:ln w="21088">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358301" y="3238061"/>
            <a:ext cx="435826" cy="119501"/>
          </a:xfrm>
          <a:prstGeom prst="line">
            <a:avLst/>
          </a:prstGeom>
          <a:ln w="21088">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358301" y="4215155"/>
            <a:ext cx="435826" cy="119501"/>
          </a:xfrm>
          <a:prstGeom prst="line">
            <a:avLst/>
          </a:prstGeom>
          <a:ln w="21088">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03 · 구현 ① STT 파이프라인</a:t>
            </a:r>
            <a:endParaRPr lang="en-US" sz="1300" dirty="0"/>
          </a:p>
        </p:txBody>
      </p:sp>
      <p:sp>
        <p:nvSpPr>
          <p:cNvPr id="14" name="Text 11"/>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4</a:t>
            </a:r>
            <a:endParaRPr lang="en-US" sz="1100" dirty="0"/>
          </a:p>
        </p:txBody>
      </p:sp>
      <p:sp>
        <p:nvSpPr>
          <p:cNvPr id="56" name="EmphasisBadge"/>
          <p:cNvSpPr/>
          <p:nvPr/>
        </p:nvSpPr>
        <p:spPr>
          <a:xfrm>
            <a:off x="7790688" y="353568"/>
            <a:ext cx="3572256" cy="377952"/>
          </a:xfrm>
          <a:prstGeom prst="roundRect">
            <a:avLst>
              <a:gd name="adj" fmla="val 50000"/>
            </a:avLst>
          </a:prstGeom>
          <a:solidFill>
            <a:srgbClr val="EAF1F9"/>
          </a:solidFill>
          <a:ln w="9144">
            <a:solidFill>
              <a:srgbClr val="065A8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065A82"/>
                </a:solidFill>
                <a:latin typeface="맑은 고딕"/>
              </a:rPr>
              <a:t>구현 차별점 ① · </a:t>
            </a:r>
            <a:r>
              <a:rPr sz="1100" b="0">
                <a:solidFill>
                  <a:srgbClr val="1C3F55"/>
                </a:solidFill>
                <a:latin typeface="맑은 고딕"/>
              </a:rPr>
              <a:t>STT 입력을 배치로 나눠 병렬 처리</a:t>
            </a:r>
          </a:p>
        </p:txBody>
      </p:sp>
      <p:sp>
        <p:nvSpPr>
          <p:cNvPr id="57" name="Rounded Rectangle 56"/>
          <p:cNvSpPr/>
          <p:nvPr/>
        </p:nvSpPr>
        <p:spPr>
          <a:xfrm>
            <a:off x="548640" y="1389888"/>
            <a:ext cx="11091672" cy="1847088"/>
          </a:xfrm>
          <a:prstGeom prst="roundRect">
            <a:avLst/>
          </a:prstGeom>
          <a:noFill/>
          <a:ln w="19050">
            <a:solidFill>
              <a:srgbClr val="1C72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9808" y="1444752"/>
            <a:ext cx="7315200" cy="292608"/>
          </a:xfrm>
          <a:prstGeom prst="rect">
            <a:avLst/>
          </a:prstGeom>
          <a:noFill/>
        </p:spPr>
        <p:txBody>
          <a:bodyPr wrap="none">
            <a:spAutoFit/>
          </a:bodyPr>
          <a:lstStyle/>
          <a:p>
            <a:r>
              <a:rPr sz="1250" b="1">
                <a:solidFill>
                  <a:srgbClr val="1C7293"/>
                </a:solidFill>
                <a:latin typeface="맑은 고딕"/>
                <a:ea typeface="맑은 고딕"/>
                <a:cs typeface="맑은 고딕"/>
              </a:rPr>
              <a:t>1차 PASS — 전사 (음성 → 글자)</a:t>
            </a:r>
          </a:p>
        </p:txBody>
      </p:sp>
      <p:sp>
        <p:nvSpPr>
          <p:cNvPr id="59" name="Rounded Rectangle 58"/>
          <p:cNvSpPr/>
          <p:nvPr/>
        </p:nvSpPr>
        <p:spPr>
          <a:xfrm>
            <a:off x="822960" y="1847088"/>
            <a:ext cx="3063240" cy="658368"/>
          </a:xfrm>
          <a:prstGeom prst="roundRect">
            <a:avLst/>
          </a:prstGeom>
          <a:solidFill>
            <a:srgbClr val="EDEFF3"/>
          </a:solidFill>
          <a:ln w="1270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300" b="1">
                <a:solidFill>
                  <a:srgbClr val="16203A"/>
                </a:solidFill>
                <a:latin typeface="맑은 고딕"/>
                <a:ea typeface="맑은 고딕"/>
                <a:cs typeface="맑은 고딕"/>
              </a:rPr>
              <a:t>음성 파일</a:t>
            </a:r>
          </a:p>
          <a:p>
            <a:pPr algn="ctr"/>
            <a:r>
              <a:rPr sz="1000">
                <a:solidFill>
                  <a:srgbClr val="5A6B8C"/>
                </a:solidFill>
                <a:latin typeface="맑은 고딕"/>
                <a:ea typeface="맑은 고딕"/>
                <a:cs typeface="맑은 고딕"/>
              </a:rPr>
              <a:t>강의 녹음</a:t>
            </a:r>
          </a:p>
        </p:txBody>
      </p:sp>
      <p:sp>
        <p:nvSpPr>
          <p:cNvPr id="60" name="Right Arrow 59"/>
          <p:cNvSpPr/>
          <p:nvPr/>
        </p:nvSpPr>
        <p:spPr>
          <a:xfrm>
            <a:off x="3931920" y="2039112"/>
            <a:ext cx="457200" cy="274320"/>
          </a:xfrm>
          <a:prstGeom prst="rightArrow">
            <a:avLst/>
          </a:prstGeom>
          <a:solidFill>
            <a:srgbClr val="AEB9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4434840" y="1847088"/>
            <a:ext cx="3063240" cy="658368"/>
          </a:xfrm>
          <a:prstGeom prst="roundRect">
            <a:avLst/>
          </a:prstGeom>
          <a:solidFill>
            <a:srgbClr val="DCEBE6"/>
          </a:solidFill>
          <a:ln w="12700">
            <a:solidFill>
              <a:srgbClr val="A9D0C1"/>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300" b="1">
                <a:solidFill>
                  <a:srgbClr val="16203A"/>
                </a:solidFill>
                <a:latin typeface="맑은 고딕"/>
                <a:ea typeface="맑은 고딕"/>
                <a:cs typeface="맑은 고딕"/>
              </a:rPr>
              <a:t>STT 엔진</a:t>
            </a:r>
          </a:p>
          <a:p>
            <a:pPr algn="ctr"/>
            <a:r>
              <a:rPr sz="1000">
                <a:solidFill>
                  <a:srgbClr val="5A6B8C"/>
                </a:solidFill>
                <a:latin typeface="맑은 고딕"/>
                <a:ea typeface="맑은 고딕"/>
                <a:cs typeface="맑은 고딕"/>
              </a:rPr>
              <a:t>hotword 주입 인식</a:t>
            </a:r>
          </a:p>
        </p:txBody>
      </p:sp>
      <p:sp>
        <p:nvSpPr>
          <p:cNvPr id="62" name="Right Arrow 61"/>
          <p:cNvSpPr/>
          <p:nvPr/>
        </p:nvSpPr>
        <p:spPr>
          <a:xfrm>
            <a:off x="7543800" y="2039112"/>
            <a:ext cx="457200" cy="274320"/>
          </a:xfrm>
          <a:prstGeom prst="rightArrow">
            <a:avLst/>
          </a:prstGeom>
          <a:solidFill>
            <a:srgbClr val="AEB9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046720" y="1847088"/>
            <a:ext cx="3063240" cy="658368"/>
          </a:xfrm>
          <a:prstGeom prst="roundRect">
            <a:avLst/>
          </a:prstGeom>
          <a:solidFill>
            <a:srgbClr val="F7E4E4"/>
          </a:solidFill>
          <a:ln w="12700">
            <a:solidFill>
              <a:srgbClr val="E2B4B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300" b="1">
                <a:solidFill>
                  <a:srgbClr val="16203A"/>
                </a:solidFill>
                <a:latin typeface="맑은 고딕"/>
                <a:ea typeface="맑은 고딕"/>
                <a:cs typeface="맑은 고딕"/>
              </a:rPr>
              <a:t>1차 전사문</a:t>
            </a:r>
          </a:p>
          <a:p>
            <a:pPr algn="ctr"/>
            <a:r>
              <a:rPr sz="1000">
                <a:solidFill>
                  <a:srgbClr val="5A6B8C"/>
                </a:solidFill>
                <a:latin typeface="맑은 고딕"/>
                <a:ea typeface="맑은 고딕"/>
                <a:cs typeface="맑은 고딕"/>
              </a:rPr>
              <a:t>오인식 일부 포함</a:t>
            </a:r>
          </a:p>
        </p:txBody>
      </p:sp>
      <p:sp>
        <p:nvSpPr>
          <p:cNvPr id="64" name="Rounded Rectangle 63"/>
          <p:cNvSpPr/>
          <p:nvPr/>
        </p:nvSpPr>
        <p:spPr>
          <a:xfrm>
            <a:off x="1463040" y="2651760"/>
            <a:ext cx="9235440" cy="502920"/>
          </a:xfrm>
          <a:prstGeom prst="roundRect">
            <a:avLst/>
          </a:prstGeom>
          <a:solidFill>
            <a:srgbClr val="F9E9E9"/>
          </a:solidFill>
          <a:ln w="12700">
            <a:solidFill>
              <a:srgbClr val="E0A9A9"/>
            </a:solidFill>
          </a:ln>
          <a:effectLst/>
        </p:spPr>
        <p:style>
          <a:lnRef idx="1">
            <a:schemeClr val="accent1"/>
          </a:lnRef>
          <a:fillRef idx="3">
            <a:schemeClr val="accent1"/>
          </a:fillRef>
          <a:effectRef idx="2">
            <a:schemeClr val="accent1"/>
          </a:effectRef>
          <a:fontRef idx="minor">
            <a:schemeClr val="lt1"/>
          </a:fontRef>
        </p:style>
        <p:txBody>
          <a:bodyPr rtlCol="0" anchor="ctr" wrap="square" tIns="50800" bIns="50800"/>
          <a:lstStyle/>
          <a:p>
            <a:pPr algn="ctr"/>
            <a:r>
              <a:rPr sz="1300" b="1">
                <a:solidFill>
                  <a:srgbClr val="B23A3A"/>
                </a:solidFill>
                <a:latin typeface="맑은 고딕"/>
                <a:ea typeface="맑은 고딕"/>
                <a:cs typeface="맑은 고딕"/>
              </a:rPr>
              <a:t>문제: "추가경영예산안" (틀림)</a:t>
            </a:r>
          </a:p>
          <a:p>
            <a:pPr algn="ctr"/>
            <a:r>
              <a:rPr sz="1050">
                <a:solidFill>
                  <a:srgbClr val="8A5A5A"/>
                </a:solidFill>
                <a:latin typeface="맑은 고딕"/>
                <a:ea typeface="맑은 고딕"/>
                <a:cs typeface="맑은 고딕"/>
              </a:rPr>
              <a:t>음성만으로는 발음이 비슷한 전문용어를 구분하기 어렵다</a:t>
            </a:r>
          </a:p>
        </p:txBody>
      </p:sp>
      <p:sp>
        <p:nvSpPr>
          <p:cNvPr id="65" name="Down Arrow 64"/>
          <p:cNvSpPr/>
          <p:nvPr/>
        </p:nvSpPr>
        <p:spPr>
          <a:xfrm>
            <a:off x="5806440" y="3246120"/>
            <a:ext cx="256032" cy="292608"/>
          </a:xfrm>
          <a:prstGeom prst="downArrow">
            <a:avLst/>
          </a:prstGeom>
          <a:solidFill>
            <a:srgbClr val="AEB9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4768" y="3273552"/>
            <a:ext cx="1828800" cy="256032"/>
          </a:xfrm>
          <a:prstGeom prst="rect">
            <a:avLst/>
          </a:prstGeom>
          <a:noFill/>
        </p:spPr>
        <p:txBody>
          <a:bodyPr wrap="none">
            <a:spAutoFit/>
          </a:bodyPr>
          <a:lstStyle/>
          <a:p>
            <a:r>
              <a:rPr sz="1100" b="1">
                <a:solidFill>
                  <a:srgbClr val="5A6B8C"/>
                </a:solidFill>
                <a:latin typeface="맑은 고딕"/>
                <a:ea typeface="맑은 고딕"/>
                <a:cs typeface="맑은 고딕"/>
              </a:rPr>
              <a:t>교정 필요</a:t>
            </a:r>
          </a:p>
        </p:txBody>
      </p:sp>
      <p:sp>
        <p:nvSpPr>
          <p:cNvPr id="67" name="Rounded Rectangle 66"/>
          <p:cNvSpPr/>
          <p:nvPr/>
        </p:nvSpPr>
        <p:spPr>
          <a:xfrm>
            <a:off x="548640" y="3566160"/>
            <a:ext cx="11091672" cy="2724912"/>
          </a:xfrm>
          <a:prstGeom prst="roundRect">
            <a:avLst/>
          </a:prstGeom>
          <a:noFill/>
          <a:ln w="19050">
            <a:solidFill>
              <a:srgbClr val="C77D0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9808" y="3621024"/>
            <a:ext cx="7315200" cy="292608"/>
          </a:xfrm>
          <a:prstGeom prst="rect">
            <a:avLst/>
          </a:prstGeom>
          <a:noFill/>
        </p:spPr>
        <p:txBody>
          <a:bodyPr wrap="none">
            <a:spAutoFit/>
          </a:bodyPr>
          <a:lstStyle/>
          <a:p>
            <a:r>
              <a:rPr sz="1250" b="1">
                <a:solidFill>
                  <a:srgbClr val="C77D0A"/>
                </a:solidFill>
                <a:latin typeface="맑은 고딕"/>
                <a:ea typeface="맑은 고딕"/>
                <a:cs typeface="맑은 고딕"/>
              </a:rPr>
              <a:t>2차 PASS — 정제 (자료 근거로 교정)</a:t>
            </a:r>
          </a:p>
        </p:txBody>
      </p:sp>
      <p:sp>
        <p:nvSpPr>
          <p:cNvPr id="69" name="Rounded Rectangle 68"/>
          <p:cNvSpPr/>
          <p:nvPr/>
        </p:nvSpPr>
        <p:spPr>
          <a:xfrm>
            <a:off x="822960" y="4023360"/>
            <a:ext cx="3063240" cy="658368"/>
          </a:xfrm>
          <a:prstGeom prst="roundRect">
            <a:avLst/>
          </a:prstGeom>
          <a:solidFill>
            <a:srgbClr val="FBF0E4"/>
          </a:solidFill>
          <a:ln w="12700">
            <a:solidFill>
              <a:srgbClr val="E8C89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300" b="1">
                <a:solidFill>
                  <a:srgbClr val="16203A"/>
                </a:solidFill>
                <a:latin typeface="맑은 고딕"/>
                <a:ea typeface="맑은 고딕"/>
                <a:cs typeface="맑은 고딕"/>
              </a:rPr>
              <a:t>강의 자료</a:t>
            </a:r>
          </a:p>
          <a:p>
            <a:pPr algn="ctr"/>
            <a:r>
              <a:rPr sz="1000">
                <a:solidFill>
                  <a:srgbClr val="5A6B8C"/>
                </a:solidFill>
                <a:latin typeface="맑은 고딕"/>
                <a:ea typeface="맑은 고딕"/>
                <a:cs typeface="맑은 고딕"/>
              </a:rPr>
              <a:t>임베딩 → 관련 검색</a:t>
            </a:r>
          </a:p>
        </p:txBody>
      </p:sp>
      <p:sp>
        <p:nvSpPr>
          <p:cNvPr id="70" name="Right Arrow 69"/>
          <p:cNvSpPr/>
          <p:nvPr/>
        </p:nvSpPr>
        <p:spPr>
          <a:xfrm>
            <a:off x="3931920" y="4215384"/>
            <a:ext cx="457200" cy="274320"/>
          </a:xfrm>
          <a:prstGeom prst="rightArrow">
            <a:avLst/>
          </a:prstGeom>
          <a:solidFill>
            <a:srgbClr val="AEB9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4434840" y="4023360"/>
            <a:ext cx="3063240" cy="658368"/>
          </a:xfrm>
          <a:prstGeom prst="roundRect">
            <a:avLst/>
          </a:prstGeom>
          <a:solidFill>
            <a:srgbClr val="E7E1F3"/>
          </a:solidFill>
          <a:ln w="12700">
            <a:solidFill>
              <a:srgbClr val="BFB2E0"/>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300" b="1">
                <a:solidFill>
                  <a:srgbClr val="16203A"/>
                </a:solidFill>
                <a:latin typeface="맑은 고딕"/>
                <a:ea typeface="맑은 고딕"/>
                <a:cs typeface="맑은 고딕"/>
              </a:rPr>
              <a:t>LLM 교정</a:t>
            </a:r>
          </a:p>
          <a:p>
            <a:pPr algn="ctr"/>
            <a:r>
              <a:rPr sz="1000">
                <a:solidFill>
                  <a:srgbClr val="5A6B8C"/>
                </a:solidFill>
                <a:latin typeface="맑은 고딕"/>
                <a:ea typeface="맑은 고딕"/>
                <a:cs typeface="맑은 고딕"/>
              </a:rPr>
              <a:t>자료 근거로 수정</a:t>
            </a:r>
          </a:p>
        </p:txBody>
      </p:sp>
      <p:sp>
        <p:nvSpPr>
          <p:cNvPr id="72" name="Right Arrow 71"/>
          <p:cNvSpPr/>
          <p:nvPr/>
        </p:nvSpPr>
        <p:spPr>
          <a:xfrm>
            <a:off x="7543800" y="4215384"/>
            <a:ext cx="457200" cy="274320"/>
          </a:xfrm>
          <a:prstGeom prst="rightArrow">
            <a:avLst/>
          </a:prstGeom>
          <a:solidFill>
            <a:srgbClr val="AEB9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046720" y="4023360"/>
            <a:ext cx="3063240" cy="658368"/>
          </a:xfrm>
          <a:prstGeom prst="roundRect">
            <a:avLst/>
          </a:prstGeom>
          <a:solidFill>
            <a:srgbClr val="DCEBE0"/>
          </a:solidFill>
          <a:ln w="12700">
            <a:solidFill>
              <a:srgbClr val="A9CDB0"/>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300" b="1">
                <a:solidFill>
                  <a:srgbClr val="16203A"/>
                </a:solidFill>
                <a:latin typeface="맑은 고딕"/>
                <a:ea typeface="맑은 고딕"/>
                <a:cs typeface="맑은 고딕"/>
              </a:rPr>
              <a:t>정제 전사문</a:t>
            </a:r>
          </a:p>
          <a:p>
            <a:pPr algn="ctr"/>
            <a:r>
              <a:rPr sz="1000">
                <a:solidFill>
                  <a:srgbClr val="5A6B8C"/>
                </a:solidFill>
                <a:latin typeface="맑은 고딕"/>
                <a:ea typeface="맑은 고딕"/>
                <a:cs typeface="맑은 고딕"/>
              </a:rPr>
              <a:t>교정 완료</a:t>
            </a:r>
          </a:p>
        </p:txBody>
      </p:sp>
      <p:sp>
        <p:nvSpPr>
          <p:cNvPr id="74" name="Rounded Rectangle 73"/>
          <p:cNvSpPr/>
          <p:nvPr/>
        </p:nvSpPr>
        <p:spPr>
          <a:xfrm>
            <a:off x="1234440" y="4892040"/>
            <a:ext cx="9692640" cy="1234440"/>
          </a:xfrm>
          <a:prstGeom prst="roundRect">
            <a:avLst/>
          </a:prstGeom>
          <a:solidFill>
            <a:srgbClr val="E7F1DE"/>
          </a:solidFill>
          <a:ln w="12700">
            <a:solidFill>
              <a:srgbClr val="B7D69A"/>
            </a:solidFill>
          </a:ln>
          <a:effectLst/>
        </p:spPr>
        <p:style>
          <a:lnRef idx="1">
            <a:schemeClr val="accent1"/>
          </a:lnRef>
          <a:fillRef idx="3">
            <a:schemeClr val="accent1"/>
          </a:fillRef>
          <a:effectRef idx="2">
            <a:schemeClr val="accent1"/>
          </a:effectRef>
          <a:fontRef idx="minor">
            <a:schemeClr val="lt1"/>
          </a:fontRef>
        </p:style>
        <p:txBody>
          <a:bodyPr rtlCol="0" anchor="ctr" wrap="square" tIns="50800" bIns="50800"/>
          <a:lstStyle/>
          <a:p>
            <a:pPr algn="ctr"/>
            <a:r>
              <a:rPr sz="1300" b="1">
                <a:solidFill>
                  <a:srgbClr val="3B6B2E"/>
                </a:solidFill>
                <a:latin typeface="맑은 고딕"/>
                <a:ea typeface="맑은 고딕"/>
                <a:cs typeface="맑은 고딕"/>
              </a:rPr>
              <a:t>결과: "추가경정예산안" (맞음)</a:t>
            </a:r>
          </a:p>
          <a:p>
            <a:pPr algn="ctr"/>
            <a:r>
              <a:rPr sz="1050">
                <a:solidFill>
                  <a:srgbClr val="4A5A3A"/>
                </a:solidFill>
                <a:latin typeface="맑은 고딕"/>
                <a:ea typeface="맑은 고딕"/>
                <a:cs typeface="맑은 고딕"/>
              </a:rPr>
              <a:t>스키마는 그대로 · text 값만 교체 (투명한 단계)</a:t>
            </a:r>
          </a:p>
          <a:p>
            <a:pPr algn="ctr"/>
            <a:r>
              <a:rPr sz="1050">
                <a:solidFill>
                  <a:srgbClr val="4A5A3A"/>
                </a:solidFill>
                <a:latin typeface="맑은 고딕"/>
                <a:ea typeface="맑은 고딕"/>
                <a:cs typeface="맑은 고딕"/>
              </a:rPr>
              <a:t>부분 수용: 교정 못 받은 건 원문 유지 (실패해도 손해 없음)</a:t>
            </a:r>
          </a:p>
          <a:p>
            <a:pPr algn="ctr"/>
            <a:r>
              <a:rPr sz="1050">
                <a:solidFill>
                  <a:srgbClr val="4A5A3A"/>
                </a:solidFill>
                <a:latin typeface="맑은 고딕"/>
                <a:ea typeface="맑은 고딕"/>
                <a:cs typeface="맑은 고딕"/>
              </a:rPr>
              <a:t>1차든 2차든 뒷 단계는 동일하게 처리</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03 · 구현 ② 지식 그래프</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000" b="1" dirty="0">
                <a:solidFill>
                  <a:srgbClr val="16203A"/>
                </a:solidFill>
                <a:latin typeface="Cambria" pitchFamily="34" charset="0"/>
                <a:ea typeface="Cambria" pitchFamily="34" charset="-122"/>
                <a:cs typeface="Cambria" pitchFamily="34" charset="-120"/>
              </a:rPr>
              <a:t>지식 그래프 — Graphiti로 개념을 추출한다</a:t>
            </a:r>
            <a:endParaRPr lang="en-US" sz="3000" dirty="0"/>
          </a:p>
        </p:txBody>
      </p:sp>
      <p:sp>
        <p:nvSpPr>
          <p:cNvPr id="5" name="Text 2"/>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5</a:t>
            </a:r>
            <a:endParaRPr lang="en-US" sz="1100" dirty="0"/>
          </a:p>
        </p:txBody>
      </p:sp>
      <p:sp>
        <p:nvSpPr>
          <p:cNvPr id="6" name="TextBox 5"/>
          <p:cNvSpPr txBox="1"/>
          <p:nvPr/>
        </p:nvSpPr>
        <p:spPr>
          <a:xfrm>
            <a:off x="3199851" y="1769559"/>
            <a:ext cx="5754624" cy="382682"/>
          </a:xfrm>
          <a:prstGeom prst="rect">
            <a:avLst/>
          </a:prstGeom>
          <a:noFill/>
        </p:spPr>
        <p:txBody>
          <a:bodyPr wrap="none" lIns="0" tIns="0" rIns="0" bIns="0" anchor="ctr">
            <a:spAutoFit/>
          </a:bodyPr>
          <a:lstStyle/>
          <a:p>
            <a:pPr algn="ctr"/>
            <a:r>
              <a:rPr sz="1590" b="1" i="0">
                <a:solidFill>
                  <a:srgbClr val="065A82"/>
                </a:solidFill>
                <a:latin typeface="맑은 고딕"/>
              </a:rPr>
              <a:t>Graphiti 지식 그래프 구조</a:t>
            </a:r>
          </a:p>
        </p:txBody>
      </p:sp>
      <p:sp>
        <p:nvSpPr>
          <p:cNvPr id="7" name="TextBox 6"/>
          <p:cNvSpPr txBox="1"/>
          <p:nvPr/>
        </p:nvSpPr>
        <p:spPr>
          <a:xfrm>
            <a:off x="3203448" y="2118073"/>
            <a:ext cx="5754624" cy="232342"/>
          </a:xfrm>
          <a:prstGeom prst="rect">
            <a:avLst/>
          </a:prstGeom>
          <a:noFill/>
        </p:spPr>
        <p:txBody>
          <a:bodyPr wrap="none" lIns="0" tIns="0" rIns="0" bIns="0" anchor="ctr">
            <a:spAutoFit/>
          </a:bodyPr>
          <a:lstStyle/>
          <a:p>
            <a:pPr algn="ctr"/>
            <a:r>
              <a:rPr sz="960" b="0" i="0">
                <a:solidFill>
                  <a:srgbClr val="5A6B8C"/>
                </a:solidFill>
                <a:latin typeface="맑은 고딕"/>
              </a:rPr>
              <a:t>LLM이 개념·관계를 의미적으로 추출 · bi-temporal 시간축 내장</a:t>
            </a:r>
          </a:p>
        </p:txBody>
      </p:sp>
      <p:sp>
        <p:nvSpPr>
          <p:cNvPr id="8" name="Rounded Rectangle 7"/>
          <p:cNvSpPr/>
          <p:nvPr/>
        </p:nvSpPr>
        <p:spPr>
          <a:xfrm>
            <a:off x="1563380" y="3726850"/>
            <a:ext cx="1625681" cy="834420"/>
          </a:xfrm>
          <a:prstGeom prst="roundRect">
            <a:avLst>
              <a:gd name="adj" fmla="val 8620"/>
            </a:avLst>
          </a:prstGeom>
          <a:solidFill>
            <a:srgbClr val="FFFFFF"/>
          </a:solidFill>
          <a:ln w="14386">
            <a:solidFill>
              <a:srgbClr val="1C7293"/>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9" name="TextBox 8"/>
          <p:cNvSpPr txBox="1"/>
          <p:nvPr/>
        </p:nvSpPr>
        <p:spPr>
          <a:xfrm>
            <a:off x="-497494" y="3852732"/>
            <a:ext cx="5754624" cy="273344"/>
          </a:xfrm>
          <a:prstGeom prst="rect">
            <a:avLst/>
          </a:prstGeom>
          <a:noFill/>
        </p:spPr>
        <p:txBody>
          <a:bodyPr wrap="none" lIns="0" tIns="0" rIns="0" bIns="0" anchor="ctr">
            <a:spAutoFit/>
          </a:bodyPr>
          <a:lstStyle/>
          <a:p>
            <a:pPr algn="ctr"/>
            <a:r>
              <a:rPr sz="1130" b="1" i="0">
                <a:solidFill>
                  <a:srgbClr val="16203A"/>
                </a:solidFill>
                <a:latin typeface="맑은 고딕"/>
              </a:rPr>
              <a:t>청크 텍스트</a:t>
            </a:r>
          </a:p>
        </p:txBody>
      </p:sp>
      <p:sp>
        <p:nvSpPr>
          <p:cNvPr id="10" name="TextBox 9"/>
          <p:cNvSpPr txBox="1"/>
          <p:nvPr/>
        </p:nvSpPr>
        <p:spPr>
          <a:xfrm>
            <a:off x="-501091" y="4131472"/>
            <a:ext cx="5754624" cy="205008"/>
          </a:xfrm>
          <a:prstGeom prst="rect">
            <a:avLst/>
          </a:prstGeom>
          <a:noFill/>
        </p:spPr>
        <p:txBody>
          <a:bodyPr wrap="none" lIns="0" tIns="0" rIns="0" bIns="0" anchor="ctr">
            <a:spAutoFit/>
          </a:bodyPr>
          <a:lstStyle/>
          <a:p>
            <a:pPr algn="ctr"/>
            <a:r>
              <a:rPr sz="850" b="0" i="0">
                <a:solidFill>
                  <a:srgbClr val="637392"/>
                </a:solidFill>
                <a:latin typeface="맑은 고딕"/>
              </a:rPr>
              <a:t>'화자: 발화' 평문</a:t>
            </a:r>
          </a:p>
        </p:txBody>
      </p:sp>
      <p:sp>
        <p:nvSpPr>
          <p:cNvPr id="11" name="TextBox 10"/>
          <p:cNvSpPr txBox="1"/>
          <p:nvPr/>
        </p:nvSpPr>
        <p:spPr>
          <a:xfrm>
            <a:off x="-508284" y="4304111"/>
            <a:ext cx="5754624" cy="205008"/>
          </a:xfrm>
          <a:prstGeom prst="rect">
            <a:avLst/>
          </a:prstGeom>
          <a:noFill/>
        </p:spPr>
        <p:txBody>
          <a:bodyPr wrap="none" lIns="0" tIns="0" rIns="0" bIns="0" anchor="ctr">
            <a:spAutoFit/>
          </a:bodyPr>
          <a:lstStyle/>
          <a:p>
            <a:pPr algn="ctr"/>
            <a:r>
              <a:rPr sz="850" b="0" i="0">
                <a:solidFill>
                  <a:srgbClr val="5C6D8D"/>
                </a:solidFill>
                <a:latin typeface="맑은 고딕"/>
              </a:rPr>
              <a:t>→ 에피소드로 투입</a:t>
            </a:r>
          </a:p>
        </p:txBody>
      </p:sp>
      <p:sp>
        <p:nvSpPr>
          <p:cNvPr id="12" name="Rounded Rectangle 11"/>
          <p:cNvSpPr/>
          <p:nvPr/>
        </p:nvSpPr>
        <p:spPr>
          <a:xfrm>
            <a:off x="3778910" y="3640531"/>
            <a:ext cx="1798320" cy="1007059"/>
          </a:xfrm>
          <a:prstGeom prst="roundRect">
            <a:avLst>
              <a:gd name="adj" fmla="val 8571"/>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3" name="TextBox 12"/>
          <p:cNvSpPr txBox="1"/>
          <p:nvPr/>
        </p:nvSpPr>
        <p:spPr>
          <a:xfrm>
            <a:off x="1800758" y="3754904"/>
            <a:ext cx="5754624" cy="246010"/>
          </a:xfrm>
          <a:prstGeom prst="rect">
            <a:avLst/>
          </a:prstGeom>
          <a:noFill/>
        </p:spPr>
        <p:txBody>
          <a:bodyPr wrap="none" lIns="0" tIns="0" rIns="0" bIns="0" anchor="ctr">
            <a:spAutoFit/>
          </a:bodyPr>
          <a:lstStyle/>
          <a:p>
            <a:pPr algn="ctr"/>
            <a:r>
              <a:rPr sz="1019" b="1" i="0">
                <a:solidFill>
                  <a:srgbClr val="FFFFFF"/>
                </a:solidFill>
                <a:latin typeface="맑은 고딕"/>
              </a:rPr>
              <a:t>LLM 추출</a:t>
            </a:r>
          </a:p>
        </p:txBody>
      </p:sp>
      <p:sp>
        <p:nvSpPr>
          <p:cNvPr id="14" name="TextBox 13"/>
          <p:cNvSpPr txBox="1"/>
          <p:nvPr/>
        </p:nvSpPr>
        <p:spPr>
          <a:xfrm>
            <a:off x="1800758" y="4023573"/>
            <a:ext cx="5754624" cy="205008"/>
          </a:xfrm>
          <a:prstGeom prst="rect">
            <a:avLst/>
          </a:prstGeom>
          <a:noFill/>
        </p:spPr>
        <p:txBody>
          <a:bodyPr wrap="none" lIns="0" tIns="0" rIns="0" bIns="0" anchor="ctr">
            <a:spAutoFit/>
          </a:bodyPr>
          <a:lstStyle/>
          <a:p>
            <a:pPr algn="ctr"/>
            <a:r>
              <a:rPr sz="850" b="0" i="0">
                <a:solidFill>
                  <a:srgbClr val="BBCDEF"/>
                </a:solidFill>
                <a:latin typeface="맑은 고딕"/>
              </a:rPr>
              <a:t>엔티티 타입 스키마</a:t>
            </a:r>
          </a:p>
        </p:txBody>
      </p:sp>
      <p:sp>
        <p:nvSpPr>
          <p:cNvPr id="15" name="TextBox 14"/>
          <p:cNvSpPr txBox="1"/>
          <p:nvPr/>
        </p:nvSpPr>
        <p:spPr>
          <a:xfrm>
            <a:off x="1797161" y="4199449"/>
            <a:ext cx="5754624" cy="191341"/>
          </a:xfrm>
          <a:prstGeom prst="rect">
            <a:avLst/>
          </a:prstGeom>
          <a:noFill/>
        </p:spPr>
        <p:txBody>
          <a:bodyPr wrap="none" lIns="0" tIns="0" rIns="0" bIns="0" anchor="ctr">
            <a:spAutoFit/>
          </a:bodyPr>
          <a:lstStyle/>
          <a:p>
            <a:pPr algn="ctr"/>
            <a:r>
              <a:rPr sz="790" b="0" i="0">
                <a:solidFill>
                  <a:srgbClr val="B3C4E7"/>
                </a:solidFill>
                <a:latin typeface="맑은 고딕"/>
              </a:rPr>
              <a:t>+ 한국어 추출 지시문</a:t>
            </a:r>
          </a:p>
        </p:txBody>
      </p:sp>
      <p:sp>
        <p:nvSpPr>
          <p:cNvPr id="16" name="TextBox 15"/>
          <p:cNvSpPr txBox="1"/>
          <p:nvPr/>
        </p:nvSpPr>
        <p:spPr>
          <a:xfrm>
            <a:off x="1804355" y="4368850"/>
            <a:ext cx="5754624" cy="205008"/>
          </a:xfrm>
          <a:prstGeom prst="rect">
            <a:avLst/>
          </a:prstGeom>
          <a:noFill/>
        </p:spPr>
        <p:txBody>
          <a:bodyPr wrap="none" lIns="0" tIns="0" rIns="0" bIns="0" anchor="ctr">
            <a:spAutoFit/>
          </a:bodyPr>
          <a:lstStyle/>
          <a:p>
            <a:pPr algn="ctr"/>
            <a:r>
              <a:rPr sz="850" b="0" i="0">
                <a:solidFill>
                  <a:srgbClr val="A8B8DD"/>
                </a:solidFill>
                <a:latin typeface="맑은 고딕"/>
              </a:rPr>
              <a:t>개념·관계 판단</a:t>
            </a:r>
          </a:p>
        </p:txBody>
      </p:sp>
      <p:sp>
        <p:nvSpPr>
          <p:cNvPr id="17" name="Rounded Rectangle 16"/>
          <p:cNvSpPr/>
          <p:nvPr/>
        </p:nvSpPr>
        <p:spPr>
          <a:xfrm>
            <a:off x="6159886" y="3072262"/>
            <a:ext cx="4445447" cy="2575194"/>
          </a:xfrm>
          <a:prstGeom prst="roundRect">
            <a:avLst>
              <a:gd name="adj" fmla="val 4469"/>
            </a:avLst>
          </a:prstGeom>
          <a:solidFill>
            <a:srgbClr val="FFFFFF"/>
          </a:solidFill>
          <a:ln w="14386">
            <a:solidFill>
              <a:srgbClr val="21295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8" name="TextBox 17"/>
          <p:cNvSpPr txBox="1"/>
          <p:nvPr/>
        </p:nvSpPr>
        <p:spPr>
          <a:xfrm>
            <a:off x="5508894" y="3175845"/>
            <a:ext cx="5754624" cy="246010"/>
          </a:xfrm>
          <a:prstGeom prst="rect">
            <a:avLst/>
          </a:prstGeom>
          <a:noFill/>
        </p:spPr>
        <p:txBody>
          <a:bodyPr wrap="none" lIns="0" tIns="0" rIns="0" bIns="0" anchor="ctr">
            <a:spAutoFit/>
          </a:bodyPr>
          <a:lstStyle/>
          <a:p>
            <a:pPr algn="ctr"/>
            <a:r>
              <a:rPr sz="1019" b="1" i="0">
                <a:solidFill>
                  <a:srgbClr val="16203A"/>
                </a:solidFill>
                <a:latin typeface="맑은 고딕"/>
              </a:rPr>
              <a:t>Neo4j 그래프로 저장</a:t>
            </a:r>
          </a:p>
        </p:txBody>
      </p:sp>
      <p:sp>
        <p:nvSpPr>
          <p:cNvPr id="19" name="Rounded Rectangle 18"/>
          <p:cNvSpPr/>
          <p:nvPr/>
        </p:nvSpPr>
        <p:spPr>
          <a:xfrm>
            <a:off x="7591348" y="3554211"/>
            <a:ext cx="1438656" cy="402823"/>
          </a:xfrm>
          <a:prstGeom prst="roundRect">
            <a:avLst>
              <a:gd name="adj" fmla="val 16071"/>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0" name="TextBox 19"/>
          <p:cNvSpPr txBox="1"/>
          <p:nvPr/>
        </p:nvSpPr>
        <p:spPr>
          <a:xfrm>
            <a:off x="5433364" y="3649882"/>
            <a:ext cx="5754624" cy="218675"/>
          </a:xfrm>
          <a:prstGeom prst="rect">
            <a:avLst/>
          </a:prstGeom>
          <a:noFill/>
        </p:spPr>
        <p:txBody>
          <a:bodyPr wrap="none" lIns="0" tIns="0" rIns="0" bIns="0" anchor="ctr">
            <a:spAutoFit/>
          </a:bodyPr>
          <a:lstStyle/>
          <a:p>
            <a:pPr algn="ctr"/>
            <a:r>
              <a:rPr sz="910" b="1" i="0">
                <a:solidFill>
                  <a:srgbClr val="FFFFFF"/>
                </a:solidFill>
                <a:latin typeface="맑은 고딕"/>
              </a:rPr>
              <a:t>Episodic</a:t>
            </a:r>
          </a:p>
        </p:txBody>
      </p:sp>
      <p:sp>
        <p:nvSpPr>
          <p:cNvPr id="21" name="TextBox 20"/>
          <p:cNvSpPr txBox="1"/>
          <p:nvPr/>
        </p:nvSpPr>
        <p:spPr>
          <a:xfrm>
            <a:off x="5429768" y="3994080"/>
            <a:ext cx="5754624" cy="177674"/>
          </a:xfrm>
          <a:prstGeom prst="rect">
            <a:avLst/>
          </a:prstGeom>
          <a:noFill/>
        </p:spPr>
        <p:txBody>
          <a:bodyPr wrap="none" lIns="0" tIns="0" rIns="0" bIns="0" anchor="ctr">
            <a:spAutoFit/>
          </a:bodyPr>
          <a:lstStyle/>
          <a:p>
            <a:pPr algn="ctr"/>
            <a:r>
              <a:rPr sz="740" b="0" i="0">
                <a:solidFill>
                  <a:srgbClr val="657594"/>
                </a:solidFill>
                <a:latin typeface="맑은 고딕"/>
              </a:rPr>
              <a:t>원본 조각 = 세션</a:t>
            </a:r>
          </a:p>
        </p:txBody>
      </p:sp>
      <p:cxnSp>
        <p:nvCxnSpPr>
          <p:cNvPr id="22" name="Connector 21"/>
          <p:cNvCxnSpPr/>
          <p:nvPr/>
        </p:nvCxnSpPr>
        <p:spPr>
          <a:xfrm>
            <a:off x="8310676" y="4187220"/>
            <a:ext cx="0" cy="230185"/>
          </a:xfrm>
          <a:prstGeom prst="line">
            <a:avLst/>
          </a:prstGeom>
          <a:ln w="21579">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36894" y="4231099"/>
            <a:ext cx="5754624" cy="164006"/>
          </a:xfrm>
          <a:prstGeom prst="rect">
            <a:avLst/>
          </a:prstGeom>
          <a:noFill/>
        </p:spPr>
        <p:txBody>
          <a:bodyPr wrap="none" lIns="0" tIns="0" rIns="0" bIns="0" anchor="ctr">
            <a:spAutoFit/>
          </a:bodyPr>
          <a:lstStyle/>
          <a:p>
            <a:pPr algn="ctr"/>
            <a:r>
              <a:rPr sz="680" b="0" i="0">
                <a:solidFill>
                  <a:srgbClr val="5A6B8C"/>
                </a:solidFill>
                <a:latin typeface="맑은 고딕"/>
              </a:rPr>
              <a:t>MENTIONS</a:t>
            </a:r>
          </a:p>
        </p:txBody>
      </p:sp>
      <p:sp>
        <p:nvSpPr>
          <p:cNvPr id="24" name="Rounded Rectangle 23"/>
          <p:cNvSpPr/>
          <p:nvPr/>
        </p:nvSpPr>
        <p:spPr>
          <a:xfrm>
            <a:off x="6800088" y="4460565"/>
            <a:ext cx="1078992" cy="374050"/>
          </a:xfrm>
          <a:prstGeom prst="roundRect">
            <a:avLst>
              <a:gd name="adj" fmla="val 17307"/>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5" name="TextBox 24"/>
          <p:cNvSpPr txBox="1"/>
          <p:nvPr/>
        </p:nvSpPr>
        <p:spPr>
          <a:xfrm>
            <a:off x="4465868" y="4552279"/>
            <a:ext cx="5754624" cy="205008"/>
          </a:xfrm>
          <a:prstGeom prst="rect">
            <a:avLst/>
          </a:prstGeom>
          <a:noFill/>
        </p:spPr>
        <p:txBody>
          <a:bodyPr wrap="none" lIns="0" tIns="0" rIns="0" bIns="0" anchor="ctr">
            <a:spAutoFit/>
          </a:bodyPr>
          <a:lstStyle/>
          <a:p>
            <a:pPr algn="ctr"/>
            <a:r>
              <a:rPr sz="850" b="1" i="0">
                <a:solidFill>
                  <a:srgbClr val="FFFFFF"/>
                </a:solidFill>
                <a:latin typeface="맑은 고딕"/>
              </a:rPr>
              <a:t>Entity</a:t>
            </a:r>
          </a:p>
        </p:txBody>
      </p:sp>
      <p:sp>
        <p:nvSpPr>
          <p:cNvPr id="26" name="Rounded Rectangle 25"/>
          <p:cNvSpPr/>
          <p:nvPr/>
        </p:nvSpPr>
        <p:spPr>
          <a:xfrm>
            <a:off x="8742273" y="4460565"/>
            <a:ext cx="1078992" cy="374050"/>
          </a:xfrm>
          <a:prstGeom prst="roundRect">
            <a:avLst>
              <a:gd name="adj" fmla="val 17307"/>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7" name="TextBox 26"/>
          <p:cNvSpPr txBox="1"/>
          <p:nvPr/>
        </p:nvSpPr>
        <p:spPr>
          <a:xfrm>
            <a:off x="6408054" y="4552279"/>
            <a:ext cx="5754624" cy="205008"/>
          </a:xfrm>
          <a:prstGeom prst="rect">
            <a:avLst/>
          </a:prstGeom>
          <a:noFill/>
        </p:spPr>
        <p:txBody>
          <a:bodyPr wrap="none" lIns="0" tIns="0" rIns="0" bIns="0" anchor="ctr">
            <a:spAutoFit/>
          </a:bodyPr>
          <a:lstStyle/>
          <a:p>
            <a:pPr algn="ctr"/>
            <a:r>
              <a:rPr sz="850" b="1" i="0">
                <a:solidFill>
                  <a:srgbClr val="FFFFFF"/>
                </a:solidFill>
                <a:latin typeface="맑은 고딕"/>
              </a:rPr>
              <a:t>Entity</a:t>
            </a:r>
          </a:p>
        </p:txBody>
      </p:sp>
      <p:sp>
        <p:nvSpPr>
          <p:cNvPr id="28" name="TextBox 27"/>
          <p:cNvSpPr txBox="1"/>
          <p:nvPr/>
        </p:nvSpPr>
        <p:spPr>
          <a:xfrm>
            <a:off x="5436961" y="4439704"/>
            <a:ext cx="5754624" cy="164006"/>
          </a:xfrm>
          <a:prstGeom prst="rect">
            <a:avLst/>
          </a:prstGeom>
          <a:noFill/>
        </p:spPr>
        <p:txBody>
          <a:bodyPr wrap="none" lIns="0" tIns="0" rIns="0" bIns="0" anchor="ctr">
            <a:spAutoFit/>
          </a:bodyPr>
          <a:lstStyle/>
          <a:p>
            <a:pPr algn="ctr"/>
            <a:r>
              <a:rPr sz="680" b="1" i="0">
                <a:solidFill>
                  <a:srgbClr val="1D7A36"/>
                </a:solidFill>
                <a:latin typeface="맑은 고딕"/>
              </a:rPr>
              <a:t>RELATES_TO</a:t>
            </a:r>
          </a:p>
        </p:txBody>
      </p:sp>
      <p:cxnSp>
        <p:nvCxnSpPr>
          <p:cNvPr id="29" name="Connector 28"/>
          <p:cNvCxnSpPr/>
          <p:nvPr/>
        </p:nvCxnSpPr>
        <p:spPr>
          <a:xfrm>
            <a:off x="7879080" y="4647590"/>
            <a:ext cx="863193" cy="0"/>
          </a:xfrm>
          <a:prstGeom prst="line">
            <a:avLst/>
          </a:prstGeom>
          <a:ln w="21579">
            <a:solidFill>
              <a:srgbClr val="1D7A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36961" y="5023079"/>
            <a:ext cx="5754624" cy="191341"/>
          </a:xfrm>
          <a:prstGeom prst="rect">
            <a:avLst/>
          </a:prstGeom>
          <a:noFill/>
        </p:spPr>
        <p:txBody>
          <a:bodyPr wrap="none" lIns="0" tIns="0" rIns="0" bIns="0" anchor="ctr">
            <a:spAutoFit/>
          </a:bodyPr>
          <a:lstStyle/>
          <a:p>
            <a:pPr algn="ctr"/>
            <a:r>
              <a:rPr sz="790" b="0" i="0">
                <a:solidFill>
                  <a:srgbClr val="667695"/>
                </a:solidFill>
                <a:latin typeface="맑은 고딕"/>
              </a:rPr>
              <a:t>개념(Entity)끼리 관계 = fact</a:t>
            </a:r>
          </a:p>
        </p:txBody>
      </p:sp>
      <p:sp>
        <p:nvSpPr>
          <p:cNvPr id="31" name="TextBox 30"/>
          <p:cNvSpPr txBox="1"/>
          <p:nvPr/>
        </p:nvSpPr>
        <p:spPr>
          <a:xfrm>
            <a:off x="5429768" y="5224491"/>
            <a:ext cx="5754624" cy="191341"/>
          </a:xfrm>
          <a:prstGeom prst="rect">
            <a:avLst/>
          </a:prstGeom>
          <a:noFill/>
        </p:spPr>
        <p:txBody>
          <a:bodyPr wrap="none" lIns="0" tIns="0" rIns="0" bIns="0" anchor="ctr">
            <a:spAutoFit/>
          </a:bodyPr>
          <a:lstStyle/>
          <a:p>
            <a:pPr algn="ctr"/>
            <a:r>
              <a:rPr sz="790" b="0" i="0">
                <a:solidFill>
                  <a:srgbClr val="657594"/>
                </a:solidFill>
                <a:latin typeface="맑은 고딕"/>
              </a:rPr>
              <a:t>"A는 B의 특수한 경우" 식 의미 관계</a:t>
            </a:r>
          </a:p>
        </p:txBody>
      </p:sp>
      <p:sp>
        <p:nvSpPr>
          <p:cNvPr id="32" name="Rounded Rectangle 31"/>
          <p:cNvSpPr/>
          <p:nvPr/>
        </p:nvSpPr>
        <p:spPr>
          <a:xfrm>
            <a:off x="2843784" y="6071859"/>
            <a:ext cx="6473952" cy="805647"/>
          </a:xfrm>
          <a:prstGeom prst="roundRect">
            <a:avLst>
              <a:gd name="adj" fmla="val 10714"/>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3" name="TextBox 32"/>
          <p:cNvSpPr txBox="1"/>
          <p:nvPr/>
        </p:nvSpPr>
        <p:spPr>
          <a:xfrm>
            <a:off x="3210641" y="6164653"/>
            <a:ext cx="5754624" cy="246010"/>
          </a:xfrm>
          <a:prstGeom prst="rect">
            <a:avLst/>
          </a:prstGeom>
          <a:noFill/>
        </p:spPr>
        <p:txBody>
          <a:bodyPr wrap="none" lIns="0" tIns="0" rIns="0" bIns="0" anchor="ctr">
            <a:spAutoFit/>
          </a:bodyPr>
          <a:lstStyle/>
          <a:p>
            <a:pPr algn="ctr"/>
            <a:r>
              <a:rPr sz="1019" b="1" i="0">
                <a:solidFill>
                  <a:srgbClr val="FFFFFF"/>
                </a:solidFill>
                <a:latin typeface="맑은 고딕"/>
              </a:rPr>
              <a:t>텍스트만 던지면 엔진이 개념·관계·시간축을 알아서 그래프로 만든다</a:t>
            </a:r>
          </a:p>
        </p:txBody>
      </p:sp>
      <p:sp>
        <p:nvSpPr>
          <p:cNvPr id="34" name="TextBox 33"/>
          <p:cNvSpPr txBox="1"/>
          <p:nvPr/>
        </p:nvSpPr>
        <p:spPr>
          <a:xfrm>
            <a:off x="3199851" y="6418575"/>
            <a:ext cx="5754624" cy="191341"/>
          </a:xfrm>
          <a:prstGeom prst="rect">
            <a:avLst/>
          </a:prstGeom>
          <a:noFill/>
        </p:spPr>
        <p:txBody>
          <a:bodyPr wrap="none" lIns="0" tIns="0" rIns="0" bIns="0" anchor="ctr">
            <a:spAutoFit/>
          </a:bodyPr>
          <a:lstStyle/>
          <a:p>
            <a:pPr algn="ctr"/>
            <a:r>
              <a:rPr sz="790" b="0" i="0">
                <a:solidFill>
                  <a:srgbClr val="BDCFF0"/>
                </a:solidFill>
                <a:latin typeface="맑은 고딕"/>
              </a:rPr>
              <a:t>엔티티 타입(AcademicConcept·Method·Condition·Formula)으로 "무엇을 개념으로 볼지" 지정</a:t>
            </a:r>
          </a:p>
        </p:txBody>
      </p:sp>
      <p:sp>
        <p:nvSpPr>
          <p:cNvPr id="35" name="TextBox 34"/>
          <p:cNvSpPr txBox="1"/>
          <p:nvPr/>
        </p:nvSpPr>
        <p:spPr>
          <a:xfrm>
            <a:off x="3199851" y="6605601"/>
            <a:ext cx="5754624" cy="191341"/>
          </a:xfrm>
          <a:prstGeom prst="rect">
            <a:avLst/>
          </a:prstGeom>
          <a:noFill/>
        </p:spPr>
        <p:txBody>
          <a:bodyPr wrap="none" lIns="0" tIns="0" rIns="0" bIns="0" anchor="ctr">
            <a:spAutoFit/>
          </a:bodyPr>
          <a:lstStyle/>
          <a:p>
            <a:pPr algn="ctr"/>
            <a:r>
              <a:rPr sz="790" b="0" i="0">
                <a:solidFill>
                  <a:srgbClr val="BECFF1"/>
                </a:solidFill>
                <a:latin typeface="맑은 고딕"/>
              </a:rPr>
              <a:t>프론트에는 session·concept 노드 계약으로 나가 그래프 뷰가 그대로 렌더링</a:t>
            </a:r>
          </a:p>
        </p:txBody>
      </p:sp>
      <p:cxnSp>
        <p:nvCxnSpPr>
          <p:cNvPr id="36" name="Connector 35"/>
          <p:cNvCxnSpPr/>
          <p:nvPr/>
        </p:nvCxnSpPr>
        <p:spPr>
          <a:xfrm>
            <a:off x="3217834" y="4144060"/>
            <a:ext cx="532303" cy="0"/>
          </a:xfrm>
          <a:prstGeom prst="line">
            <a:avLst/>
          </a:prstGeom>
          <a:ln w="21579">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591616" y="4144060"/>
            <a:ext cx="532303" cy="0"/>
          </a:xfrm>
          <a:prstGeom prst="line">
            <a:avLst/>
          </a:prstGeom>
          <a:ln w="21579">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03 · 구현 ② 지식 그래프</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Graphiti가 주는 네 가지 — RAG의 토대</a:t>
            </a:r>
            <a:endParaRPr lang="en-US" sz="3200" dirty="0"/>
          </a:p>
        </p:txBody>
      </p:sp>
      <p:sp>
        <p:nvSpPr>
          <p:cNvPr id="4" name="Shape 2"/>
          <p:cNvSpPr/>
          <p:nvPr/>
        </p:nvSpPr>
        <p:spPr>
          <a:xfrm>
            <a:off x="548640" y="1783080"/>
            <a:ext cx="5349240" cy="1737360"/>
          </a:xfrm>
          <a:prstGeom prst="roundRect">
            <a:avLst>
              <a:gd name="adj" fmla="val 5263"/>
            </a:avLst>
          </a:prstGeom>
          <a:solidFill>
            <a:srgbClr val="FFFFFF"/>
          </a:solidFill>
          <a:ln w="12700">
            <a:solidFill>
              <a:srgbClr val="D4DEEC"/>
            </a:solidFill>
            <a:prstDash val="solid"/>
          </a:ln>
          <a:effectLst>
            <a:outerShdw blurRad="63500" dist="25400" dir="5400000" algn="bl" rotWithShape="0">
              <a:srgbClr val="C4D0E4">
                <a:alpha val="40000"/>
              </a:srgbClr>
            </a:outerShdw>
          </a:effectLst>
        </p:spPr>
      </p:sp>
      <p:sp>
        <p:nvSpPr>
          <p:cNvPr id="5" name="Shape 3"/>
          <p:cNvSpPr/>
          <p:nvPr/>
        </p:nvSpPr>
        <p:spPr>
          <a:xfrm>
            <a:off x="822960" y="2075688"/>
            <a:ext cx="457200" cy="457200"/>
          </a:xfrm>
          <a:prstGeom prst="ellipse">
            <a:avLst/>
          </a:prstGeom>
          <a:solidFill>
            <a:srgbClr val="1E2761"/>
          </a:solidFill>
          <a:ln/>
        </p:spPr>
      </p:sp>
      <p:sp>
        <p:nvSpPr>
          <p:cNvPr id="6" name="Text 4"/>
          <p:cNvSpPr/>
          <p:nvPr/>
        </p:nvSpPr>
        <p:spPr>
          <a:xfrm>
            <a:off x="822960" y="207568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463040" y="2057400"/>
            <a:ext cx="4206240" cy="457200"/>
          </a:xfrm>
          <a:prstGeom prst="rect">
            <a:avLst/>
          </a:prstGeom>
          <a:noFill/>
          <a:ln/>
        </p:spPr>
        <p:txBody>
          <a:bodyPr wrap="square" lIns="0" tIns="0" rIns="0" bIns="0" rtlCol="0" anchor="ctr"/>
          <a:lstStyle/>
          <a:p>
            <a:pPr marL="0" indent="0">
              <a:buNone/>
            </a:pPr>
            <a:r>
              <a:rPr lang="en-US" sz="1800" b="1" dirty="0">
                <a:solidFill>
                  <a:srgbClr val="16203A"/>
                </a:solidFill>
                <a:latin typeface="Cambria" pitchFamily="34" charset="0"/>
                <a:ea typeface="Cambria" pitchFamily="34" charset="-122"/>
                <a:cs typeface="Cambria" pitchFamily="34" charset="-120"/>
              </a:rPr>
              <a:t>의미적 관계 추출</a:t>
            </a:r>
            <a:endParaRPr lang="en-US" sz="1800" dirty="0"/>
          </a:p>
        </p:txBody>
      </p:sp>
      <p:sp>
        <p:nvSpPr>
          <p:cNvPr id="8" name="Text 6"/>
          <p:cNvSpPr/>
          <p:nvPr/>
        </p:nvSpPr>
        <p:spPr>
          <a:xfrm>
            <a:off x="1463040" y="2532888"/>
            <a:ext cx="4251960" cy="868680"/>
          </a:xfrm>
          <a:prstGeom prst="rect">
            <a:avLst/>
          </a:prstGeom>
          <a:noFill/>
          <a:ln/>
        </p:spPr>
        <p:txBody>
          <a:bodyPr wrap="square" lIns="0" tIns="0" rIns="0" bIns="0" rtlCol="0" anchor="t"/>
          <a:lstStyle/>
          <a:p>
            <a:pPr marL="0" indent="0" algn="l">
              <a:lnSpc>
                <a:spcPct val="105000"/>
              </a:lnSpc>
              <a:buNone/>
            </a:pPr>
            <a:r>
              <a:rPr lang="en-US" sz="1350" dirty="0">
                <a:solidFill>
                  <a:srgbClr val="5A6B8C"/>
                </a:solidFill>
                <a:latin typeface="Calibri" pitchFamily="34" charset="0"/>
                <a:ea typeface="Calibri" pitchFamily="34" charset="-122"/>
                <a:cs typeface="Calibri" pitchFamily="34" charset="-120"/>
              </a:rPr>
              <a:t>LLM이 청크를 읽고 개념 사이 관계를 판단 — 단순 동시 등장이 아니라 "A는 B의 특수한 경우" 같은 의미 관계</a:t>
            </a:r>
            <a:endParaRPr lang="en-US" sz="1350" dirty="0"/>
          </a:p>
        </p:txBody>
      </p:sp>
      <p:sp>
        <p:nvSpPr>
          <p:cNvPr id="9" name="Shape 7"/>
          <p:cNvSpPr/>
          <p:nvPr/>
        </p:nvSpPr>
        <p:spPr>
          <a:xfrm>
            <a:off x="6172200" y="1783080"/>
            <a:ext cx="5349240" cy="1737360"/>
          </a:xfrm>
          <a:prstGeom prst="roundRect">
            <a:avLst>
              <a:gd name="adj" fmla="val 5263"/>
            </a:avLst>
          </a:prstGeom>
          <a:solidFill>
            <a:srgbClr val="FFFFFF"/>
          </a:solidFill>
          <a:ln w="12700">
            <a:solidFill>
              <a:srgbClr val="D4DEEC"/>
            </a:solidFill>
            <a:prstDash val="solid"/>
          </a:ln>
          <a:effectLst>
            <a:outerShdw blurRad="63500" dist="25400" dir="5400000" algn="bl" rotWithShape="0">
              <a:srgbClr val="C4D0E4">
                <a:alpha val="40000"/>
              </a:srgbClr>
            </a:outerShdw>
          </a:effectLst>
        </p:spPr>
      </p:sp>
      <p:sp>
        <p:nvSpPr>
          <p:cNvPr id="10" name="Shape 8"/>
          <p:cNvSpPr/>
          <p:nvPr/>
        </p:nvSpPr>
        <p:spPr>
          <a:xfrm>
            <a:off x="6446520" y="2075688"/>
            <a:ext cx="457200" cy="457200"/>
          </a:xfrm>
          <a:prstGeom prst="ellipse">
            <a:avLst/>
          </a:prstGeom>
          <a:solidFill>
            <a:srgbClr val="065A82"/>
          </a:solidFill>
          <a:ln/>
        </p:spPr>
      </p:sp>
      <p:sp>
        <p:nvSpPr>
          <p:cNvPr id="11" name="Text 9"/>
          <p:cNvSpPr/>
          <p:nvPr/>
        </p:nvSpPr>
        <p:spPr>
          <a:xfrm>
            <a:off x="6446520" y="207568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7086600" y="2057400"/>
            <a:ext cx="4206240" cy="457200"/>
          </a:xfrm>
          <a:prstGeom prst="rect">
            <a:avLst/>
          </a:prstGeom>
          <a:noFill/>
          <a:ln/>
        </p:spPr>
        <p:txBody>
          <a:bodyPr wrap="square" lIns="0" tIns="0" rIns="0" bIns="0" rtlCol="0" anchor="ctr"/>
          <a:lstStyle/>
          <a:p>
            <a:pPr marL="0" indent="0">
              <a:buNone/>
            </a:pPr>
            <a:r>
              <a:rPr lang="en-US" sz="1800" b="1" dirty="0">
                <a:solidFill>
                  <a:srgbClr val="16203A"/>
                </a:solidFill>
                <a:latin typeface="Cambria" pitchFamily="34" charset="0"/>
                <a:ea typeface="Cambria" pitchFamily="34" charset="-122"/>
                <a:cs typeface="Cambria" pitchFamily="34" charset="-120"/>
              </a:rPr>
              <a:t>fact가 검색 단위</a:t>
            </a:r>
            <a:endParaRPr lang="en-US" sz="1800" dirty="0"/>
          </a:p>
        </p:txBody>
      </p:sp>
      <p:sp>
        <p:nvSpPr>
          <p:cNvPr id="13" name="Text 11"/>
          <p:cNvSpPr/>
          <p:nvPr/>
        </p:nvSpPr>
        <p:spPr>
          <a:xfrm>
            <a:off x="7086600" y="2532888"/>
            <a:ext cx="4251960" cy="868680"/>
          </a:xfrm>
          <a:prstGeom prst="rect">
            <a:avLst/>
          </a:prstGeom>
          <a:noFill/>
          <a:ln/>
        </p:spPr>
        <p:txBody>
          <a:bodyPr wrap="square" lIns="0" tIns="0" rIns="0" bIns="0" rtlCol="0" anchor="t"/>
          <a:lstStyle/>
          <a:p>
            <a:pPr marL="0" indent="0" algn="l">
              <a:lnSpc>
                <a:spcPct val="105000"/>
              </a:lnSpc>
              <a:buNone/>
            </a:pPr>
            <a:r>
              <a:rPr lang="en-US" sz="1350" dirty="0">
                <a:solidFill>
                  <a:srgbClr val="5A6B8C"/>
                </a:solidFill>
                <a:latin typeface="Calibri" pitchFamily="34" charset="0"/>
                <a:ea typeface="Calibri" pitchFamily="34" charset="-122"/>
                <a:cs typeface="Calibri" pitchFamily="34" charset="-120"/>
              </a:rPr>
              <a:t>개념 노드가 아니라 관계 fact를 검색 — "왜·어떻게" 질문에 바로 답할 수 있는 근거를 회수</a:t>
            </a:r>
            <a:endParaRPr lang="en-US" sz="1350" dirty="0"/>
          </a:p>
        </p:txBody>
      </p:sp>
      <p:sp>
        <p:nvSpPr>
          <p:cNvPr id="14" name="Shape 12"/>
          <p:cNvSpPr/>
          <p:nvPr/>
        </p:nvSpPr>
        <p:spPr>
          <a:xfrm>
            <a:off x="548640" y="3703320"/>
            <a:ext cx="5349240" cy="1737360"/>
          </a:xfrm>
          <a:prstGeom prst="roundRect">
            <a:avLst>
              <a:gd name="adj" fmla="val 5263"/>
            </a:avLst>
          </a:prstGeom>
          <a:solidFill>
            <a:srgbClr val="FFFFFF"/>
          </a:solidFill>
          <a:ln w="12700">
            <a:solidFill>
              <a:srgbClr val="D4DEEC"/>
            </a:solidFill>
            <a:prstDash val="solid"/>
          </a:ln>
          <a:effectLst>
            <a:outerShdw blurRad="63500" dist="25400" dir="5400000" algn="bl" rotWithShape="0">
              <a:srgbClr val="C4D0E4">
                <a:alpha val="40000"/>
              </a:srgbClr>
            </a:outerShdw>
          </a:effectLst>
        </p:spPr>
      </p:sp>
      <p:sp>
        <p:nvSpPr>
          <p:cNvPr id="15" name="Shape 13"/>
          <p:cNvSpPr/>
          <p:nvPr/>
        </p:nvSpPr>
        <p:spPr>
          <a:xfrm>
            <a:off x="822960" y="3995928"/>
            <a:ext cx="457200" cy="457200"/>
          </a:xfrm>
          <a:prstGeom prst="ellipse">
            <a:avLst/>
          </a:prstGeom>
          <a:solidFill>
            <a:srgbClr val="1C7293"/>
          </a:solidFill>
          <a:ln/>
        </p:spPr>
      </p:sp>
      <p:sp>
        <p:nvSpPr>
          <p:cNvPr id="16" name="Text 14"/>
          <p:cNvSpPr/>
          <p:nvPr/>
        </p:nvSpPr>
        <p:spPr>
          <a:xfrm>
            <a:off x="822960" y="399592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463040" y="3977640"/>
            <a:ext cx="4206240" cy="457200"/>
          </a:xfrm>
          <a:prstGeom prst="rect">
            <a:avLst/>
          </a:prstGeom>
          <a:noFill/>
          <a:ln/>
        </p:spPr>
        <p:txBody>
          <a:bodyPr wrap="square" lIns="0" tIns="0" rIns="0" bIns="0" rtlCol="0" anchor="ctr"/>
          <a:lstStyle/>
          <a:p>
            <a:pPr marL="0" indent="0">
              <a:buNone/>
            </a:pPr>
            <a:r>
              <a:rPr lang="en-US" sz="1800" b="1" dirty="0">
                <a:solidFill>
                  <a:srgbClr val="16203A"/>
                </a:solidFill>
                <a:latin typeface="Cambria" pitchFamily="34" charset="0"/>
                <a:ea typeface="Cambria" pitchFamily="34" charset="-122"/>
                <a:cs typeface="Cambria" pitchFamily="34" charset="-120"/>
              </a:rPr>
              <a:t>bi-temporal 시간축</a:t>
            </a:r>
            <a:endParaRPr lang="en-US" sz="1800" dirty="0"/>
          </a:p>
        </p:txBody>
      </p:sp>
      <p:sp>
        <p:nvSpPr>
          <p:cNvPr id="18" name="Text 16"/>
          <p:cNvSpPr/>
          <p:nvPr/>
        </p:nvSpPr>
        <p:spPr>
          <a:xfrm>
            <a:off x="1463040" y="4453128"/>
            <a:ext cx="4251960" cy="868680"/>
          </a:xfrm>
          <a:prstGeom prst="rect">
            <a:avLst/>
          </a:prstGeom>
          <a:noFill/>
          <a:ln/>
        </p:spPr>
        <p:txBody>
          <a:bodyPr wrap="square" lIns="0" tIns="0" rIns="0" bIns="0" rtlCol="0" anchor="t"/>
          <a:lstStyle/>
          <a:p>
            <a:pPr marL="0" indent="0" algn="l">
              <a:lnSpc>
                <a:spcPct val="105000"/>
              </a:lnSpc>
              <a:buNone/>
            </a:pPr>
            <a:r>
              <a:rPr lang="en-US" sz="1350" dirty="0">
                <a:solidFill>
                  <a:srgbClr val="5A6B8C"/>
                </a:solidFill>
                <a:latin typeface="Calibri" pitchFamily="34" charset="0"/>
                <a:ea typeface="Calibri" pitchFamily="34" charset="-122"/>
                <a:cs typeface="Calibri" pitchFamily="34" charset="-120"/>
              </a:rPr>
              <a:t>이벤트 시점과 기록 시점을 함께 보존 — 나중에 값이 바뀌어도 과거 상태를 정확히 되짚음</a:t>
            </a:r>
            <a:endParaRPr lang="en-US" sz="1350" dirty="0"/>
          </a:p>
        </p:txBody>
      </p:sp>
      <p:sp>
        <p:nvSpPr>
          <p:cNvPr id="19" name="Shape 17"/>
          <p:cNvSpPr/>
          <p:nvPr/>
        </p:nvSpPr>
        <p:spPr>
          <a:xfrm>
            <a:off x="6172200" y="3703320"/>
            <a:ext cx="5349240" cy="1737360"/>
          </a:xfrm>
          <a:prstGeom prst="roundRect">
            <a:avLst>
              <a:gd name="adj" fmla="val 5263"/>
            </a:avLst>
          </a:prstGeom>
          <a:solidFill>
            <a:srgbClr val="FFFFFF"/>
          </a:solidFill>
          <a:ln w="12700">
            <a:solidFill>
              <a:srgbClr val="D4DEEC"/>
            </a:solidFill>
            <a:prstDash val="solid"/>
          </a:ln>
          <a:effectLst>
            <a:outerShdw blurRad="63500" dist="25400" dir="5400000" algn="bl" rotWithShape="0">
              <a:srgbClr val="C4D0E4">
                <a:alpha val="40000"/>
              </a:srgbClr>
            </a:outerShdw>
          </a:effectLst>
        </p:spPr>
      </p:sp>
      <p:sp>
        <p:nvSpPr>
          <p:cNvPr id="20" name="Shape 18"/>
          <p:cNvSpPr/>
          <p:nvPr/>
        </p:nvSpPr>
        <p:spPr>
          <a:xfrm>
            <a:off x="6446520" y="3995928"/>
            <a:ext cx="457200" cy="457200"/>
          </a:xfrm>
          <a:prstGeom prst="ellipse">
            <a:avLst/>
          </a:prstGeom>
          <a:solidFill>
            <a:srgbClr val="21295C"/>
          </a:solidFill>
          <a:ln/>
        </p:spPr>
      </p:sp>
      <p:sp>
        <p:nvSpPr>
          <p:cNvPr id="21" name="Text 19"/>
          <p:cNvSpPr/>
          <p:nvPr/>
        </p:nvSpPr>
        <p:spPr>
          <a:xfrm>
            <a:off x="6446520" y="3995928"/>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2" name="Text 20"/>
          <p:cNvSpPr/>
          <p:nvPr/>
        </p:nvSpPr>
        <p:spPr>
          <a:xfrm>
            <a:off x="7086600" y="3977640"/>
            <a:ext cx="4206240" cy="457200"/>
          </a:xfrm>
          <a:prstGeom prst="rect">
            <a:avLst/>
          </a:prstGeom>
          <a:noFill/>
          <a:ln/>
        </p:spPr>
        <p:txBody>
          <a:bodyPr wrap="square" lIns="0" tIns="0" rIns="0" bIns="0" rtlCol="0" anchor="ctr"/>
          <a:lstStyle/>
          <a:p>
            <a:pPr marL="0" indent="0">
              <a:buNone/>
            </a:pPr>
            <a:r>
              <a:rPr lang="en-US" sz="1800" b="1" dirty="0">
                <a:solidFill>
                  <a:srgbClr val="16203A"/>
                </a:solidFill>
                <a:latin typeface="Cambria" pitchFamily="34" charset="0"/>
                <a:ea typeface="Cambria" pitchFamily="34" charset="-122"/>
                <a:cs typeface="Cambria" pitchFamily="34" charset="-120"/>
              </a:rPr>
              <a:t>출처 추적 내장</a:t>
            </a:r>
            <a:endParaRPr lang="en-US" sz="1800" dirty="0"/>
          </a:p>
        </p:txBody>
      </p:sp>
      <p:sp>
        <p:nvSpPr>
          <p:cNvPr id="23" name="Text 21"/>
          <p:cNvSpPr/>
          <p:nvPr/>
        </p:nvSpPr>
        <p:spPr>
          <a:xfrm>
            <a:off x="7086600" y="4453128"/>
            <a:ext cx="4251960" cy="868680"/>
          </a:xfrm>
          <a:prstGeom prst="rect">
            <a:avLst/>
          </a:prstGeom>
          <a:noFill/>
          <a:ln/>
        </p:spPr>
        <p:txBody>
          <a:bodyPr wrap="square" lIns="0" tIns="0" rIns="0" bIns="0" rtlCol="0" anchor="t"/>
          <a:lstStyle/>
          <a:p>
            <a:pPr marL="0" indent="0" algn="l">
              <a:lnSpc>
                <a:spcPct val="105000"/>
              </a:lnSpc>
              <a:buNone/>
            </a:pPr>
            <a:r>
              <a:rPr lang="en-US" sz="1350" dirty="0">
                <a:solidFill>
                  <a:srgbClr val="5A6B8C"/>
                </a:solidFill>
                <a:latin typeface="Calibri" pitchFamily="34" charset="0"/>
                <a:ea typeface="Calibri" pitchFamily="34" charset="-122"/>
                <a:cs typeface="Calibri" pitchFamily="34" charset="-120"/>
              </a:rPr>
              <a:t>fact마다 어느 강의·자료(에피소드)에서 나왔는지 부착 — 답변의 인용을 실제 출처로 매핑</a:t>
            </a:r>
            <a:endParaRPr lang="en-US" sz="1350" dirty="0"/>
          </a:p>
        </p:txBody>
      </p:sp>
      <p:sp>
        <p:nvSpPr>
          <p:cNvPr id="24" name="Shape 22"/>
          <p:cNvSpPr/>
          <p:nvPr/>
        </p:nvSpPr>
        <p:spPr>
          <a:xfrm>
            <a:off x="548640" y="5715000"/>
            <a:ext cx="11064240" cy="777240"/>
          </a:xfrm>
          <a:prstGeom prst="roundRect">
            <a:avLst>
              <a:gd name="adj" fmla="val 9412"/>
            </a:avLst>
          </a:prstGeom>
          <a:solidFill>
            <a:srgbClr val="EAF1F9"/>
          </a:solidFill>
          <a:ln w="12700">
            <a:solidFill>
              <a:srgbClr val="065A82"/>
            </a:solidFill>
            <a:prstDash val="solid"/>
          </a:ln>
        </p:spPr>
      </p:sp>
      <p:sp>
        <p:nvSpPr>
          <p:cNvPr id="25" name="Text 23"/>
          <p:cNvSpPr/>
          <p:nvPr/>
        </p:nvSpPr>
        <p:spPr>
          <a:xfrm>
            <a:off x="777240" y="5779008"/>
            <a:ext cx="10607040" cy="640080"/>
          </a:xfrm>
          <a:prstGeom prst="rect">
            <a:avLst/>
          </a:prstGeom>
          <a:noFill/>
          <a:ln/>
        </p:spPr>
        <p:txBody>
          <a:bodyPr wrap="square" lIns="0" tIns="0" rIns="0" bIns="0" rtlCol="0" anchor="ctr"/>
          <a:lstStyle/>
          <a:p>
            <a:pPr marL="0" indent="0" algn="l">
              <a:lnSpc>
                <a:spcPct val="102000"/>
              </a:lnSpc>
              <a:buNone/>
            </a:pPr>
            <a:r>
              <a:rPr lang="en-US" sz="1400" b="1" dirty="0">
                <a:solidFill>
                  <a:srgbClr val="065A82"/>
                </a:solidFill>
                <a:latin typeface="Calibri" pitchFamily="34" charset="0"/>
                <a:ea typeface="Calibri" pitchFamily="34" charset="-122"/>
                <a:cs typeface="Calibri" pitchFamily="34" charset="-120"/>
              </a:rPr>
              <a:t>무엇을 개념으로 볼지 통제  </a:t>
            </a:r>
            <a:r>
              <a:rPr lang="en-US" sz="1300" dirty="0">
                <a:solidFill>
                  <a:srgbClr val="16203A"/>
                </a:solidFill>
                <a:latin typeface="Calibri" pitchFamily="34" charset="0"/>
                <a:ea typeface="Calibri" pitchFamily="34" charset="-122"/>
                <a:cs typeface="Calibri" pitchFamily="34" charset="-120"/>
              </a:rPr>
              <a:t>엔티티 타입(AcademicConcept · Method · Condition · Formula) + 한국어 추출 지시문으로 전공 용어만 개념으로 인정하고 화자명·문서 제목은 제외</a:t>
            </a:r>
            <a:endParaRPr lang="en-US" sz="1400" dirty="0"/>
          </a:p>
        </p:txBody>
      </p:sp>
      <p:sp>
        <p:nvSpPr>
          <p:cNvPr id="26" name="Text 24"/>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6</a:t>
            </a:r>
            <a:endParaRPr lang="en-US" sz="1100" dirty="0"/>
          </a:p>
        </p:txBody>
      </p:sp>
      <p:sp>
        <p:nvSpPr>
          <p:cNvPr id="27" name="EmphasisBadge"/>
          <p:cNvSpPr/>
          <p:nvPr/>
        </p:nvSpPr>
        <p:spPr>
          <a:xfrm>
            <a:off x="7918704" y="353568"/>
            <a:ext cx="3444240" cy="377952"/>
          </a:xfrm>
          <a:prstGeom prst="roundRect">
            <a:avLst>
              <a:gd name="adj" fmla="val 50000"/>
            </a:avLst>
          </a:prstGeom>
          <a:solidFill>
            <a:srgbClr val="EAF1F9"/>
          </a:solidFill>
          <a:ln w="9144">
            <a:solidFill>
              <a:srgbClr val="065A8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065A82"/>
                </a:solidFill>
                <a:latin typeface="맑은 고딕"/>
              </a:rPr>
              <a:t>구현 차별점 ② · </a:t>
            </a:r>
            <a:r>
              <a:rPr sz="1100" b="0">
                <a:solidFill>
                  <a:srgbClr val="1C3F55"/>
                </a:solidFill>
                <a:latin typeface="맑은 고딕"/>
              </a:rPr>
              <a:t>temporal 정보를 참조할 수 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03 · 구현 ③ 챗봇</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RAG 챗봇 — 근거에서 답변까지</a:t>
            </a:r>
            <a:endParaRPr lang="en-US" sz="3200" dirty="0"/>
          </a:p>
        </p:txBody>
      </p:sp>
      <p:sp>
        <p:nvSpPr>
          <p:cNvPr id="5" name="Shape 2"/>
          <p:cNvSpPr/>
          <p:nvPr/>
        </p:nvSpPr>
        <p:spPr>
          <a:xfrm>
            <a:off x="548640" y="5257800"/>
            <a:ext cx="11064240" cy="1234440"/>
          </a:xfrm>
          <a:prstGeom prst="roundRect">
            <a:avLst>
              <a:gd name="adj" fmla="val 7407"/>
            </a:avLst>
          </a:prstGeom>
          <a:solidFill>
            <a:srgbClr val="1E2761"/>
          </a:solidFill>
          <a:ln/>
        </p:spPr>
      </p:sp>
      <p:sp>
        <p:nvSpPr>
          <p:cNvPr id="6" name="Text 3"/>
          <p:cNvSpPr/>
          <p:nvPr/>
        </p:nvSpPr>
        <p:spPr>
          <a:xfrm>
            <a:off x="822960" y="5394960"/>
            <a:ext cx="3657600" cy="320040"/>
          </a:xfrm>
          <a:prstGeom prst="rect">
            <a:avLst/>
          </a:prstGeom>
          <a:noFill/>
          <a:ln/>
        </p:spPr>
        <p:txBody>
          <a:bodyPr wrap="square" lIns="0" tIns="0" rIns="0" bIns="0" rtlCol="0" anchor="ctr"/>
          <a:lstStyle/>
          <a:p>
            <a:pPr marL="0" indent="0">
              <a:buNone/>
            </a:pPr>
            <a:r>
              <a:rPr lang="en-US" sz="1400" b="1" kern="0" spc="100" dirty="0">
                <a:solidFill>
                  <a:srgbClr val="CADCFC"/>
                </a:solidFill>
                <a:latin typeface="Calibri" pitchFamily="34" charset="0"/>
                <a:ea typeface="Calibri" pitchFamily="34" charset="-122"/>
                <a:cs typeface="Calibri" pitchFamily="34" charset="-120"/>
              </a:rPr>
              <a:t>왜 이 구조인가</a:t>
            </a:r>
            <a:endParaRPr lang="en-US" sz="1400" dirty="0"/>
          </a:p>
        </p:txBody>
      </p:sp>
      <p:sp>
        <p:nvSpPr>
          <p:cNvPr id="7" name="Text 4"/>
          <p:cNvSpPr/>
          <p:nvPr/>
        </p:nvSpPr>
        <p:spPr>
          <a:xfrm>
            <a:off x="822960" y="5742432"/>
            <a:ext cx="10515600" cy="685800"/>
          </a:xfrm>
          <a:prstGeom prst="rect">
            <a:avLst/>
          </a:prstGeom>
          <a:noFill/>
          <a:ln/>
        </p:spPr>
        <p:txBody>
          <a:bodyPr wrap="square" lIns="0" tIns="0" rIns="0" bIns="0" rtlCol="0" anchor="ctr"/>
          <a:lstStyle/>
          <a:p>
            <a:pPr marL="0" indent="0" algn="l">
              <a:lnSpc>
                <a:spcPct val="102000"/>
              </a:lnSpc>
              <a:buNone/>
            </a:pPr>
            <a:r>
              <a:rPr lang="en-US" sz="1450" b="1" dirty="0">
                <a:solidFill>
                  <a:srgbClr val="FFFFFF"/>
                </a:solidFill>
                <a:latin typeface="Calibri" pitchFamily="34" charset="0"/>
                <a:ea typeface="Calibri" pitchFamily="34" charset="-122"/>
                <a:cs typeface="Calibri" pitchFamily="34" charset="-120"/>
              </a:rPr>
              <a:t>개념이 아니라 관계 fact를 검색</a:t>
            </a:r>
            <a:r>
              <a:rPr lang="en-US" sz="1450" dirty="0">
                <a:solidFill>
                  <a:srgbClr val="CADCFC"/>
                </a:solidFill>
                <a:latin typeface="Calibri" pitchFamily="34" charset="0"/>
                <a:ea typeface="Calibri" pitchFamily="34" charset="-122"/>
                <a:cs typeface="Calibri" pitchFamily="34" charset="-120"/>
              </a:rPr>
              <a:t>하므로 "왜/어떻게"에 강하고, 답변의 </a:t>
            </a:r>
            <a:r>
              <a:rPr lang="en-US" sz="1450" b="1" dirty="0">
                <a:solidFill>
                  <a:srgbClr val="FFFFFF"/>
                </a:solidFill>
                <a:latin typeface="Calibri" pitchFamily="34" charset="0"/>
                <a:ea typeface="Calibri" pitchFamily="34" charset="-122"/>
                <a:cs typeface="Calibri" pitchFamily="34" charset="-120"/>
              </a:rPr>
              <a:t>[n] 인용이 실제 강의·자료로 매핑</a:t>
            </a:r>
            <a:r>
              <a:rPr lang="en-US" sz="1450" dirty="0">
                <a:solidFill>
                  <a:srgbClr val="CADCFC"/>
                </a:solidFill>
                <a:latin typeface="Calibri" pitchFamily="34" charset="0"/>
                <a:ea typeface="Calibri" pitchFamily="34" charset="-122"/>
                <a:cs typeface="Calibri" pitchFamily="34" charset="-120"/>
              </a:rPr>
              <a:t>되며, 근거가 된 개념은 그래프에서 하이라이트된다. 근거가 부족하면 지어내지 않고 기권한다.</a:t>
            </a:r>
            <a:endParaRPr lang="en-US" sz="1450" dirty="0"/>
          </a:p>
        </p:txBody>
      </p:sp>
      <p:sp>
        <p:nvSpPr>
          <p:cNvPr id="8" name="Text 5"/>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7</a:t>
            </a:r>
            <a:endParaRPr lang="en-US" sz="1100" dirty="0"/>
          </a:p>
        </p:txBody>
      </p:sp>
      <p:sp>
        <p:nvSpPr>
          <p:cNvPr id="9" name="Rounded Rectangle 8"/>
          <p:cNvSpPr/>
          <p:nvPr/>
        </p:nvSpPr>
        <p:spPr>
          <a:xfrm>
            <a:off x="811169" y="2972642"/>
            <a:ext cx="1218317" cy="704569"/>
          </a:xfrm>
          <a:prstGeom prst="roundRect">
            <a:avLst>
              <a:gd name="adj" fmla="val 10416"/>
            </a:avLst>
          </a:prstGeom>
          <a:solidFill>
            <a:srgbClr val="FFFFFF"/>
          </a:solidFill>
          <a:ln w="14678">
            <a:solidFill>
              <a:srgbClr val="1C7293"/>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0" name="TextBox 9"/>
          <p:cNvSpPr txBox="1"/>
          <p:nvPr/>
        </p:nvSpPr>
        <p:spPr>
          <a:xfrm>
            <a:off x="-1511707" y="3101079"/>
            <a:ext cx="5871410" cy="278892"/>
          </a:xfrm>
          <a:prstGeom prst="rect">
            <a:avLst/>
          </a:prstGeom>
          <a:noFill/>
        </p:spPr>
        <p:txBody>
          <a:bodyPr wrap="none" lIns="0" tIns="0" rIns="0" bIns="0" anchor="ctr">
            <a:spAutoFit/>
          </a:bodyPr>
          <a:lstStyle/>
          <a:p>
            <a:pPr algn="ctr"/>
            <a:r>
              <a:rPr sz="1160" b="1" i="0">
                <a:solidFill>
                  <a:srgbClr val="16203A"/>
                </a:solidFill>
                <a:latin typeface="맑은 고딕"/>
              </a:rPr>
              <a:t>사용자 질문</a:t>
            </a:r>
          </a:p>
        </p:txBody>
      </p:sp>
      <p:sp>
        <p:nvSpPr>
          <p:cNvPr id="11" name="TextBox 10"/>
          <p:cNvSpPr txBox="1"/>
          <p:nvPr/>
        </p:nvSpPr>
        <p:spPr>
          <a:xfrm>
            <a:off x="-1515377" y="3359421"/>
            <a:ext cx="5871410" cy="195224"/>
          </a:xfrm>
          <a:prstGeom prst="rect">
            <a:avLst/>
          </a:prstGeom>
          <a:noFill/>
        </p:spPr>
        <p:txBody>
          <a:bodyPr wrap="none" lIns="0" tIns="0" rIns="0" bIns="0" anchor="ctr">
            <a:spAutoFit/>
          </a:bodyPr>
          <a:lstStyle/>
          <a:p>
            <a:pPr algn="ctr"/>
            <a:r>
              <a:rPr sz="810" b="0" i="0">
                <a:solidFill>
                  <a:srgbClr val="6F7E9A"/>
                </a:solidFill>
                <a:latin typeface="맑은 고딕"/>
              </a:rPr>
              <a:t>멀티턴 지원</a:t>
            </a:r>
          </a:p>
        </p:txBody>
      </p:sp>
      <p:sp>
        <p:nvSpPr>
          <p:cNvPr id="12" name="Rounded Rectangle 11"/>
          <p:cNvSpPr/>
          <p:nvPr/>
        </p:nvSpPr>
        <p:spPr>
          <a:xfrm>
            <a:off x="2484521" y="2774482"/>
            <a:ext cx="1688030" cy="1100889"/>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3" name="TextBox 12"/>
          <p:cNvSpPr txBox="1"/>
          <p:nvPr/>
        </p:nvSpPr>
        <p:spPr>
          <a:xfrm>
            <a:off x="400170" y="2865488"/>
            <a:ext cx="5871410" cy="251002"/>
          </a:xfrm>
          <a:prstGeom prst="rect">
            <a:avLst/>
          </a:prstGeom>
          <a:noFill/>
        </p:spPr>
        <p:txBody>
          <a:bodyPr wrap="none" lIns="0" tIns="0" rIns="0" bIns="0" anchor="ctr">
            <a:spAutoFit/>
          </a:bodyPr>
          <a:lstStyle/>
          <a:p>
            <a:pPr algn="ctr"/>
            <a:r>
              <a:rPr sz="1040" b="1" i="0">
                <a:solidFill>
                  <a:srgbClr val="FFFFFF"/>
                </a:solidFill>
                <a:latin typeface="맑은 고딕"/>
              </a:rPr>
              <a:t>① 검색 (Retrieval)</a:t>
            </a:r>
          </a:p>
        </p:txBody>
      </p:sp>
      <p:sp>
        <p:nvSpPr>
          <p:cNvPr id="14" name="TextBox 13"/>
          <p:cNvSpPr txBox="1"/>
          <p:nvPr/>
        </p:nvSpPr>
        <p:spPr>
          <a:xfrm>
            <a:off x="392831" y="3146582"/>
            <a:ext cx="5871410" cy="195224"/>
          </a:xfrm>
          <a:prstGeom prst="rect">
            <a:avLst/>
          </a:prstGeom>
          <a:noFill/>
        </p:spPr>
        <p:txBody>
          <a:bodyPr wrap="none" lIns="0" tIns="0" rIns="0" bIns="0" anchor="ctr">
            <a:spAutoFit/>
          </a:bodyPr>
          <a:lstStyle/>
          <a:p>
            <a:pPr algn="ctr"/>
            <a:r>
              <a:rPr sz="810" b="0" i="0">
                <a:solidFill>
                  <a:srgbClr val="CADCFC"/>
                </a:solidFill>
                <a:latin typeface="맑은 고딕"/>
              </a:rPr>
              <a:t>Graphiti /search</a:t>
            </a:r>
          </a:p>
        </p:txBody>
      </p:sp>
      <p:sp>
        <p:nvSpPr>
          <p:cNvPr id="15" name="TextBox 14"/>
          <p:cNvSpPr txBox="1"/>
          <p:nvPr/>
        </p:nvSpPr>
        <p:spPr>
          <a:xfrm>
            <a:off x="389161" y="3341440"/>
            <a:ext cx="5871410" cy="209169"/>
          </a:xfrm>
          <a:prstGeom prst="rect">
            <a:avLst/>
          </a:prstGeom>
          <a:noFill/>
        </p:spPr>
        <p:txBody>
          <a:bodyPr wrap="none" lIns="0" tIns="0" rIns="0" bIns="0" anchor="ctr">
            <a:spAutoFit/>
          </a:bodyPr>
          <a:lstStyle/>
          <a:p>
            <a:pPr algn="ctr"/>
            <a:r>
              <a:rPr sz="869" b="0" i="0">
                <a:solidFill>
                  <a:srgbClr val="F1F1F5"/>
                </a:solidFill>
                <a:latin typeface="맑은 고딕"/>
              </a:rPr>
              <a:t>fact(엣지) k개 회수</a:t>
            </a:r>
          </a:p>
        </p:txBody>
      </p:sp>
      <p:sp>
        <p:nvSpPr>
          <p:cNvPr id="16" name="TextBox 15"/>
          <p:cNvSpPr txBox="1"/>
          <p:nvPr/>
        </p:nvSpPr>
        <p:spPr>
          <a:xfrm>
            <a:off x="396500" y="3553911"/>
            <a:ext cx="5871410" cy="195224"/>
          </a:xfrm>
          <a:prstGeom prst="rect">
            <a:avLst/>
          </a:prstGeom>
          <a:noFill/>
        </p:spPr>
        <p:txBody>
          <a:bodyPr wrap="none" lIns="0" tIns="0" rIns="0" bIns="0" anchor="ctr">
            <a:spAutoFit/>
          </a:bodyPr>
          <a:lstStyle/>
          <a:p>
            <a:pPr algn="ctr"/>
            <a:r>
              <a:rPr sz="810" b="0" i="0">
                <a:solidFill>
                  <a:srgbClr val="B3C4E7"/>
                </a:solidFill>
                <a:latin typeface="맑은 고딕"/>
              </a:rPr>
              <a:t>개념 아닌 "관계 문장"</a:t>
            </a:r>
          </a:p>
        </p:txBody>
      </p:sp>
      <p:sp>
        <p:nvSpPr>
          <p:cNvPr id="17" name="Rounded Rectangle 16"/>
          <p:cNvSpPr/>
          <p:nvPr/>
        </p:nvSpPr>
        <p:spPr>
          <a:xfrm>
            <a:off x="4612907" y="2774482"/>
            <a:ext cx="1688030" cy="1100889"/>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8" name="TextBox 17"/>
          <p:cNvSpPr txBox="1"/>
          <p:nvPr/>
        </p:nvSpPr>
        <p:spPr>
          <a:xfrm>
            <a:off x="2528556" y="2851544"/>
            <a:ext cx="5871410" cy="278892"/>
          </a:xfrm>
          <a:prstGeom prst="rect">
            <a:avLst/>
          </a:prstGeom>
          <a:noFill/>
        </p:spPr>
        <p:txBody>
          <a:bodyPr wrap="none" lIns="0" tIns="0" rIns="0" bIns="0" anchor="ctr">
            <a:spAutoFit/>
          </a:bodyPr>
          <a:lstStyle/>
          <a:p>
            <a:pPr algn="ctr"/>
            <a:r>
              <a:rPr sz="1160" b="1" i="0">
                <a:solidFill>
                  <a:srgbClr val="FFFFFF"/>
                </a:solidFill>
                <a:latin typeface="맑은 고딕"/>
              </a:rPr>
              <a:t>② 근거→그래프</a:t>
            </a:r>
          </a:p>
        </p:txBody>
      </p:sp>
      <p:sp>
        <p:nvSpPr>
          <p:cNvPr id="19" name="TextBox 18"/>
          <p:cNvSpPr txBox="1"/>
          <p:nvPr/>
        </p:nvSpPr>
        <p:spPr>
          <a:xfrm>
            <a:off x="2513878" y="3135940"/>
            <a:ext cx="5871410" cy="209169"/>
          </a:xfrm>
          <a:prstGeom prst="rect">
            <a:avLst/>
          </a:prstGeom>
          <a:noFill/>
        </p:spPr>
        <p:txBody>
          <a:bodyPr wrap="none" lIns="0" tIns="0" rIns="0" bIns="0" anchor="ctr">
            <a:spAutoFit/>
          </a:bodyPr>
          <a:lstStyle/>
          <a:p>
            <a:pPr algn="ctr"/>
            <a:r>
              <a:rPr sz="869" b="0" i="0">
                <a:solidFill>
                  <a:srgbClr val="BAD2F2"/>
                </a:solidFill>
                <a:latin typeface="맑은 고딕"/>
              </a:rPr>
              <a:t>fact의 개념 노드 조회</a:t>
            </a:r>
          </a:p>
        </p:txBody>
      </p:sp>
      <p:sp>
        <p:nvSpPr>
          <p:cNvPr id="20" name="TextBox 19"/>
          <p:cNvSpPr txBox="1"/>
          <p:nvPr/>
        </p:nvSpPr>
        <p:spPr>
          <a:xfrm>
            <a:off x="2517547" y="3334467"/>
            <a:ext cx="5871410" cy="223113"/>
          </a:xfrm>
          <a:prstGeom prst="rect">
            <a:avLst/>
          </a:prstGeom>
          <a:noFill/>
        </p:spPr>
        <p:txBody>
          <a:bodyPr wrap="none" lIns="0" tIns="0" rIns="0" bIns="0" anchor="ctr">
            <a:spAutoFit/>
          </a:bodyPr>
          <a:lstStyle/>
          <a:p>
            <a:pPr algn="ctr"/>
            <a:r>
              <a:rPr sz="919" b="0" i="0">
                <a:solidFill>
                  <a:srgbClr val="E0EAEF"/>
                </a:solidFill>
                <a:latin typeface="맑은 고딕"/>
              </a:rPr>
              <a:t>그래프 하이라이트</a:t>
            </a:r>
          </a:p>
        </p:txBody>
      </p:sp>
      <p:sp>
        <p:nvSpPr>
          <p:cNvPr id="21" name="TextBox 20"/>
          <p:cNvSpPr txBox="1"/>
          <p:nvPr/>
        </p:nvSpPr>
        <p:spPr>
          <a:xfrm>
            <a:off x="2517547" y="3546939"/>
            <a:ext cx="5871410" cy="209169"/>
          </a:xfrm>
          <a:prstGeom prst="rect">
            <a:avLst/>
          </a:prstGeom>
          <a:noFill/>
        </p:spPr>
        <p:txBody>
          <a:bodyPr wrap="none" lIns="0" tIns="0" rIns="0" bIns="0" anchor="ctr">
            <a:spAutoFit/>
          </a:bodyPr>
          <a:lstStyle/>
          <a:p>
            <a:pPr algn="ctr"/>
            <a:r>
              <a:rPr sz="869" b="0" i="0">
                <a:solidFill>
                  <a:srgbClr val="B0CBEB"/>
                </a:solidFill>
                <a:latin typeface="맑은 고딕"/>
              </a:rPr>
              <a:t>인용 칩 ↔ 노드 연결</a:t>
            </a:r>
          </a:p>
        </p:txBody>
      </p:sp>
      <p:sp>
        <p:nvSpPr>
          <p:cNvPr id="22" name="Rounded Rectangle 21"/>
          <p:cNvSpPr/>
          <p:nvPr/>
        </p:nvSpPr>
        <p:spPr>
          <a:xfrm>
            <a:off x="6741293" y="2774482"/>
            <a:ext cx="1688030" cy="1100889"/>
          </a:xfrm>
          <a:prstGeom prst="roundRect">
            <a:avLst>
              <a:gd name="adj" fmla="val 8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3" name="TextBox 22"/>
          <p:cNvSpPr txBox="1"/>
          <p:nvPr/>
        </p:nvSpPr>
        <p:spPr>
          <a:xfrm>
            <a:off x="4653273" y="2851544"/>
            <a:ext cx="5871410" cy="278892"/>
          </a:xfrm>
          <a:prstGeom prst="rect">
            <a:avLst/>
          </a:prstGeom>
          <a:noFill/>
        </p:spPr>
        <p:txBody>
          <a:bodyPr wrap="none" lIns="0" tIns="0" rIns="0" bIns="0" anchor="ctr">
            <a:spAutoFit/>
          </a:bodyPr>
          <a:lstStyle/>
          <a:p>
            <a:pPr algn="ctr"/>
            <a:r>
              <a:rPr sz="1160" b="1" i="0">
                <a:solidFill>
                  <a:srgbClr val="FFFFFF"/>
                </a:solidFill>
                <a:latin typeface="맑은 고딕"/>
              </a:rPr>
              <a:t>③ 답변 생성</a:t>
            </a:r>
          </a:p>
        </p:txBody>
      </p:sp>
      <p:sp>
        <p:nvSpPr>
          <p:cNvPr id="24" name="TextBox 23"/>
          <p:cNvSpPr txBox="1"/>
          <p:nvPr/>
        </p:nvSpPr>
        <p:spPr>
          <a:xfrm>
            <a:off x="4649603" y="3135940"/>
            <a:ext cx="5871410" cy="209169"/>
          </a:xfrm>
          <a:prstGeom prst="rect">
            <a:avLst/>
          </a:prstGeom>
          <a:noFill/>
        </p:spPr>
        <p:txBody>
          <a:bodyPr wrap="none" lIns="0" tIns="0" rIns="0" bIns="0" anchor="ctr">
            <a:spAutoFit/>
          </a:bodyPr>
          <a:lstStyle/>
          <a:p>
            <a:pPr algn="ctr"/>
            <a:r>
              <a:rPr sz="869" b="0" i="0">
                <a:solidFill>
                  <a:srgbClr val="FBFDFD"/>
                </a:solidFill>
                <a:latin typeface="맑은 고딕"/>
              </a:rPr>
              <a:t>LLM, 근거만 사용</a:t>
            </a:r>
          </a:p>
        </p:txBody>
      </p:sp>
      <p:sp>
        <p:nvSpPr>
          <p:cNvPr id="25" name="TextBox 24"/>
          <p:cNvSpPr txBox="1"/>
          <p:nvPr/>
        </p:nvSpPr>
        <p:spPr>
          <a:xfrm>
            <a:off x="4645934" y="3337770"/>
            <a:ext cx="5871410" cy="209169"/>
          </a:xfrm>
          <a:prstGeom prst="rect">
            <a:avLst/>
          </a:prstGeom>
          <a:noFill/>
        </p:spPr>
        <p:txBody>
          <a:bodyPr wrap="none" lIns="0" tIns="0" rIns="0" bIns="0" anchor="ctr">
            <a:spAutoFit/>
          </a:bodyPr>
          <a:lstStyle/>
          <a:p>
            <a:pPr algn="ctr"/>
            <a:r>
              <a:rPr sz="869" b="0" i="0">
                <a:solidFill>
                  <a:srgbClr val="EAF2F5"/>
                </a:solidFill>
                <a:latin typeface="맑은 고딕"/>
              </a:rPr>
              <a:t>[1][2] 인용 강제</a:t>
            </a:r>
          </a:p>
        </p:txBody>
      </p:sp>
      <p:sp>
        <p:nvSpPr>
          <p:cNvPr id="26" name="TextBox 25"/>
          <p:cNvSpPr txBox="1"/>
          <p:nvPr/>
        </p:nvSpPr>
        <p:spPr>
          <a:xfrm>
            <a:off x="4645934" y="3561251"/>
            <a:ext cx="5871410" cy="195224"/>
          </a:xfrm>
          <a:prstGeom prst="rect">
            <a:avLst/>
          </a:prstGeom>
          <a:noFill/>
        </p:spPr>
        <p:txBody>
          <a:bodyPr wrap="none" lIns="0" tIns="0" rIns="0" bIns="0" anchor="ctr">
            <a:spAutoFit/>
          </a:bodyPr>
          <a:lstStyle/>
          <a:p>
            <a:pPr algn="ctr"/>
            <a:r>
              <a:rPr sz="810" b="0" i="0">
                <a:solidFill>
                  <a:srgbClr val="FBFCFD"/>
                </a:solidFill>
                <a:latin typeface="맑은 고딕"/>
              </a:rPr>
              <a:t>temperature 0.2</a:t>
            </a:r>
          </a:p>
        </p:txBody>
      </p:sp>
      <p:sp>
        <p:nvSpPr>
          <p:cNvPr id="27" name="Rounded Rectangle 26"/>
          <p:cNvSpPr/>
          <p:nvPr/>
        </p:nvSpPr>
        <p:spPr>
          <a:xfrm>
            <a:off x="8877019" y="2488250"/>
            <a:ext cx="2480670" cy="1673352"/>
          </a:xfrm>
          <a:prstGeom prst="roundRect">
            <a:avLst>
              <a:gd name="adj" fmla="val 6140"/>
            </a:avLst>
          </a:prstGeom>
          <a:solidFill>
            <a:srgbClr val="FFFFFF"/>
          </a:solidFill>
          <a:ln w="14678">
            <a:solidFill>
              <a:srgbClr val="21295C"/>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8" name="TextBox 27"/>
          <p:cNvSpPr txBox="1"/>
          <p:nvPr/>
        </p:nvSpPr>
        <p:spPr>
          <a:xfrm>
            <a:off x="7174310" y="2571918"/>
            <a:ext cx="5871410" cy="251002"/>
          </a:xfrm>
          <a:prstGeom prst="rect">
            <a:avLst/>
          </a:prstGeom>
          <a:noFill/>
        </p:spPr>
        <p:txBody>
          <a:bodyPr wrap="none" lIns="0" tIns="0" rIns="0" bIns="0" anchor="ctr">
            <a:spAutoFit/>
          </a:bodyPr>
          <a:lstStyle/>
          <a:p>
            <a:pPr algn="ctr"/>
            <a:r>
              <a:rPr sz="1040" b="1" i="0">
                <a:solidFill>
                  <a:srgbClr val="16203A"/>
                </a:solidFill>
                <a:latin typeface="맑은 고딕"/>
              </a:rPr>
              <a:t>4대 특징</a:t>
            </a:r>
          </a:p>
        </p:txBody>
      </p:sp>
      <p:sp>
        <p:nvSpPr>
          <p:cNvPr id="29" name="Oval 28"/>
          <p:cNvSpPr/>
          <p:nvPr/>
        </p:nvSpPr>
        <p:spPr>
          <a:xfrm>
            <a:off x="9053161" y="2957963"/>
            <a:ext cx="102749" cy="102749"/>
          </a:xfrm>
          <a:prstGeom prst="ellipse">
            <a:avLst/>
          </a:prstGeom>
          <a:solidFill>
            <a:srgbClr val="1D7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43982" y="2908423"/>
            <a:ext cx="5871410" cy="209169"/>
          </a:xfrm>
          <a:prstGeom prst="rect">
            <a:avLst/>
          </a:prstGeom>
          <a:noFill/>
        </p:spPr>
        <p:txBody>
          <a:bodyPr wrap="none" lIns="0" tIns="0" rIns="0" bIns="0" anchor="ctr">
            <a:spAutoFit/>
          </a:bodyPr>
          <a:lstStyle/>
          <a:p>
            <a:pPr algn="l"/>
            <a:r>
              <a:rPr sz="869" b="0" i="0">
                <a:solidFill>
                  <a:srgbClr val="262F47"/>
                </a:solidFill>
                <a:latin typeface="맑은 고딕"/>
              </a:rPr>
              <a:t>출처 표기 — 근거마다 번호+출처</a:t>
            </a:r>
          </a:p>
        </p:txBody>
      </p:sp>
      <p:sp>
        <p:nvSpPr>
          <p:cNvPr id="31" name="Oval 30"/>
          <p:cNvSpPr/>
          <p:nvPr/>
        </p:nvSpPr>
        <p:spPr>
          <a:xfrm>
            <a:off x="9053161" y="3222177"/>
            <a:ext cx="102749" cy="102749"/>
          </a:xfrm>
          <a:prstGeom prst="ellipse">
            <a:avLst/>
          </a:prstGeom>
          <a:solidFill>
            <a:srgbClr val="1D7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43982" y="3172637"/>
            <a:ext cx="5871410" cy="209169"/>
          </a:xfrm>
          <a:prstGeom prst="rect">
            <a:avLst/>
          </a:prstGeom>
          <a:noFill/>
        </p:spPr>
        <p:txBody>
          <a:bodyPr wrap="none" lIns="0" tIns="0" rIns="0" bIns="0" anchor="ctr">
            <a:spAutoFit/>
          </a:bodyPr>
          <a:lstStyle/>
          <a:p>
            <a:pPr algn="l"/>
            <a:r>
              <a:rPr sz="869" b="0" i="0">
                <a:solidFill>
                  <a:srgbClr val="262F47"/>
                </a:solidFill>
                <a:latin typeface="맑은 고딕"/>
              </a:rPr>
              <a:t>fact 기반 — 엣지가 검색 단위</a:t>
            </a:r>
          </a:p>
        </p:txBody>
      </p:sp>
      <p:sp>
        <p:nvSpPr>
          <p:cNvPr id="33" name="Oval 32"/>
          <p:cNvSpPr/>
          <p:nvPr/>
        </p:nvSpPr>
        <p:spPr>
          <a:xfrm>
            <a:off x="9053161" y="3486390"/>
            <a:ext cx="102749" cy="102749"/>
          </a:xfrm>
          <a:prstGeom prst="ellipse">
            <a:avLst/>
          </a:prstGeom>
          <a:solidFill>
            <a:srgbClr val="1D7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43982" y="3436850"/>
            <a:ext cx="5871410" cy="209169"/>
          </a:xfrm>
          <a:prstGeom prst="rect">
            <a:avLst/>
          </a:prstGeom>
          <a:noFill/>
        </p:spPr>
        <p:txBody>
          <a:bodyPr wrap="none" lIns="0" tIns="0" rIns="0" bIns="0" anchor="ctr">
            <a:spAutoFit/>
          </a:bodyPr>
          <a:lstStyle/>
          <a:p>
            <a:pPr algn="l"/>
            <a:r>
              <a:rPr sz="869" b="0" i="0">
                <a:solidFill>
                  <a:srgbClr val="262F47"/>
                </a:solidFill>
                <a:latin typeface="맑은 고딕"/>
              </a:rPr>
              <a:t>스트리밍 — 토큰 즉시 전달</a:t>
            </a:r>
          </a:p>
        </p:txBody>
      </p:sp>
      <p:sp>
        <p:nvSpPr>
          <p:cNvPr id="35" name="Oval 34"/>
          <p:cNvSpPr/>
          <p:nvPr/>
        </p:nvSpPr>
        <p:spPr>
          <a:xfrm>
            <a:off x="9053161" y="3750604"/>
            <a:ext cx="102749" cy="102749"/>
          </a:xfrm>
          <a:prstGeom prst="ellipse">
            <a:avLst/>
          </a:prstGeom>
          <a:solidFill>
            <a:srgbClr val="1D7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243982" y="3701064"/>
            <a:ext cx="5871410" cy="209169"/>
          </a:xfrm>
          <a:prstGeom prst="rect">
            <a:avLst/>
          </a:prstGeom>
          <a:noFill/>
        </p:spPr>
        <p:txBody>
          <a:bodyPr wrap="none" lIns="0" tIns="0" rIns="0" bIns="0" anchor="ctr">
            <a:spAutoFit/>
          </a:bodyPr>
          <a:lstStyle/>
          <a:p>
            <a:pPr algn="l"/>
            <a:r>
              <a:rPr sz="869" b="0" i="0">
                <a:solidFill>
                  <a:srgbClr val="262F47"/>
                </a:solidFill>
                <a:latin typeface="맑은 고딕"/>
              </a:rPr>
              <a:t>LaTeX 보호 — 수식 깨짐 방지</a:t>
            </a:r>
          </a:p>
        </p:txBody>
      </p:sp>
      <p:sp>
        <p:nvSpPr>
          <p:cNvPr id="37" name="TextBox 36"/>
          <p:cNvSpPr txBox="1"/>
          <p:nvPr/>
        </p:nvSpPr>
        <p:spPr>
          <a:xfrm>
            <a:off x="7177979" y="3942525"/>
            <a:ext cx="5871410" cy="181279"/>
          </a:xfrm>
          <a:prstGeom prst="rect">
            <a:avLst/>
          </a:prstGeom>
          <a:noFill/>
        </p:spPr>
        <p:txBody>
          <a:bodyPr wrap="none" lIns="0" tIns="0" rIns="0" bIns="0" anchor="ctr">
            <a:spAutoFit/>
          </a:bodyPr>
          <a:lstStyle/>
          <a:p>
            <a:pPr algn="ctr"/>
            <a:r>
              <a:rPr sz="750" b="0" i="0">
                <a:solidFill>
                  <a:srgbClr val="6A7997"/>
                </a:solidFill>
                <a:latin typeface="맑은 고딕"/>
              </a:rPr>
              <a:t>환각 방지: 근거 부족 시 기권</a:t>
            </a:r>
          </a:p>
        </p:txBody>
      </p:sp>
      <p:cxnSp>
        <p:nvCxnSpPr>
          <p:cNvPr id="38" name="Connector 37"/>
          <p:cNvCxnSpPr/>
          <p:nvPr/>
        </p:nvCxnSpPr>
        <p:spPr>
          <a:xfrm>
            <a:off x="2058843" y="3324926"/>
            <a:ext cx="396321" cy="0"/>
          </a:xfrm>
          <a:prstGeom prst="line">
            <a:avLst/>
          </a:prstGeom>
          <a:ln w="22017">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87230" y="3324926"/>
            <a:ext cx="396320" cy="0"/>
          </a:xfrm>
          <a:prstGeom prst="line">
            <a:avLst/>
          </a:prstGeom>
          <a:ln w="22017">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315616" y="3324926"/>
            <a:ext cx="396320" cy="0"/>
          </a:xfrm>
          <a:prstGeom prst="line">
            <a:avLst/>
          </a:prstGeom>
          <a:ln w="22017">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444002" y="3324926"/>
            <a:ext cx="396320" cy="0"/>
          </a:xfrm>
          <a:prstGeom prst="line">
            <a:avLst/>
          </a:prstGeom>
          <a:ln w="22017">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03 · 구현 — 사용 모델</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단계별로 어떤 모델을 썼나</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4041648"/>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57200">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단계</a:t>
                      </a:r>
                      <a:endParaRPr lang="en-US" sz="145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1E2761"/>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모델</a:t>
                      </a:r>
                      <a:endParaRPr lang="en-US" sz="145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1E2761"/>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역할</a:t>
                      </a:r>
                      <a:endParaRPr lang="en-US" sz="145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12064">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STT 1차 전사</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b="1" dirty="0">
                          <a:solidFill>
                            <a:srgbClr val="065A82"/>
                          </a:solidFill>
                          <a:latin typeface="Calibri" pitchFamily="34" charset="0"/>
                          <a:ea typeface="Calibri" pitchFamily="34" charset="-122"/>
                          <a:cs typeface="Calibri" pitchFamily="34" charset="-120"/>
                        </a:rPr>
                        <a:t>Soniox (기본) / CLOVA (폴백)</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03A"/>
                          </a:solidFill>
                          <a:latin typeface="Calibri" pitchFamily="34" charset="0"/>
                          <a:ea typeface="Calibri" pitchFamily="34" charset="-122"/>
                          <a:cs typeface="Calibri" pitchFamily="34" charset="-120"/>
                        </a:rPr>
                        <a:t>음성 → 텍스트 + 화자분리</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STT 2차 정제</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l">
                        <a:buNone/>
                      </a:pPr>
                      <a:r>
                        <a:rPr lang="en-US" sz="1400" b="1" dirty="0">
                          <a:solidFill>
                            <a:srgbClr val="065A82"/>
                          </a:solidFill>
                          <a:latin typeface="Calibri" pitchFamily="34" charset="0"/>
                          <a:ea typeface="Calibri" pitchFamily="34" charset="-122"/>
                          <a:cs typeface="Calibri" pitchFamily="34" charset="-120"/>
                        </a:rPr>
                        <a:t>gpt-5-mini  (reasoning_effort=low)</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l">
                        <a:buNone/>
                      </a:pPr>
                      <a:r>
                        <a:rPr lang="en-US" sz="1400" dirty="0">
                          <a:solidFill>
                            <a:srgbClr val="16203A"/>
                          </a:solidFill>
                          <a:latin typeface="Calibri" pitchFamily="34" charset="0"/>
                          <a:ea typeface="Calibri" pitchFamily="34" charset="-122"/>
                          <a:cs typeface="Calibri" pitchFamily="34" charset="-120"/>
                        </a:rPr>
                        <a:t>오전사 교정 · 문맥 보정</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12064">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자료 이미지 설명</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b="1" dirty="0">
                          <a:solidFill>
                            <a:srgbClr val="065A82"/>
                          </a:solidFill>
                          <a:latin typeface="Calibri" pitchFamily="34" charset="0"/>
                          <a:ea typeface="Calibri" pitchFamily="34" charset="-122"/>
                          <a:cs typeface="Calibri" pitchFamily="34" charset="-120"/>
                        </a:rPr>
                        <a:t>gpt-4o (Vision)</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03A"/>
                          </a:solidFill>
                          <a:latin typeface="Calibri" pitchFamily="34" charset="0"/>
                          <a:ea typeface="Calibri" pitchFamily="34" charset="-122"/>
                          <a:cs typeface="Calibri" pitchFamily="34" charset="-120"/>
                        </a:rPr>
                        <a:t>pdf·pptx 임베딩 이미지 텍스트화</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그래프 개념 추출</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l">
                        <a:buNone/>
                      </a:pPr>
                      <a:r>
                        <a:rPr lang="en-US" sz="1400" b="1" dirty="0">
                          <a:solidFill>
                            <a:srgbClr val="065A82"/>
                          </a:solidFill>
                          <a:latin typeface="Calibri" pitchFamily="34" charset="0"/>
                          <a:ea typeface="Calibri" pitchFamily="34" charset="-122"/>
                          <a:cs typeface="Calibri" pitchFamily="34" charset="-120"/>
                        </a:rPr>
                        <a:t>gpt-5-mini</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l">
                        <a:buNone/>
                      </a:pPr>
                      <a:r>
                        <a:rPr lang="en-US" sz="1400" dirty="0">
                          <a:solidFill>
                            <a:srgbClr val="16203A"/>
                          </a:solidFill>
                          <a:latin typeface="Calibri" pitchFamily="34" charset="0"/>
                          <a:ea typeface="Calibri" pitchFamily="34" charset="-122"/>
                          <a:cs typeface="Calibri" pitchFamily="34" charset="-120"/>
                        </a:rPr>
                        <a:t>Graphiti 엔티티·관계 추출</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12064">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임베딩</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b="1" dirty="0">
                          <a:solidFill>
                            <a:srgbClr val="065A82"/>
                          </a:solidFill>
                          <a:latin typeface="Calibri" pitchFamily="34" charset="0"/>
                          <a:ea typeface="Calibri" pitchFamily="34" charset="-122"/>
                          <a:cs typeface="Calibri" pitchFamily="34" charset="-120"/>
                        </a:rPr>
                        <a:t>text-embedding-3-small</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03A"/>
                          </a:solidFill>
                          <a:latin typeface="Calibri" pitchFamily="34" charset="0"/>
                          <a:ea typeface="Calibri" pitchFamily="34" charset="-122"/>
                          <a:cs typeface="Calibri" pitchFamily="34" charset="-120"/>
                        </a:rPr>
                        <a:t>개념·청크 벡터화</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챗봇 답변 생성</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l">
                        <a:buNone/>
                      </a:pPr>
                      <a:r>
                        <a:rPr lang="en-US" sz="1400" b="1" dirty="0">
                          <a:solidFill>
                            <a:srgbClr val="065A82"/>
                          </a:solidFill>
                          <a:latin typeface="Calibri" pitchFamily="34" charset="0"/>
                          <a:ea typeface="Calibri" pitchFamily="34" charset="-122"/>
                          <a:cs typeface="Calibri" pitchFamily="34" charset="-120"/>
                        </a:rPr>
                        <a:t>gpt-4o-mini</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l">
                        <a:buNone/>
                      </a:pPr>
                      <a:r>
                        <a:rPr lang="en-US" sz="1400" dirty="0">
                          <a:solidFill>
                            <a:srgbClr val="16203A"/>
                          </a:solidFill>
                          <a:latin typeface="Calibri" pitchFamily="34" charset="0"/>
                          <a:ea typeface="Calibri" pitchFamily="34" charset="-122"/>
                          <a:cs typeface="Calibri" pitchFamily="34" charset="-120"/>
                        </a:rPr>
                        <a:t>RAG 답변 (근거 기반)</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512064">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평가 채점 (judge)</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b="1" dirty="0">
                          <a:solidFill>
                            <a:srgbClr val="065A82"/>
                          </a:solidFill>
                          <a:latin typeface="Calibri" pitchFamily="34" charset="0"/>
                          <a:ea typeface="Calibri" pitchFamily="34" charset="-122"/>
                          <a:cs typeface="Calibri" pitchFamily="34" charset="-120"/>
                        </a:rPr>
                        <a:t>gpt-5-mini</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6203A"/>
                          </a:solidFill>
                          <a:latin typeface="Calibri" pitchFamily="34" charset="0"/>
                          <a:ea typeface="Calibri" pitchFamily="34" charset="-122"/>
                          <a:cs typeface="Calibri" pitchFamily="34" charset="-120"/>
                        </a:rPr>
                        <a:t>답변 품질 자동 채점</a:t>
                      </a:r>
                      <a:endParaRPr lang="en-US" sz="1400" dirty="0">
                        <a:latin typeface="Calibri" charset="0"/>
                        <a:ea typeface="Calibri" charset="0"/>
                        <a:cs typeface="Calibri" charset="0"/>
                      </a:endParaRPr>
                    </a:p>
                  </a:txBody>
                  <a:tcPr marL="101600" marR="1016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943600"/>
            <a:ext cx="11064240" cy="566928"/>
          </a:xfrm>
          <a:prstGeom prst="roundRect">
            <a:avLst>
              <a:gd name="adj" fmla="val 11290"/>
            </a:avLst>
          </a:prstGeom>
          <a:solidFill>
            <a:srgbClr val="EAF1F9"/>
          </a:solidFill>
          <a:ln w="12700">
            <a:solidFill>
              <a:srgbClr val="065A82"/>
            </a:solidFill>
            <a:prstDash val="solid"/>
          </a:ln>
        </p:spPr>
      </p:sp>
      <p:sp>
        <p:nvSpPr>
          <p:cNvPr id="6" name="Text 3"/>
          <p:cNvSpPr/>
          <p:nvPr/>
        </p:nvSpPr>
        <p:spPr>
          <a:xfrm>
            <a:off x="777240" y="5989320"/>
            <a:ext cx="10607040" cy="475488"/>
          </a:xfrm>
          <a:prstGeom prst="rect">
            <a:avLst/>
          </a:prstGeom>
          <a:noFill/>
          <a:ln/>
        </p:spPr>
        <p:txBody>
          <a:bodyPr wrap="square" lIns="0" tIns="0" rIns="0" bIns="0"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역할 분리  </a:t>
            </a:r>
            <a:r>
              <a:rPr lang="en-US" sz="1250" dirty="0">
                <a:solidFill>
                  <a:srgbClr val="16203A"/>
                </a:solidFill>
                <a:latin typeface="Calibri" pitchFamily="34" charset="0"/>
                <a:ea typeface="Calibri" pitchFamily="34" charset="-122"/>
                <a:cs typeface="Calibri" pitchFamily="34" charset="-120"/>
              </a:rPr>
              <a:t>정확도가 중요한 전사·개념 추출·채점엔 gpt-5-mini, 대량·저지연이 필요한 답변엔 경량 gpt-4o-mini — 성능과 비용을 단계별로 최적화. 모든 모델은 환경변수로 교체 가능.</a:t>
            </a:r>
            <a:endParaRPr lang="en-US" sz="1300" dirty="0"/>
          </a:p>
        </p:txBody>
      </p:sp>
      <p:sp>
        <p:nvSpPr>
          <p:cNvPr id="7" name="Text 4"/>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03 · 구현 — 관측성</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LangSmith로 토큰 사용량을 추적한다</a:t>
            </a:r>
            <a:endParaRPr lang="en-US" sz="3200" dirty="0"/>
          </a:p>
        </p:txBody>
      </p:sp>
      <p:sp>
        <p:nvSpPr>
          <p:cNvPr id="5" name="Text 2"/>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9</a:t>
            </a:r>
            <a:endParaRPr lang="en-US" sz="1100" dirty="0"/>
          </a:p>
        </p:txBody>
      </p:sp>
      <p:sp>
        <p:nvSpPr>
          <p:cNvPr id="6" name="TextBox 5"/>
          <p:cNvSpPr txBox="1"/>
          <p:nvPr/>
        </p:nvSpPr>
        <p:spPr>
          <a:xfrm>
            <a:off x="956584" y="1895788"/>
            <a:ext cx="5949696" cy="268480"/>
          </a:xfrm>
          <a:prstGeom prst="rect">
            <a:avLst/>
          </a:prstGeom>
          <a:noFill/>
        </p:spPr>
        <p:txBody>
          <a:bodyPr wrap="none" lIns="0" tIns="0" rIns="0" bIns="0" anchor="ctr">
            <a:spAutoFit/>
          </a:bodyPr>
          <a:lstStyle/>
          <a:p>
            <a:pPr algn="l"/>
            <a:r>
              <a:rPr sz="1110" b="1" i="0">
                <a:solidFill>
                  <a:srgbClr val="16203A"/>
                </a:solidFill>
                <a:latin typeface="맑은 고딕"/>
              </a:rPr>
              <a:t>모든 OpenAI 호출을 wrap_openai_client로 감싼다</a:t>
            </a:r>
          </a:p>
        </p:txBody>
      </p:sp>
      <p:sp>
        <p:nvSpPr>
          <p:cNvPr id="7" name="Rounded Rectangle 6"/>
          <p:cNvSpPr/>
          <p:nvPr/>
        </p:nvSpPr>
        <p:spPr>
          <a:xfrm>
            <a:off x="956584" y="2368417"/>
            <a:ext cx="2662488" cy="2216261"/>
          </a:xfrm>
          <a:prstGeom prst="roundRect">
            <a:avLst>
              <a:gd name="adj" fmla="val 5369"/>
            </a:avLst>
          </a:prstGeom>
          <a:solidFill>
            <a:srgbClr val="FFFFFF"/>
          </a:solidFill>
          <a:ln w="14874">
            <a:solidFill>
              <a:srgbClr val="DCE4F0"/>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8" name="TextBox 7"/>
          <p:cNvSpPr txBox="1"/>
          <p:nvPr/>
        </p:nvSpPr>
        <p:spPr>
          <a:xfrm>
            <a:off x="-683300" y="2463613"/>
            <a:ext cx="5949696" cy="226088"/>
          </a:xfrm>
          <a:prstGeom prst="rect">
            <a:avLst/>
          </a:prstGeom>
          <a:noFill/>
        </p:spPr>
        <p:txBody>
          <a:bodyPr wrap="none" lIns="0" tIns="0" rIns="0" bIns="0" anchor="ctr">
            <a:spAutoFit/>
          </a:bodyPr>
          <a:lstStyle/>
          <a:p>
            <a:pPr algn="ctr"/>
            <a:r>
              <a:rPr sz="940" b="1" i="0">
                <a:solidFill>
                  <a:srgbClr val="065A82"/>
                </a:solidFill>
                <a:latin typeface="맑은 고딕"/>
              </a:rPr>
              <a:t>계측 대상 클라이언트</a:t>
            </a:r>
          </a:p>
        </p:txBody>
      </p:sp>
      <p:sp>
        <p:nvSpPr>
          <p:cNvPr id="9" name="Rounded Rectangle 8"/>
          <p:cNvSpPr/>
          <p:nvPr/>
        </p:nvSpPr>
        <p:spPr>
          <a:xfrm>
            <a:off x="1142512" y="2777459"/>
            <a:ext cx="2290632" cy="386730"/>
          </a:xfrm>
          <a:prstGeom prst="roundRect">
            <a:avLst>
              <a:gd name="adj" fmla="val 17307"/>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0" name="TextBox 9"/>
          <p:cNvSpPr txBox="1"/>
          <p:nvPr/>
        </p:nvSpPr>
        <p:spPr>
          <a:xfrm>
            <a:off x="-687019" y="2883066"/>
            <a:ext cx="5949696" cy="197827"/>
          </a:xfrm>
          <a:prstGeom prst="rect">
            <a:avLst/>
          </a:prstGeom>
          <a:noFill/>
        </p:spPr>
        <p:txBody>
          <a:bodyPr wrap="none" lIns="0" tIns="0" rIns="0" bIns="0" anchor="ctr">
            <a:spAutoFit/>
          </a:bodyPr>
          <a:lstStyle/>
          <a:p>
            <a:pPr algn="ctr"/>
            <a:r>
              <a:rPr sz="819" b="0" i="0">
                <a:solidFill>
                  <a:srgbClr val="F5F7FA"/>
                </a:solidFill>
                <a:latin typeface="맑은 고딕"/>
              </a:rPr>
              <a:t>챗봇 답변 LLM (gpt-4o-mini)</a:t>
            </a:r>
          </a:p>
        </p:txBody>
      </p:sp>
      <p:sp>
        <p:nvSpPr>
          <p:cNvPr id="11" name="Rounded Rectangle 10"/>
          <p:cNvSpPr/>
          <p:nvPr/>
        </p:nvSpPr>
        <p:spPr>
          <a:xfrm>
            <a:off x="1142512" y="3223686"/>
            <a:ext cx="2290632" cy="386730"/>
          </a:xfrm>
          <a:prstGeom prst="roundRect">
            <a:avLst>
              <a:gd name="adj" fmla="val 17307"/>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2" name="TextBox 11"/>
          <p:cNvSpPr txBox="1"/>
          <p:nvPr/>
        </p:nvSpPr>
        <p:spPr>
          <a:xfrm>
            <a:off x="-690737" y="3336359"/>
            <a:ext cx="5949696" cy="183696"/>
          </a:xfrm>
          <a:prstGeom prst="rect">
            <a:avLst/>
          </a:prstGeom>
          <a:noFill/>
        </p:spPr>
        <p:txBody>
          <a:bodyPr wrap="none" lIns="0" tIns="0" rIns="0" bIns="0" anchor="ctr">
            <a:spAutoFit/>
          </a:bodyPr>
          <a:lstStyle/>
          <a:p>
            <a:pPr algn="ctr"/>
            <a:r>
              <a:rPr sz="760" b="0" i="0">
                <a:solidFill>
                  <a:srgbClr val="F5F7FA"/>
                </a:solidFill>
                <a:latin typeface="맑은 고딕"/>
              </a:rPr>
              <a:t>Graphiti LLM (gpt-5-mini)</a:t>
            </a:r>
          </a:p>
        </p:txBody>
      </p:sp>
      <p:sp>
        <p:nvSpPr>
          <p:cNvPr id="13" name="Rounded Rectangle 12"/>
          <p:cNvSpPr/>
          <p:nvPr/>
        </p:nvSpPr>
        <p:spPr>
          <a:xfrm>
            <a:off x="1142512" y="3669913"/>
            <a:ext cx="2290632" cy="386730"/>
          </a:xfrm>
          <a:prstGeom prst="roundRect">
            <a:avLst>
              <a:gd name="adj" fmla="val 17307"/>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4" name="TextBox 13"/>
          <p:cNvSpPr txBox="1"/>
          <p:nvPr/>
        </p:nvSpPr>
        <p:spPr>
          <a:xfrm>
            <a:off x="-690737" y="3775521"/>
            <a:ext cx="5949696" cy="197827"/>
          </a:xfrm>
          <a:prstGeom prst="rect">
            <a:avLst/>
          </a:prstGeom>
          <a:noFill/>
        </p:spPr>
        <p:txBody>
          <a:bodyPr wrap="none" lIns="0" tIns="0" rIns="0" bIns="0" anchor="ctr">
            <a:spAutoFit/>
          </a:bodyPr>
          <a:lstStyle/>
          <a:p>
            <a:pPr algn="ctr"/>
            <a:r>
              <a:rPr sz="819" b="0" i="0">
                <a:solidFill>
                  <a:srgbClr val="F5F7FA"/>
                </a:solidFill>
                <a:latin typeface="맑은 고딕"/>
              </a:rPr>
              <a:t>임베더 (text-embedding-3-small)</a:t>
            </a:r>
          </a:p>
        </p:txBody>
      </p:sp>
      <p:sp>
        <p:nvSpPr>
          <p:cNvPr id="15" name="Rounded Rectangle 14"/>
          <p:cNvSpPr/>
          <p:nvPr/>
        </p:nvSpPr>
        <p:spPr>
          <a:xfrm>
            <a:off x="1142512" y="4116141"/>
            <a:ext cx="2290632" cy="386730"/>
          </a:xfrm>
          <a:prstGeom prst="roundRect">
            <a:avLst>
              <a:gd name="adj" fmla="val 17307"/>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6" name="TextBox 15"/>
          <p:cNvSpPr txBox="1"/>
          <p:nvPr/>
        </p:nvSpPr>
        <p:spPr>
          <a:xfrm>
            <a:off x="-687019" y="4221748"/>
            <a:ext cx="5949696" cy="197827"/>
          </a:xfrm>
          <a:prstGeom prst="rect">
            <a:avLst/>
          </a:prstGeom>
          <a:noFill/>
        </p:spPr>
        <p:txBody>
          <a:bodyPr wrap="none" lIns="0" tIns="0" rIns="0" bIns="0" anchor="ctr">
            <a:spAutoFit/>
          </a:bodyPr>
          <a:lstStyle/>
          <a:p>
            <a:pPr algn="ctr"/>
            <a:r>
              <a:rPr sz="819" b="0" i="0">
                <a:solidFill>
                  <a:srgbClr val="F5F7FA"/>
                </a:solidFill>
                <a:latin typeface="맑은 고딕"/>
              </a:rPr>
              <a:t>cross-encoder (재랭킹)</a:t>
            </a:r>
          </a:p>
        </p:txBody>
      </p:sp>
      <p:sp>
        <p:nvSpPr>
          <p:cNvPr id="17" name="TextBox 16"/>
          <p:cNvSpPr txBox="1"/>
          <p:nvPr/>
        </p:nvSpPr>
        <p:spPr>
          <a:xfrm>
            <a:off x="1030955" y="3266078"/>
            <a:ext cx="5949696" cy="197827"/>
          </a:xfrm>
          <a:prstGeom prst="rect">
            <a:avLst/>
          </a:prstGeom>
          <a:noFill/>
        </p:spPr>
        <p:txBody>
          <a:bodyPr wrap="none" lIns="0" tIns="0" rIns="0" bIns="0" anchor="ctr">
            <a:spAutoFit/>
          </a:bodyPr>
          <a:lstStyle/>
          <a:p>
            <a:pPr algn="ctr"/>
            <a:r>
              <a:rPr sz="819" b="0" i="0">
                <a:solidFill>
                  <a:srgbClr val="5A6B8C"/>
                </a:solidFill>
                <a:latin typeface="맑은 고딕"/>
              </a:rPr>
              <a:t>wrap</a:t>
            </a:r>
          </a:p>
        </p:txBody>
      </p:sp>
      <p:cxnSp>
        <p:nvCxnSpPr>
          <p:cNvPr id="18" name="Connector 17"/>
          <p:cNvCxnSpPr/>
          <p:nvPr/>
        </p:nvCxnSpPr>
        <p:spPr>
          <a:xfrm>
            <a:off x="3686007" y="3469111"/>
            <a:ext cx="624718" cy="0"/>
          </a:xfrm>
          <a:prstGeom prst="line">
            <a:avLst/>
          </a:prstGeom>
          <a:ln w="22311">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0222" y="2584094"/>
            <a:ext cx="3123590" cy="1784908"/>
          </a:xfrm>
          <a:prstGeom prst="roundRect">
            <a:avLst>
              <a:gd name="adj" fmla="val 5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0" name="TextBox 19"/>
          <p:cNvSpPr txBox="1"/>
          <p:nvPr/>
        </p:nvSpPr>
        <p:spPr>
          <a:xfrm>
            <a:off x="2957169" y="2704947"/>
            <a:ext cx="5949696" cy="211957"/>
          </a:xfrm>
          <a:prstGeom prst="rect">
            <a:avLst/>
          </a:prstGeom>
          <a:noFill/>
        </p:spPr>
        <p:txBody>
          <a:bodyPr wrap="none" lIns="0" tIns="0" rIns="0" bIns="0" anchor="ctr">
            <a:spAutoFit/>
          </a:bodyPr>
          <a:lstStyle/>
          <a:p>
            <a:pPr algn="ctr"/>
            <a:r>
              <a:rPr sz="880" b="1" i="0">
                <a:solidFill>
                  <a:srgbClr val="FFFFFF"/>
                </a:solidFill>
                <a:latin typeface="맑은 고딕"/>
              </a:rPr>
              <a:t>LangSmith 자동 계측</a:t>
            </a:r>
          </a:p>
        </p:txBody>
      </p:sp>
      <p:sp>
        <p:nvSpPr>
          <p:cNvPr id="21" name="TextBox 20"/>
          <p:cNvSpPr txBox="1"/>
          <p:nvPr/>
        </p:nvSpPr>
        <p:spPr>
          <a:xfrm>
            <a:off x="4563587" y="3013216"/>
            <a:ext cx="5949696" cy="197827"/>
          </a:xfrm>
          <a:prstGeom prst="rect">
            <a:avLst/>
          </a:prstGeom>
          <a:noFill/>
        </p:spPr>
        <p:txBody>
          <a:bodyPr wrap="none" lIns="0" tIns="0" rIns="0" bIns="0" anchor="ctr">
            <a:spAutoFit/>
          </a:bodyPr>
          <a:lstStyle/>
          <a:p>
            <a:pPr algn="l"/>
            <a:r>
              <a:rPr sz="819" b="0" i="0">
                <a:solidFill>
                  <a:srgbClr val="B5C5E8"/>
                </a:solidFill>
                <a:latin typeface="맑은 고딕"/>
              </a:rPr>
              <a:t>· 호출별 입력·출력 토큰 수</a:t>
            </a:r>
          </a:p>
        </p:txBody>
      </p:sp>
      <p:sp>
        <p:nvSpPr>
          <p:cNvPr id="22" name="TextBox 21"/>
          <p:cNvSpPr txBox="1"/>
          <p:nvPr/>
        </p:nvSpPr>
        <p:spPr>
          <a:xfrm>
            <a:off x="4563587" y="3244138"/>
            <a:ext cx="5949696" cy="211957"/>
          </a:xfrm>
          <a:prstGeom prst="rect">
            <a:avLst/>
          </a:prstGeom>
          <a:noFill/>
        </p:spPr>
        <p:txBody>
          <a:bodyPr wrap="none" lIns="0" tIns="0" rIns="0" bIns="0" anchor="ctr">
            <a:spAutoFit/>
          </a:bodyPr>
          <a:lstStyle/>
          <a:p>
            <a:pPr algn="l"/>
            <a:r>
              <a:rPr sz="880" b="0" i="0">
                <a:solidFill>
                  <a:srgbClr val="B5C6E9"/>
                </a:solidFill>
                <a:latin typeface="맑은 고딕"/>
              </a:rPr>
              <a:t>· 누적 비용(모델 단가 반영)</a:t>
            </a:r>
          </a:p>
        </p:txBody>
      </p:sp>
      <p:sp>
        <p:nvSpPr>
          <p:cNvPr id="23" name="TextBox 22"/>
          <p:cNvSpPr txBox="1"/>
          <p:nvPr/>
        </p:nvSpPr>
        <p:spPr>
          <a:xfrm>
            <a:off x="4563587" y="3492910"/>
            <a:ext cx="5949696" cy="197827"/>
          </a:xfrm>
          <a:prstGeom prst="rect">
            <a:avLst/>
          </a:prstGeom>
          <a:noFill/>
        </p:spPr>
        <p:txBody>
          <a:bodyPr wrap="none" lIns="0" tIns="0" rIns="0" bIns="0" anchor="ctr">
            <a:spAutoFit/>
          </a:bodyPr>
          <a:lstStyle/>
          <a:p>
            <a:pPr algn="l"/>
            <a:r>
              <a:rPr sz="819" b="0" i="0">
                <a:solidFill>
                  <a:srgbClr val="BBCCEE"/>
                </a:solidFill>
                <a:latin typeface="맑은 고딕"/>
              </a:rPr>
              <a:t>· 지연(latency)·재시도 횟수</a:t>
            </a:r>
          </a:p>
        </p:txBody>
      </p:sp>
      <p:sp>
        <p:nvSpPr>
          <p:cNvPr id="24" name="TextBox 23"/>
          <p:cNvSpPr txBox="1"/>
          <p:nvPr/>
        </p:nvSpPr>
        <p:spPr>
          <a:xfrm>
            <a:off x="4563587" y="3727179"/>
            <a:ext cx="5949696" cy="197827"/>
          </a:xfrm>
          <a:prstGeom prst="rect">
            <a:avLst/>
          </a:prstGeom>
          <a:noFill/>
        </p:spPr>
        <p:txBody>
          <a:bodyPr wrap="none" lIns="0" tIns="0" rIns="0" bIns="0" anchor="ctr">
            <a:spAutoFit/>
          </a:bodyPr>
          <a:lstStyle/>
          <a:p>
            <a:pPr algn="l"/>
            <a:r>
              <a:rPr sz="819" b="0" i="0">
                <a:solidFill>
                  <a:srgbClr val="BBCCEE"/>
                </a:solidFill>
                <a:latin typeface="맑은 고딕"/>
              </a:rPr>
              <a:t>· @traceable 로 단계별 트레이스</a:t>
            </a:r>
          </a:p>
        </p:txBody>
      </p:sp>
      <p:sp>
        <p:nvSpPr>
          <p:cNvPr id="25" name="TextBox 24"/>
          <p:cNvSpPr txBox="1"/>
          <p:nvPr/>
        </p:nvSpPr>
        <p:spPr>
          <a:xfrm>
            <a:off x="4563587" y="4024292"/>
            <a:ext cx="5949696" cy="183696"/>
          </a:xfrm>
          <a:prstGeom prst="rect">
            <a:avLst/>
          </a:prstGeom>
          <a:noFill/>
        </p:spPr>
        <p:txBody>
          <a:bodyPr wrap="none" lIns="0" tIns="0" rIns="0" bIns="0" anchor="ctr">
            <a:spAutoFit/>
          </a:bodyPr>
          <a:lstStyle/>
          <a:p>
            <a:pPr algn="l"/>
            <a:r>
              <a:rPr sz="760" b="0" i="1">
                <a:solidFill>
                  <a:srgbClr val="8097C8"/>
                </a:solidFill>
                <a:latin typeface="맑은 고딕"/>
              </a:rPr>
              <a:t>추적 OFF면 원본 클라이언트 그대로 (무비용)</a:t>
            </a:r>
          </a:p>
        </p:txBody>
      </p:sp>
      <p:cxnSp>
        <p:nvCxnSpPr>
          <p:cNvPr id="26" name="Connector 25"/>
          <p:cNvCxnSpPr/>
          <p:nvPr/>
        </p:nvCxnSpPr>
        <p:spPr>
          <a:xfrm>
            <a:off x="7553309" y="3476548"/>
            <a:ext cx="624718" cy="0"/>
          </a:xfrm>
          <a:prstGeom prst="line">
            <a:avLst/>
          </a:prstGeom>
          <a:ln w="22311">
            <a:solidFill>
              <a:srgbClr val="5A6B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244961" y="2591531"/>
            <a:ext cx="2959973" cy="1770034"/>
          </a:xfrm>
          <a:prstGeom prst="roundRect">
            <a:avLst>
              <a:gd name="adj" fmla="val 5882"/>
            </a:avLst>
          </a:prstGeom>
          <a:solidFill>
            <a:srgbClr val="FFFFFF"/>
          </a:solidFill>
          <a:ln w="14874">
            <a:solidFill>
              <a:srgbClr val="065A8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8" name="TextBox 27"/>
          <p:cNvSpPr txBox="1"/>
          <p:nvPr/>
        </p:nvSpPr>
        <p:spPr>
          <a:xfrm>
            <a:off x="6746382" y="2697882"/>
            <a:ext cx="5949696" cy="226088"/>
          </a:xfrm>
          <a:prstGeom prst="rect">
            <a:avLst/>
          </a:prstGeom>
          <a:noFill/>
        </p:spPr>
        <p:txBody>
          <a:bodyPr wrap="none" lIns="0" tIns="0" rIns="0" bIns="0" anchor="ctr">
            <a:spAutoFit/>
          </a:bodyPr>
          <a:lstStyle/>
          <a:p>
            <a:pPr algn="ctr"/>
            <a:r>
              <a:rPr sz="940" b="1" i="0">
                <a:solidFill>
                  <a:srgbClr val="065A82"/>
                </a:solidFill>
                <a:latin typeface="맑은 고딕"/>
              </a:rPr>
              <a:t>run 메타데이터 태깅</a:t>
            </a:r>
          </a:p>
        </p:txBody>
      </p:sp>
      <p:sp>
        <p:nvSpPr>
          <p:cNvPr id="29" name="TextBox 28"/>
          <p:cNvSpPr txBox="1"/>
          <p:nvPr/>
        </p:nvSpPr>
        <p:spPr>
          <a:xfrm>
            <a:off x="8423452" y="3020653"/>
            <a:ext cx="5949696" cy="197827"/>
          </a:xfrm>
          <a:prstGeom prst="rect">
            <a:avLst/>
          </a:prstGeom>
          <a:noFill/>
        </p:spPr>
        <p:txBody>
          <a:bodyPr wrap="none" lIns="0" tIns="0" rIns="0" bIns="0" anchor="ctr">
            <a:spAutoFit/>
          </a:bodyPr>
          <a:lstStyle/>
          <a:p>
            <a:pPr algn="l"/>
            <a:r>
              <a:rPr sz="819" b="0" i="0">
                <a:solidFill>
                  <a:srgbClr val="262F47"/>
                </a:solidFill>
                <a:latin typeface="맑은 고딕"/>
              </a:rPr>
              <a:t>_tag_langsmith_run(</a:t>
            </a:r>
          </a:p>
        </p:txBody>
      </p:sp>
      <p:sp>
        <p:nvSpPr>
          <p:cNvPr id="30" name="TextBox 29"/>
          <p:cNvSpPr txBox="1"/>
          <p:nvPr/>
        </p:nvSpPr>
        <p:spPr>
          <a:xfrm>
            <a:off x="8579632" y="3228892"/>
            <a:ext cx="5949696" cy="197827"/>
          </a:xfrm>
          <a:prstGeom prst="rect">
            <a:avLst/>
          </a:prstGeom>
          <a:noFill/>
        </p:spPr>
        <p:txBody>
          <a:bodyPr wrap="none" lIns="0" tIns="0" rIns="0" bIns="0" anchor="ctr">
            <a:spAutoFit/>
          </a:bodyPr>
          <a:lstStyle/>
          <a:p>
            <a:pPr algn="l"/>
            <a:r>
              <a:rPr sz="819" b="0" i="0">
                <a:solidFill>
                  <a:srgbClr val="0B5D84"/>
                </a:solidFill>
                <a:latin typeface="맑은 고딕"/>
              </a:rPr>
              <a:t>project_id, meeting_id )</a:t>
            </a:r>
          </a:p>
        </p:txBody>
      </p:sp>
      <p:sp>
        <p:nvSpPr>
          <p:cNvPr id="31" name="TextBox 30"/>
          <p:cNvSpPr txBox="1"/>
          <p:nvPr/>
        </p:nvSpPr>
        <p:spPr>
          <a:xfrm>
            <a:off x="8423452" y="3522658"/>
            <a:ext cx="5949696" cy="197827"/>
          </a:xfrm>
          <a:prstGeom prst="rect">
            <a:avLst/>
          </a:prstGeom>
          <a:noFill/>
        </p:spPr>
        <p:txBody>
          <a:bodyPr wrap="none" lIns="0" tIns="0" rIns="0" bIns="0" anchor="ctr">
            <a:spAutoFit/>
          </a:bodyPr>
          <a:lstStyle/>
          <a:p>
            <a:pPr algn="l"/>
            <a:r>
              <a:rPr sz="819" b="0" i="0">
                <a:solidFill>
                  <a:srgbClr val="707F9B"/>
                </a:solidFill>
                <a:latin typeface="맑은 고딕"/>
              </a:rPr>
              <a:t>→ 어느 과목·회의가</a:t>
            </a:r>
          </a:p>
        </p:txBody>
      </p:sp>
      <p:sp>
        <p:nvSpPr>
          <p:cNvPr id="32" name="TextBox 31"/>
          <p:cNvSpPr txBox="1"/>
          <p:nvPr/>
        </p:nvSpPr>
        <p:spPr>
          <a:xfrm>
            <a:off x="8430889" y="3708215"/>
            <a:ext cx="5949696" cy="183696"/>
          </a:xfrm>
          <a:prstGeom prst="rect">
            <a:avLst/>
          </a:prstGeom>
          <a:noFill/>
        </p:spPr>
        <p:txBody>
          <a:bodyPr wrap="none" lIns="0" tIns="0" rIns="0" bIns="0" anchor="ctr">
            <a:spAutoFit/>
          </a:bodyPr>
          <a:lstStyle/>
          <a:p>
            <a:pPr algn="l"/>
            <a:r>
              <a:rPr sz="760" b="0" i="0">
                <a:solidFill>
                  <a:srgbClr val="707F9B"/>
                </a:solidFill>
                <a:latin typeface="맑은 고딕"/>
              </a:rPr>
              <a:t>토큰을 얼마나 썼는지</a:t>
            </a:r>
          </a:p>
        </p:txBody>
      </p:sp>
      <p:sp>
        <p:nvSpPr>
          <p:cNvPr id="33" name="TextBox 32"/>
          <p:cNvSpPr txBox="1"/>
          <p:nvPr/>
        </p:nvSpPr>
        <p:spPr>
          <a:xfrm>
            <a:off x="8430889" y="3879640"/>
            <a:ext cx="5949696" cy="197827"/>
          </a:xfrm>
          <a:prstGeom prst="rect">
            <a:avLst/>
          </a:prstGeom>
          <a:noFill/>
        </p:spPr>
        <p:txBody>
          <a:bodyPr wrap="none" lIns="0" tIns="0" rIns="0" bIns="0" anchor="ctr">
            <a:spAutoFit/>
          </a:bodyPr>
          <a:lstStyle/>
          <a:p>
            <a:pPr algn="l"/>
            <a:r>
              <a:rPr sz="819" b="0" i="0">
                <a:solidFill>
                  <a:srgbClr val="6A7997"/>
                </a:solidFill>
                <a:latin typeface="맑은 고딕"/>
              </a:rPr>
              <a:t>분해해서 조회 가능</a:t>
            </a:r>
          </a:p>
        </p:txBody>
      </p:sp>
      <p:sp>
        <p:nvSpPr>
          <p:cNvPr id="34" name="TextBox 33"/>
          <p:cNvSpPr txBox="1"/>
          <p:nvPr/>
        </p:nvSpPr>
        <p:spPr>
          <a:xfrm>
            <a:off x="8430889" y="4128412"/>
            <a:ext cx="5949696" cy="183696"/>
          </a:xfrm>
          <a:prstGeom prst="rect">
            <a:avLst/>
          </a:prstGeom>
          <a:noFill/>
        </p:spPr>
        <p:txBody>
          <a:bodyPr wrap="none" lIns="0" tIns="0" rIns="0" bIns="0" anchor="ctr">
            <a:spAutoFit/>
          </a:bodyPr>
          <a:lstStyle/>
          <a:p>
            <a:pPr algn="l"/>
            <a:r>
              <a:rPr sz="760" b="0" i="1">
                <a:solidFill>
                  <a:srgbClr val="408F56"/>
                </a:solidFill>
                <a:latin typeface="맑은 고딕"/>
              </a:rPr>
              <a:t>관측 실패가 본 기능을 막지 않음</a:t>
            </a:r>
          </a:p>
        </p:txBody>
      </p:sp>
      <p:sp>
        <p:nvSpPr>
          <p:cNvPr id="35" name="Rounded Rectangle 34"/>
          <p:cNvSpPr/>
          <p:nvPr/>
        </p:nvSpPr>
        <p:spPr>
          <a:xfrm>
            <a:off x="956584" y="4822667"/>
            <a:ext cx="10248351" cy="654466"/>
          </a:xfrm>
          <a:prstGeom prst="roundRect">
            <a:avLst>
              <a:gd name="adj" fmla="val 13636"/>
            </a:avLst>
          </a:prstGeom>
          <a:solidFill>
            <a:srgbClr val="EAF1F9"/>
          </a:solidFill>
          <a:ln w="14874">
            <a:solidFill>
              <a:srgbClr val="3F7F9F"/>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6" name="TextBox 35"/>
          <p:cNvSpPr txBox="1"/>
          <p:nvPr/>
        </p:nvSpPr>
        <p:spPr>
          <a:xfrm>
            <a:off x="3102193" y="4907078"/>
            <a:ext cx="5949696" cy="240218"/>
          </a:xfrm>
          <a:prstGeom prst="rect">
            <a:avLst/>
          </a:prstGeom>
          <a:noFill/>
        </p:spPr>
        <p:txBody>
          <a:bodyPr wrap="none" lIns="0" tIns="0" rIns="0" bIns="0" anchor="ctr">
            <a:spAutoFit/>
          </a:bodyPr>
          <a:lstStyle/>
          <a:p>
            <a:pPr algn="ctr"/>
            <a:r>
              <a:rPr sz="1000" b="1" i="0">
                <a:solidFill>
                  <a:srgbClr val="065A82"/>
                </a:solidFill>
                <a:latin typeface="맑은 고딕"/>
              </a:rPr>
              <a:t>토큰 사용량을 "느낌"이 아니라 데이터로 관리</a:t>
            </a:r>
          </a:p>
        </p:txBody>
      </p:sp>
      <p:sp>
        <p:nvSpPr>
          <p:cNvPr id="37" name="TextBox 36"/>
          <p:cNvSpPr txBox="1"/>
          <p:nvPr/>
        </p:nvSpPr>
        <p:spPr>
          <a:xfrm>
            <a:off x="3109630" y="5162543"/>
            <a:ext cx="5949696" cy="197827"/>
          </a:xfrm>
          <a:prstGeom prst="rect">
            <a:avLst/>
          </a:prstGeom>
          <a:noFill/>
        </p:spPr>
        <p:txBody>
          <a:bodyPr wrap="none" lIns="0" tIns="0" rIns="0" bIns="0" anchor="ctr">
            <a:spAutoFit/>
          </a:bodyPr>
          <a:lstStyle/>
          <a:p>
            <a:pPr algn="ctr"/>
            <a:r>
              <a:rPr sz="819" b="0" i="0">
                <a:solidFill>
                  <a:srgbClr val="2C364D"/>
                </a:solidFill>
                <a:latin typeface="맑은 고딕"/>
              </a:rPr>
              <a:t>앞서 본 비용 절감(모델 선택·추론량 튜닝·부분 실패 격리)의 효과를 LangSmith 수치로 검증한다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04 · 성능 평가</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평가 항목과 데이터</a:t>
            </a:r>
            <a:endParaRPr lang="en-US" sz="3200" dirty="0"/>
          </a:p>
        </p:txBody>
      </p:sp>
      <p:sp>
        <p:nvSpPr>
          <p:cNvPr id="4" name="Shape 2"/>
          <p:cNvSpPr/>
          <p:nvPr/>
        </p:nvSpPr>
        <p:spPr>
          <a:xfrm>
            <a:off x="548640" y="1737360"/>
            <a:ext cx="5394960" cy="4434840"/>
          </a:xfrm>
          <a:prstGeom prst="roundRect">
            <a:avLst>
              <a:gd name="adj" fmla="val 2062"/>
            </a:avLst>
          </a:prstGeom>
          <a:solidFill>
            <a:srgbClr val="FFFFFF"/>
          </a:solidFill>
          <a:ln w="12700">
            <a:solidFill>
              <a:srgbClr val="D4DEEC"/>
            </a:solidFill>
            <a:prstDash val="solid"/>
          </a:ln>
        </p:spPr>
      </p:sp>
      <p:sp>
        <p:nvSpPr>
          <p:cNvPr id="5" name="Shape 3"/>
          <p:cNvSpPr/>
          <p:nvPr/>
        </p:nvSpPr>
        <p:spPr>
          <a:xfrm>
            <a:off x="822960" y="1965960"/>
            <a:ext cx="2377440" cy="457200"/>
          </a:xfrm>
          <a:prstGeom prst="roundRect">
            <a:avLst>
              <a:gd name="adj" fmla="val 16000"/>
            </a:avLst>
          </a:prstGeom>
          <a:solidFill>
            <a:srgbClr val="1E2761"/>
          </a:solidFill>
          <a:ln/>
        </p:spPr>
      </p:sp>
      <p:sp>
        <p:nvSpPr>
          <p:cNvPr id="6" name="Text 4"/>
          <p:cNvSpPr/>
          <p:nvPr/>
        </p:nvSpPr>
        <p:spPr>
          <a:xfrm>
            <a:off x="822960" y="1965960"/>
            <a:ext cx="23774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STT 성능 평가</a:t>
            </a:r>
            <a:endParaRPr lang="en-US" sz="1300" dirty="0"/>
          </a:p>
        </p:txBody>
      </p:sp>
      <p:sp>
        <p:nvSpPr>
          <p:cNvPr id="7" name="Text 5"/>
          <p:cNvSpPr/>
          <p:nvPr/>
        </p:nvSpPr>
        <p:spPr>
          <a:xfrm>
            <a:off x="822960" y="2560320"/>
            <a:ext cx="4846320" cy="365760"/>
          </a:xfrm>
          <a:prstGeom prst="rect">
            <a:avLst/>
          </a:prstGeom>
          <a:noFill/>
          <a:ln/>
        </p:spPr>
        <p:txBody>
          <a:bodyPr wrap="square" lIns="0" tIns="0" rIns="0" bIns="0" rtlCol="0" anchor="ctr"/>
          <a:lstStyle/>
          <a:p>
            <a:pPr marL="0" indent="0">
              <a:buNone/>
            </a:pPr>
            <a:r>
              <a:rPr lang="en-US" sz="1900" b="1" dirty="0">
                <a:solidFill>
                  <a:srgbClr val="16203A"/>
                </a:solidFill>
                <a:latin typeface="Cambria" pitchFamily="34" charset="0"/>
                <a:ea typeface="Cambria" pitchFamily="34" charset="-122"/>
                <a:cs typeface="Cambria" pitchFamily="34" charset="-120"/>
              </a:rPr>
              <a:t>국회 골든 데이터셋</a:t>
            </a:r>
            <a:endParaRPr lang="en-US" sz="1900" dirty="0"/>
          </a:p>
        </p:txBody>
      </p:sp>
      <p:sp>
        <p:nvSpPr>
          <p:cNvPr id="8" name="Shape 6"/>
          <p:cNvSpPr/>
          <p:nvPr/>
        </p:nvSpPr>
        <p:spPr>
          <a:xfrm>
            <a:off x="822960" y="3072384"/>
            <a:ext cx="384048" cy="384048"/>
          </a:xfrm>
          <a:prstGeom prst="ellipse">
            <a:avLst/>
          </a:prstGeom>
          <a:solidFill>
            <a:srgbClr val="065A82"/>
          </a:solidFill>
          <a:ln/>
        </p:spPr>
      </p:sp>
      <p:sp>
        <p:nvSpPr>
          <p:cNvPr id="9" name="Text 7"/>
          <p:cNvSpPr/>
          <p:nvPr/>
        </p:nvSpPr>
        <p:spPr>
          <a:xfrm>
            <a:off x="822960" y="30723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1389888" y="3017520"/>
            <a:ext cx="4279392" cy="868680"/>
          </a:xfrm>
          <a:prstGeom prst="rect">
            <a:avLst/>
          </a:prstGeom>
          <a:noFill/>
          <a:ln/>
        </p:spPr>
        <p:txBody>
          <a:bodyPr wrap="square" lIns="0" tIns="0" rIns="0" bIns="0" rtlCol="0" anchor="ctr"/>
          <a:lstStyle/>
          <a:p>
            <a:pPr marL="0" indent="0" algn="l">
              <a:lnSpc>
                <a:spcPct val="100000"/>
              </a:lnSpc>
              <a:buNone/>
            </a:pPr>
            <a:r>
              <a:rPr lang="en-US" sz="1500" b="1" dirty="0">
                <a:solidFill>
                  <a:srgbClr val="16203A"/>
                </a:solidFill>
                <a:latin typeface="Calibri" pitchFamily="34" charset="0"/>
                <a:ea typeface="Calibri" pitchFamily="34" charset="-122"/>
                <a:cs typeface="Calibri" pitchFamily="34" charset="-120"/>
              </a:rPr>
              <a:t>위원회 회의 9개 · 약 7시간 57분
</a:t>
            </a:r>
            <a:r>
              <a:rPr lang="en-US" sz="1300" dirty="0">
                <a:solidFill>
                  <a:srgbClr val="5A6B8C"/>
                </a:solidFill>
                <a:latin typeface="Calibri" pitchFamily="34" charset="0"/>
                <a:ea typeface="Calibri" pitchFamily="34" charset="-122"/>
                <a:cs typeface="Calibri" pitchFamily="34" charset="-120"/>
              </a:rPr>
              <a:t>화자 1~23인, 국회사무처 공식 회의록 대조</a:t>
            </a:r>
            <a:endParaRPr lang="en-US" sz="1500" dirty="0"/>
          </a:p>
        </p:txBody>
      </p:sp>
      <p:sp>
        <p:nvSpPr>
          <p:cNvPr id="11" name="Shape 9"/>
          <p:cNvSpPr/>
          <p:nvPr/>
        </p:nvSpPr>
        <p:spPr>
          <a:xfrm>
            <a:off x="822960" y="4050792"/>
            <a:ext cx="384048" cy="384048"/>
          </a:xfrm>
          <a:prstGeom prst="ellipse">
            <a:avLst/>
          </a:prstGeom>
          <a:solidFill>
            <a:srgbClr val="065A82"/>
          </a:solidFill>
          <a:ln/>
        </p:spPr>
      </p:sp>
      <p:sp>
        <p:nvSpPr>
          <p:cNvPr id="12" name="Text 10"/>
          <p:cNvSpPr/>
          <p:nvPr/>
        </p:nvSpPr>
        <p:spPr>
          <a:xfrm>
            <a:off x="822960" y="40507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1389888" y="3995928"/>
            <a:ext cx="4279392" cy="868680"/>
          </a:xfrm>
          <a:prstGeom prst="rect">
            <a:avLst/>
          </a:prstGeom>
          <a:noFill/>
          <a:ln/>
        </p:spPr>
        <p:txBody>
          <a:bodyPr wrap="square" lIns="0" tIns="0" rIns="0" bIns="0" rtlCol="0" anchor="ctr"/>
          <a:lstStyle/>
          <a:p>
            <a:pPr marL="0" indent="0" algn="l">
              <a:lnSpc>
                <a:spcPct val="100000"/>
              </a:lnSpc>
              <a:buNone/>
            </a:pPr>
            <a:r>
              <a:rPr lang="en-US" sz="1500" b="1" dirty="0">
                <a:solidFill>
                  <a:srgbClr val="16203A"/>
                </a:solidFill>
                <a:latin typeface="Calibri" pitchFamily="34" charset="0"/>
                <a:ea typeface="Calibri" pitchFamily="34" charset="-122"/>
                <a:cs typeface="Calibri" pitchFamily="34" charset="-120"/>
              </a:rPr>
              <a:t>지표: WER · CER · 화자분리
</a:t>
            </a:r>
            <a:r>
              <a:rPr lang="en-US" sz="1300" dirty="0">
                <a:solidFill>
                  <a:srgbClr val="5A6B8C"/>
                </a:solidFill>
                <a:latin typeface="Calibri" pitchFamily="34" charset="0"/>
                <a:ea typeface="Calibri" pitchFamily="34" charset="-122"/>
                <a:cs typeface="Calibri" pitchFamily="34" charset="-120"/>
              </a:rPr>
              <a:t>어절/음절 편집거리 + 검출 화자 수 오차</a:t>
            </a:r>
            <a:endParaRPr lang="en-US" sz="1500" dirty="0"/>
          </a:p>
        </p:txBody>
      </p:sp>
      <p:sp>
        <p:nvSpPr>
          <p:cNvPr id="14" name="Shape 12"/>
          <p:cNvSpPr/>
          <p:nvPr/>
        </p:nvSpPr>
        <p:spPr>
          <a:xfrm>
            <a:off x="822960" y="5029200"/>
            <a:ext cx="384048" cy="384048"/>
          </a:xfrm>
          <a:prstGeom prst="ellipse">
            <a:avLst/>
          </a:prstGeom>
          <a:solidFill>
            <a:srgbClr val="065A82"/>
          </a:solidFill>
          <a:ln/>
        </p:spPr>
      </p:sp>
      <p:sp>
        <p:nvSpPr>
          <p:cNvPr id="15" name="Text 13"/>
          <p:cNvSpPr/>
          <p:nvPr/>
        </p:nvSpPr>
        <p:spPr>
          <a:xfrm>
            <a:off x="822960" y="5029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1389888" y="4974336"/>
            <a:ext cx="4279392" cy="868680"/>
          </a:xfrm>
          <a:prstGeom prst="rect">
            <a:avLst/>
          </a:prstGeom>
          <a:noFill/>
          <a:ln/>
        </p:spPr>
        <p:txBody>
          <a:bodyPr wrap="square" lIns="0" tIns="0" rIns="0" bIns="0" rtlCol="0" anchor="ctr"/>
          <a:lstStyle/>
          <a:p>
            <a:pPr marL="0" indent="0" algn="l">
              <a:lnSpc>
                <a:spcPct val="100000"/>
              </a:lnSpc>
              <a:buNone/>
            </a:pPr>
            <a:r>
              <a:rPr lang="en-US" sz="1500" b="1" dirty="0">
                <a:solidFill>
                  <a:srgbClr val="16203A"/>
                </a:solidFill>
                <a:latin typeface="Calibri" pitchFamily="34" charset="0"/>
                <a:ea typeface="Calibri" pitchFamily="34" charset="-122"/>
                <a:cs typeface="Calibri" pitchFamily="34" charset="-120"/>
              </a:rPr>
              <a:t>비교: CLOVA vs Soniox
</a:t>
            </a:r>
            <a:r>
              <a:rPr lang="en-US" sz="1300" dirty="0">
                <a:solidFill>
                  <a:srgbClr val="5A6B8C"/>
                </a:solidFill>
                <a:latin typeface="Calibri" pitchFamily="34" charset="0"/>
                <a:ea typeface="Calibri" pitchFamily="34" charset="-122"/>
                <a:cs typeface="Calibri" pitchFamily="34" charset="-120"/>
              </a:rPr>
              <a:t>베이스라인 조건(키워드 부스팅 미적용)</a:t>
            </a:r>
            <a:endParaRPr lang="en-US" sz="1500" dirty="0"/>
          </a:p>
        </p:txBody>
      </p:sp>
      <p:sp>
        <p:nvSpPr>
          <p:cNvPr id="17" name="Shape 15"/>
          <p:cNvSpPr/>
          <p:nvPr/>
        </p:nvSpPr>
        <p:spPr>
          <a:xfrm>
            <a:off x="6217920" y="1737360"/>
            <a:ext cx="5394960" cy="4434840"/>
          </a:xfrm>
          <a:prstGeom prst="roundRect">
            <a:avLst>
              <a:gd name="adj" fmla="val 2062"/>
            </a:avLst>
          </a:prstGeom>
          <a:solidFill>
            <a:srgbClr val="FFFFFF"/>
          </a:solidFill>
          <a:ln w="12700">
            <a:solidFill>
              <a:srgbClr val="D4DEEC"/>
            </a:solidFill>
            <a:prstDash val="solid"/>
          </a:ln>
        </p:spPr>
      </p:sp>
      <p:sp>
        <p:nvSpPr>
          <p:cNvPr id="18" name="Shape 16"/>
          <p:cNvSpPr/>
          <p:nvPr/>
        </p:nvSpPr>
        <p:spPr>
          <a:xfrm>
            <a:off x="6492240" y="1965960"/>
            <a:ext cx="2377440" cy="457200"/>
          </a:xfrm>
          <a:prstGeom prst="roundRect">
            <a:avLst>
              <a:gd name="adj" fmla="val 16000"/>
            </a:avLst>
          </a:prstGeom>
          <a:solidFill>
            <a:srgbClr val="065A82"/>
          </a:solidFill>
          <a:ln/>
        </p:spPr>
      </p:sp>
      <p:sp>
        <p:nvSpPr>
          <p:cNvPr id="19" name="Text 17"/>
          <p:cNvSpPr/>
          <p:nvPr/>
        </p:nvSpPr>
        <p:spPr>
          <a:xfrm>
            <a:off x="6492240" y="1965960"/>
            <a:ext cx="23774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RAG 품질 평가</a:t>
            </a:r>
            <a:endParaRPr lang="en-US" sz="1300" dirty="0"/>
          </a:p>
        </p:txBody>
      </p:sp>
      <p:sp>
        <p:nvSpPr>
          <p:cNvPr id="20" name="Text 18"/>
          <p:cNvSpPr/>
          <p:nvPr/>
        </p:nvSpPr>
        <p:spPr>
          <a:xfrm>
            <a:off x="6492240" y="2560320"/>
            <a:ext cx="4846320" cy="365760"/>
          </a:xfrm>
          <a:prstGeom prst="rect">
            <a:avLst/>
          </a:prstGeom>
          <a:noFill/>
          <a:ln/>
        </p:spPr>
        <p:txBody>
          <a:bodyPr wrap="square" lIns="0" tIns="0" rIns="0" bIns="0" rtlCol="0" anchor="ctr"/>
          <a:lstStyle/>
          <a:p>
            <a:pPr marL="0" indent="0">
              <a:buNone/>
            </a:pPr>
            <a:r>
              <a:rPr lang="en-US" sz="1900" b="1" dirty="0">
                <a:solidFill>
                  <a:srgbClr val="16203A"/>
                </a:solidFill>
                <a:latin typeface="Cambria" pitchFamily="34" charset="0"/>
                <a:ea typeface="Cambria" pitchFamily="34" charset="-122"/>
                <a:cs typeface="Cambria" pitchFamily="34" charset="-120"/>
              </a:rPr>
              <a:t>골드셋 49문항 (사람 검수)</a:t>
            </a:r>
            <a:endParaRPr lang="en-US" sz="1900" dirty="0"/>
          </a:p>
        </p:txBody>
      </p:sp>
      <p:sp>
        <p:nvSpPr>
          <p:cNvPr id="21" name="Shape 19"/>
          <p:cNvSpPr/>
          <p:nvPr/>
        </p:nvSpPr>
        <p:spPr>
          <a:xfrm>
            <a:off x="6492240" y="3072384"/>
            <a:ext cx="384048" cy="384048"/>
          </a:xfrm>
          <a:prstGeom prst="ellipse">
            <a:avLst/>
          </a:prstGeom>
          <a:solidFill>
            <a:srgbClr val="1C7293"/>
          </a:solidFill>
          <a:ln/>
        </p:spPr>
      </p:sp>
      <p:sp>
        <p:nvSpPr>
          <p:cNvPr id="22" name="Text 20"/>
          <p:cNvSpPr/>
          <p:nvPr/>
        </p:nvSpPr>
        <p:spPr>
          <a:xfrm>
            <a:off x="6492240" y="30723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7059168" y="3017520"/>
            <a:ext cx="4279392" cy="868680"/>
          </a:xfrm>
          <a:prstGeom prst="rect">
            <a:avLst/>
          </a:prstGeom>
          <a:noFill/>
          <a:ln/>
        </p:spPr>
        <p:txBody>
          <a:bodyPr wrap="square" lIns="0" tIns="0" rIns="0" bIns="0" rtlCol="0" anchor="ctr"/>
          <a:lstStyle/>
          <a:p>
            <a:pPr marL="0" indent="0" algn="l">
              <a:lnSpc>
                <a:spcPct val="100000"/>
              </a:lnSpc>
              <a:buNone/>
            </a:pPr>
            <a:r>
              <a:rPr lang="en-US" sz="1500" b="1" dirty="0">
                <a:solidFill>
                  <a:srgbClr val="16203A"/>
                </a:solidFill>
                <a:latin typeface="Calibri" pitchFamily="34" charset="0"/>
                <a:ea typeface="Calibri" pitchFamily="34" charset="-122"/>
                <a:cs typeface="Calibri" pitchFamily="34" charset="-120"/>
              </a:rPr>
              <a:t>코퍼스: Chapter 4 대본 5개
</a:t>
            </a:r>
            <a:r>
              <a:rPr lang="en-US" sz="1300" dirty="0">
                <a:solidFill>
                  <a:srgbClr val="5A6B8C"/>
                </a:solidFill>
                <a:latin typeface="Calibri" pitchFamily="34" charset="0"/>
                <a:ea typeface="Calibri" pitchFamily="34" charset="-122"/>
                <a:cs typeface="Calibri" pitchFamily="34" charset="-120"/>
              </a:rPr>
              <a:t>텍스트 경로 vs STT(CLOVA) 경로 대조</a:t>
            </a:r>
            <a:endParaRPr lang="en-US" sz="1500" dirty="0"/>
          </a:p>
        </p:txBody>
      </p:sp>
      <p:sp>
        <p:nvSpPr>
          <p:cNvPr id="24" name="Shape 22"/>
          <p:cNvSpPr/>
          <p:nvPr/>
        </p:nvSpPr>
        <p:spPr>
          <a:xfrm>
            <a:off x="6492240" y="4050792"/>
            <a:ext cx="384048" cy="384048"/>
          </a:xfrm>
          <a:prstGeom prst="ellipse">
            <a:avLst/>
          </a:prstGeom>
          <a:solidFill>
            <a:srgbClr val="1C7293"/>
          </a:solidFill>
          <a:ln/>
        </p:spPr>
      </p:sp>
      <p:sp>
        <p:nvSpPr>
          <p:cNvPr id="25" name="Text 23"/>
          <p:cNvSpPr/>
          <p:nvPr/>
        </p:nvSpPr>
        <p:spPr>
          <a:xfrm>
            <a:off x="6492240" y="40507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7059168" y="3995928"/>
            <a:ext cx="4279392" cy="868680"/>
          </a:xfrm>
          <a:prstGeom prst="rect">
            <a:avLst/>
          </a:prstGeom>
          <a:noFill/>
          <a:ln/>
        </p:spPr>
        <p:txBody>
          <a:bodyPr wrap="square" lIns="0" tIns="0" rIns="0" bIns="0" rtlCol="0" anchor="ctr"/>
          <a:lstStyle/>
          <a:p>
            <a:pPr marL="0" indent="0" algn="l">
              <a:lnSpc>
                <a:spcPct val="100000"/>
              </a:lnSpc>
              <a:buNone/>
            </a:pPr>
            <a:r>
              <a:rPr lang="en-US" sz="1500" b="1" dirty="0">
                <a:solidFill>
                  <a:srgbClr val="16203A"/>
                </a:solidFill>
                <a:latin typeface="Calibri" pitchFamily="34" charset="0"/>
                <a:ea typeface="Calibri" pitchFamily="34" charset="-122"/>
                <a:cs typeface="Calibri" pitchFamily="34" charset="-120"/>
              </a:rPr>
              <a:t>유형: 정의·관계·멀티홉·인과·시간
</a:t>
            </a:r>
            <a:r>
              <a:rPr lang="en-US" sz="1300" dirty="0">
                <a:solidFill>
                  <a:srgbClr val="5A6B8C"/>
                </a:solidFill>
                <a:latin typeface="Calibri" pitchFamily="34" charset="0"/>
                <a:ea typeface="Calibri" pitchFamily="34" charset="-122"/>
                <a:cs typeface="Calibri" pitchFamily="34" charset="-120"/>
              </a:rPr>
              <a:t>답변 gpt-4o-mini · judge gpt-5-mini</a:t>
            </a:r>
            <a:endParaRPr lang="en-US" sz="1500" dirty="0"/>
          </a:p>
        </p:txBody>
      </p:sp>
      <p:sp>
        <p:nvSpPr>
          <p:cNvPr id="27" name="Shape 25"/>
          <p:cNvSpPr/>
          <p:nvPr/>
        </p:nvSpPr>
        <p:spPr>
          <a:xfrm>
            <a:off x="6492240" y="5029200"/>
            <a:ext cx="384048" cy="384048"/>
          </a:xfrm>
          <a:prstGeom prst="ellipse">
            <a:avLst/>
          </a:prstGeom>
          <a:solidFill>
            <a:srgbClr val="1C7293"/>
          </a:solidFill>
          <a:ln/>
        </p:spPr>
      </p:sp>
      <p:sp>
        <p:nvSpPr>
          <p:cNvPr id="28" name="Text 26"/>
          <p:cNvSpPr/>
          <p:nvPr/>
        </p:nvSpPr>
        <p:spPr>
          <a:xfrm>
            <a:off x="6492240" y="5029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7059168" y="4974336"/>
            <a:ext cx="4279392" cy="868680"/>
          </a:xfrm>
          <a:prstGeom prst="rect">
            <a:avLst/>
          </a:prstGeom>
          <a:noFill/>
          <a:ln/>
        </p:spPr>
        <p:txBody>
          <a:bodyPr wrap="square" lIns="0" tIns="0" rIns="0" bIns="0" rtlCol="0" anchor="ctr"/>
          <a:lstStyle/>
          <a:p>
            <a:pPr marL="0" indent="0" algn="l">
              <a:lnSpc>
                <a:spcPct val="100000"/>
              </a:lnSpc>
              <a:buNone/>
            </a:pPr>
            <a:r>
              <a:rPr lang="en-US" sz="1500" b="1" dirty="0">
                <a:solidFill>
                  <a:srgbClr val="16203A"/>
                </a:solidFill>
                <a:latin typeface="Calibri" pitchFamily="34" charset="0"/>
                <a:ea typeface="Calibri" pitchFamily="34" charset="-122"/>
                <a:cs typeface="Calibri" pitchFamily="34" charset="-120"/>
              </a:rPr>
              <a:t>지표: Hit · 정답도 · 충실도 · 인용
</a:t>
            </a:r>
            <a:r>
              <a:rPr lang="en-US" sz="1300" dirty="0">
                <a:solidFill>
                  <a:srgbClr val="5A6B8C"/>
                </a:solidFill>
                <a:latin typeface="Calibri" pitchFamily="34" charset="0"/>
                <a:ea typeface="Calibri" pitchFamily="34" charset="-122"/>
                <a:cs typeface="Calibri" pitchFamily="34" charset="-120"/>
              </a:rPr>
              <a:t>기권 정확도 + 환각 주장 비율(게이트)</a:t>
            </a:r>
            <a:endParaRPr lang="en-US" sz="1500" dirty="0"/>
          </a:p>
        </p:txBody>
      </p:sp>
      <p:sp>
        <p:nvSpPr>
          <p:cNvPr id="30" name="Text 28"/>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04 · 성능 평가 — 골든셋 설계</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2900" b="1" dirty="0">
                <a:solidFill>
                  <a:srgbClr val="16203A"/>
                </a:solidFill>
                <a:latin typeface="Cambria" pitchFamily="34" charset="0"/>
                <a:ea typeface="Cambria" pitchFamily="34" charset="-122"/>
                <a:cs typeface="Cambria" pitchFamily="34" charset="-120"/>
              </a:rPr>
              <a:t>temporal 검증 — 4.5 보강본으로 이벤트 추적을 시험</a:t>
            </a:r>
            <a:endParaRPr lang="en-US" sz="2900" dirty="0"/>
          </a:p>
        </p:txBody>
      </p:sp>
      <p:sp>
        <p:nvSpPr>
          <p:cNvPr id="5" name="Text 2"/>
          <p:cNvSpPr/>
          <p:nvPr/>
        </p:nvSpPr>
        <p:spPr>
          <a:xfrm>
            <a:off x="548640" y="6263640"/>
            <a:ext cx="10972800" cy="320040"/>
          </a:xfrm>
          <a:prstGeom prst="rect">
            <a:avLst/>
          </a:prstGeom>
          <a:noFill/>
          <a:ln/>
        </p:spPr>
        <p:txBody>
          <a:bodyPr wrap="square" lIns="0" tIns="0" rIns="0" bIns="0" rtlCol="0" anchor="ctr"/>
          <a:lstStyle/>
          <a:p>
            <a:pPr marL="0" indent="0" algn="ctr">
              <a:buNone/>
            </a:pPr>
            <a:r>
              <a:rPr lang="en-US" sz="1300" i="1" dirty="0">
                <a:solidFill>
                  <a:srgbClr val="5A6B8C"/>
                </a:solidFill>
                <a:latin typeface="Calibri" pitchFamily="34" charset="0"/>
                <a:ea typeface="Calibri" pitchFamily="34" charset="-122"/>
                <a:cs typeface="Calibri" pitchFamily="34" charset="-120"/>
              </a:rPr>
              <a:t>골든셋 49문항은 사람이 검수 · 문항마다 원문 축자 인용(evidence)을 붙여 정답을 원문에 고정</a:t>
            </a:r>
            <a:endParaRPr lang="en-US" sz="1300" dirty="0"/>
          </a:p>
        </p:txBody>
      </p:sp>
      <p:sp>
        <p:nvSpPr>
          <p:cNvPr id="6" name="Text 3"/>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11</a:t>
            </a:r>
            <a:endParaRPr lang="en-US" sz="1100" dirty="0"/>
          </a:p>
        </p:txBody>
      </p:sp>
      <p:sp>
        <p:nvSpPr>
          <p:cNvPr id="7" name="TextBox 6"/>
          <p:cNvSpPr txBox="1"/>
          <p:nvPr/>
        </p:nvSpPr>
        <p:spPr>
          <a:xfrm>
            <a:off x="956584" y="1754910"/>
            <a:ext cx="5949696" cy="268480"/>
          </a:xfrm>
          <a:prstGeom prst="rect">
            <a:avLst/>
          </a:prstGeom>
          <a:noFill/>
        </p:spPr>
        <p:txBody>
          <a:bodyPr wrap="none" lIns="0" tIns="0" rIns="0" bIns="0" anchor="ctr">
            <a:spAutoFit/>
          </a:bodyPr>
          <a:lstStyle/>
          <a:p>
            <a:pPr algn="l"/>
            <a:r>
              <a:rPr sz="1110" b="1" i="0">
                <a:solidFill>
                  <a:srgbClr val="16203A"/>
                </a:solidFill>
                <a:latin typeface="맑은 고딕"/>
              </a:rPr>
              <a:t>시나리오 설계 — 시간축 위에 '값의 변경'을 심는다</a:t>
            </a:r>
          </a:p>
        </p:txBody>
      </p:sp>
      <p:sp>
        <p:nvSpPr>
          <p:cNvPr id="8" name="TextBox 7"/>
          <p:cNvSpPr txBox="1"/>
          <p:nvPr/>
        </p:nvSpPr>
        <p:spPr>
          <a:xfrm>
            <a:off x="201716" y="2292986"/>
            <a:ext cx="5949696" cy="226088"/>
          </a:xfrm>
          <a:prstGeom prst="rect">
            <a:avLst/>
          </a:prstGeom>
          <a:noFill/>
        </p:spPr>
        <p:txBody>
          <a:bodyPr wrap="none" lIns="0" tIns="0" rIns="0" bIns="0" anchor="ctr">
            <a:spAutoFit/>
          </a:bodyPr>
          <a:lstStyle/>
          <a:p>
            <a:pPr algn="ctr"/>
            <a:r>
              <a:rPr sz="940" b="1" i="0">
                <a:solidFill>
                  <a:srgbClr val="065A82"/>
                </a:solidFill>
                <a:latin typeface="맑은 고딕"/>
              </a:rPr>
              <a:t>T1 · 원래 강의</a:t>
            </a:r>
          </a:p>
        </p:txBody>
      </p:sp>
      <p:sp>
        <p:nvSpPr>
          <p:cNvPr id="9" name="TextBox 8"/>
          <p:cNvSpPr txBox="1"/>
          <p:nvPr/>
        </p:nvSpPr>
        <p:spPr>
          <a:xfrm>
            <a:off x="4214042" y="2292986"/>
            <a:ext cx="5949696" cy="226088"/>
          </a:xfrm>
          <a:prstGeom prst="rect">
            <a:avLst/>
          </a:prstGeom>
          <a:noFill/>
        </p:spPr>
        <p:txBody>
          <a:bodyPr wrap="none" lIns="0" tIns="0" rIns="0" bIns="0" anchor="ctr">
            <a:spAutoFit/>
          </a:bodyPr>
          <a:lstStyle/>
          <a:p>
            <a:pPr algn="ctr"/>
            <a:r>
              <a:rPr sz="940" b="1" i="0">
                <a:solidFill>
                  <a:srgbClr val="C77D0A"/>
                </a:solidFill>
                <a:latin typeface="맑은 고딕"/>
              </a:rPr>
              <a:t>T2 · 4.5 보강·정정공지</a:t>
            </a:r>
          </a:p>
        </p:txBody>
      </p:sp>
      <p:cxnSp>
        <p:nvCxnSpPr>
          <p:cNvPr id="10" name="Connector 9"/>
          <p:cNvCxnSpPr/>
          <p:nvPr/>
        </p:nvCxnSpPr>
        <p:spPr>
          <a:xfrm>
            <a:off x="1395374" y="2670048"/>
            <a:ext cx="9370771" cy="0"/>
          </a:xfrm>
          <a:prstGeom prst="line">
            <a:avLst/>
          </a:prstGeom>
          <a:ln w="22311">
            <a:solidFill>
              <a:srgbClr val="B8C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04166" y="2470361"/>
            <a:ext cx="5949696" cy="183696"/>
          </a:xfrm>
          <a:prstGeom prst="rect">
            <a:avLst/>
          </a:prstGeom>
          <a:noFill/>
        </p:spPr>
        <p:txBody>
          <a:bodyPr wrap="none" lIns="0" tIns="0" rIns="0" bIns="0" anchor="ctr">
            <a:spAutoFit/>
          </a:bodyPr>
          <a:lstStyle/>
          <a:p>
            <a:pPr algn="ctr"/>
            <a:r>
              <a:rPr sz="760" b="0" i="0">
                <a:solidFill>
                  <a:srgbClr val="6E7D99"/>
                </a:solidFill>
                <a:latin typeface="맑은 고딕"/>
              </a:rPr>
              <a:t>시간</a:t>
            </a:r>
          </a:p>
        </p:txBody>
      </p:sp>
      <p:sp>
        <p:nvSpPr>
          <p:cNvPr id="12" name="Oval 11"/>
          <p:cNvSpPr/>
          <p:nvPr/>
        </p:nvSpPr>
        <p:spPr>
          <a:xfrm>
            <a:off x="3098474" y="2588239"/>
            <a:ext cx="163616" cy="16361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114519" y="2588239"/>
            <a:ext cx="163616" cy="163616"/>
          </a:xfrm>
          <a:prstGeom prst="ellipse">
            <a:avLst/>
          </a:prstGeom>
          <a:solidFill>
            <a:srgbClr val="C77D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997781" y="2937784"/>
            <a:ext cx="2365004" cy="877580"/>
          </a:xfrm>
          <a:prstGeom prst="roundRect">
            <a:avLst>
              <a:gd name="adj" fmla="val 10169"/>
            </a:avLst>
          </a:prstGeom>
          <a:solidFill>
            <a:srgbClr val="FFFFFF"/>
          </a:solidFill>
          <a:ln w="14874">
            <a:solidFill>
              <a:srgbClr val="065A8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5" name="TextBox 14"/>
          <p:cNvSpPr txBox="1"/>
          <p:nvPr/>
        </p:nvSpPr>
        <p:spPr>
          <a:xfrm>
            <a:off x="201716" y="3021080"/>
            <a:ext cx="5949696" cy="197827"/>
          </a:xfrm>
          <a:prstGeom prst="rect">
            <a:avLst/>
          </a:prstGeom>
          <a:noFill/>
        </p:spPr>
        <p:txBody>
          <a:bodyPr wrap="none" lIns="0" tIns="0" rIns="0" bIns="0" anchor="ctr">
            <a:spAutoFit/>
          </a:bodyPr>
          <a:lstStyle/>
          <a:p>
            <a:pPr algn="ctr"/>
            <a:r>
              <a:rPr sz="819" b="1" i="0">
                <a:solidFill>
                  <a:srgbClr val="16203A"/>
                </a:solidFill>
                <a:latin typeface="맑은 고딕"/>
              </a:rPr>
              <a:t>개념 X = "값 A" 로 가르침</a:t>
            </a:r>
          </a:p>
        </p:txBody>
      </p:sp>
      <p:sp>
        <p:nvSpPr>
          <p:cNvPr id="16" name="TextBox 15"/>
          <p:cNvSpPr txBox="1"/>
          <p:nvPr/>
        </p:nvSpPr>
        <p:spPr>
          <a:xfrm>
            <a:off x="205435" y="3254977"/>
            <a:ext cx="5949696" cy="183696"/>
          </a:xfrm>
          <a:prstGeom prst="rect">
            <a:avLst/>
          </a:prstGeom>
          <a:noFill/>
        </p:spPr>
        <p:txBody>
          <a:bodyPr wrap="none" lIns="0" tIns="0" rIns="0" bIns="0" anchor="ctr">
            <a:spAutoFit/>
          </a:bodyPr>
          <a:lstStyle/>
          <a:p>
            <a:pPr algn="ctr"/>
            <a:r>
              <a:rPr sz="760" b="0" i="0">
                <a:solidFill>
                  <a:srgbClr val="707F9B"/>
                </a:solidFill>
                <a:latin typeface="맑은 고딕"/>
              </a:rPr>
              <a:t>예: 이 분석엔 프로빗 모형을 쓴다</a:t>
            </a:r>
          </a:p>
        </p:txBody>
      </p:sp>
      <p:sp>
        <p:nvSpPr>
          <p:cNvPr id="17" name="TextBox 16"/>
          <p:cNvSpPr txBox="1"/>
          <p:nvPr/>
        </p:nvSpPr>
        <p:spPr>
          <a:xfrm>
            <a:off x="205435" y="3552462"/>
            <a:ext cx="5949696" cy="183696"/>
          </a:xfrm>
          <a:prstGeom prst="rect">
            <a:avLst/>
          </a:prstGeom>
          <a:noFill/>
        </p:spPr>
        <p:txBody>
          <a:bodyPr wrap="none" lIns="0" tIns="0" rIns="0" bIns="0" anchor="ctr">
            <a:spAutoFit/>
          </a:bodyPr>
          <a:lstStyle/>
          <a:p>
            <a:pPr algn="ctr"/>
            <a:r>
              <a:rPr sz="760" b="0" i="0">
                <a:solidFill>
                  <a:srgbClr val="317698"/>
                </a:solidFill>
                <a:latin typeface="맑은 고딕"/>
              </a:rPr>
              <a:t>그래프에 사실로 기록</a:t>
            </a:r>
          </a:p>
        </p:txBody>
      </p:sp>
      <p:sp>
        <p:nvSpPr>
          <p:cNvPr id="18" name="Rounded Rectangle 17"/>
          <p:cNvSpPr/>
          <p:nvPr/>
        </p:nvSpPr>
        <p:spPr>
          <a:xfrm>
            <a:off x="6013825" y="2937784"/>
            <a:ext cx="2365004" cy="877580"/>
          </a:xfrm>
          <a:prstGeom prst="roundRect">
            <a:avLst>
              <a:gd name="adj" fmla="val 10169"/>
            </a:avLst>
          </a:prstGeom>
          <a:solidFill>
            <a:srgbClr val="FBF0E4"/>
          </a:solidFill>
          <a:ln w="14874">
            <a:solidFill>
              <a:srgbClr val="C77D0A"/>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19" name="TextBox 18"/>
          <p:cNvSpPr txBox="1"/>
          <p:nvPr/>
        </p:nvSpPr>
        <p:spPr>
          <a:xfrm>
            <a:off x="4214042" y="3021080"/>
            <a:ext cx="5949696" cy="197827"/>
          </a:xfrm>
          <a:prstGeom prst="rect">
            <a:avLst/>
          </a:prstGeom>
          <a:noFill/>
        </p:spPr>
        <p:txBody>
          <a:bodyPr wrap="none" lIns="0" tIns="0" rIns="0" bIns="0" anchor="ctr">
            <a:spAutoFit/>
          </a:bodyPr>
          <a:lstStyle/>
          <a:p>
            <a:pPr algn="ctr"/>
            <a:r>
              <a:rPr sz="819" b="1" i="0">
                <a:solidFill>
                  <a:srgbClr val="16203A"/>
                </a:solidFill>
                <a:latin typeface="맑은 고딕"/>
              </a:rPr>
              <a:t>X = "값 A" 를 삭제·정정</a:t>
            </a:r>
          </a:p>
        </p:txBody>
      </p:sp>
      <p:sp>
        <p:nvSpPr>
          <p:cNvPr id="20" name="TextBox 19"/>
          <p:cNvSpPr txBox="1"/>
          <p:nvPr/>
        </p:nvSpPr>
        <p:spPr>
          <a:xfrm>
            <a:off x="4217761" y="3254977"/>
            <a:ext cx="5949696" cy="183696"/>
          </a:xfrm>
          <a:prstGeom prst="rect">
            <a:avLst/>
          </a:prstGeom>
          <a:noFill/>
        </p:spPr>
        <p:txBody>
          <a:bodyPr wrap="none" lIns="0" tIns="0" rIns="0" bIns="0" anchor="ctr">
            <a:spAutoFit/>
          </a:bodyPr>
          <a:lstStyle/>
          <a:p>
            <a:pPr algn="ctr"/>
            <a:r>
              <a:rPr sz="760" b="0" i="0">
                <a:solidFill>
                  <a:srgbClr val="8A6629"/>
                </a:solidFill>
                <a:latin typeface="맑은 고딕"/>
              </a:rPr>
              <a:t>예: 정정 — 프로빗이 아니라 로짓</a:t>
            </a:r>
          </a:p>
        </p:txBody>
      </p:sp>
      <p:sp>
        <p:nvSpPr>
          <p:cNvPr id="21" name="TextBox 20"/>
          <p:cNvSpPr txBox="1"/>
          <p:nvPr/>
        </p:nvSpPr>
        <p:spPr>
          <a:xfrm>
            <a:off x="4221480" y="3552462"/>
            <a:ext cx="5949696" cy="183696"/>
          </a:xfrm>
          <a:prstGeom prst="rect">
            <a:avLst/>
          </a:prstGeom>
          <a:noFill/>
        </p:spPr>
        <p:txBody>
          <a:bodyPr wrap="none" lIns="0" tIns="0" rIns="0" bIns="0" anchor="ctr">
            <a:spAutoFit/>
          </a:bodyPr>
          <a:lstStyle/>
          <a:p>
            <a:pPr algn="ctr"/>
            <a:r>
              <a:rPr sz="760" b="0" i="0">
                <a:solidFill>
                  <a:srgbClr val="D19334"/>
                </a:solidFill>
                <a:latin typeface="맑은 고딕"/>
              </a:rPr>
              <a:t>최신 그래프엔 옛 값이 없음</a:t>
            </a:r>
          </a:p>
        </p:txBody>
      </p:sp>
      <p:cxnSp>
        <p:nvCxnSpPr>
          <p:cNvPr id="22" name="Connector 21"/>
          <p:cNvCxnSpPr/>
          <p:nvPr/>
        </p:nvCxnSpPr>
        <p:spPr>
          <a:xfrm>
            <a:off x="3180283" y="3889735"/>
            <a:ext cx="0" cy="342108"/>
          </a:xfrm>
          <a:prstGeom prst="line">
            <a:avLst/>
          </a:prstGeom>
          <a:ln w="14874">
            <a:solidFill>
              <a:srgbClr val="5A6B8C"/>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196328" y="3889735"/>
            <a:ext cx="0" cy="342108"/>
          </a:xfrm>
          <a:prstGeom prst="line">
            <a:avLst/>
          </a:prstGeom>
          <a:ln w="14874">
            <a:solidFill>
              <a:srgbClr val="5A6B8C"/>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395374" y="4269028"/>
            <a:ext cx="9370771" cy="780897"/>
          </a:xfrm>
          <a:prstGeom prst="roundRect">
            <a:avLst>
              <a:gd name="adj" fmla="val 11428"/>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5" name="TextBox 24"/>
          <p:cNvSpPr txBox="1"/>
          <p:nvPr/>
        </p:nvSpPr>
        <p:spPr>
          <a:xfrm>
            <a:off x="1625925" y="4371289"/>
            <a:ext cx="5949696" cy="211957"/>
          </a:xfrm>
          <a:prstGeom prst="rect">
            <a:avLst/>
          </a:prstGeom>
          <a:noFill/>
        </p:spPr>
        <p:txBody>
          <a:bodyPr wrap="none" lIns="0" tIns="0" rIns="0" bIns="0" anchor="ctr">
            <a:spAutoFit/>
          </a:bodyPr>
          <a:lstStyle/>
          <a:p>
            <a:pPr algn="l"/>
            <a:r>
              <a:rPr sz="880" b="1" i="0">
                <a:solidFill>
                  <a:srgbClr val="CADCFC"/>
                </a:solidFill>
                <a:latin typeface="맑은 고딕"/>
              </a:rPr>
              <a:t>historical 문항 (과거 이벤트 회수 검증)</a:t>
            </a:r>
          </a:p>
        </p:txBody>
      </p:sp>
      <p:sp>
        <p:nvSpPr>
          <p:cNvPr id="26" name="TextBox 25"/>
          <p:cNvSpPr txBox="1"/>
          <p:nvPr/>
        </p:nvSpPr>
        <p:spPr>
          <a:xfrm>
            <a:off x="1618488" y="4598121"/>
            <a:ext cx="5949696" cy="211957"/>
          </a:xfrm>
          <a:prstGeom prst="rect">
            <a:avLst/>
          </a:prstGeom>
          <a:noFill/>
        </p:spPr>
        <p:txBody>
          <a:bodyPr wrap="none" lIns="0" tIns="0" rIns="0" bIns="0" anchor="ctr">
            <a:spAutoFit/>
          </a:bodyPr>
          <a:lstStyle/>
          <a:p>
            <a:pPr algn="l"/>
            <a:r>
              <a:rPr sz="880" b="0" i="0">
                <a:solidFill>
                  <a:srgbClr val="ECEDF2"/>
                </a:solidFill>
                <a:latin typeface="맑은 고딕"/>
              </a:rPr>
              <a:t>Q. "원래(4.5 정정 전에) 이 분석에 쓰기로 한 모형은 무엇이었나?"</a:t>
            </a:r>
          </a:p>
        </p:txBody>
      </p:sp>
      <p:sp>
        <p:nvSpPr>
          <p:cNvPr id="27" name="TextBox 26"/>
          <p:cNvSpPr txBox="1"/>
          <p:nvPr/>
        </p:nvSpPr>
        <p:spPr>
          <a:xfrm>
            <a:off x="1618488" y="4790742"/>
            <a:ext cx="5949696" cy="183696"/>
          </a:xfrm>
          <a:prstGeom prst="rect">
            <a:avLst/>
          </a:prstGeom>
          <a:noFill/>
        </p:spPr>
        <p:txBody>
          <a:bodyPr wrap="none" lIns="0" tIns="0" rIns="0" bIns="0" anchor="ctr">
            <a:spAutoFit/>
          </a:bodyPr>
          <a:lstStyle/>
          <a:p>
            <a:pPr algn="l"/>
            <a:r>
              <a:rPr sz="760" b="0" i="0">
                <a:solidFill>
                  <a:srgbClr val="B2C3E6"/>
                </a:solidFill>
                <a:latin typeface="맑은 고딕"/>
              </a:rPr>
              <a:t>→ 최신 값(T2)엔 답이 없다 · 오직 과거 세션(T1)을 실제로 검색해야만 "값 A"를 답할 수 있다</a:t>
            </a:r>
          </a:p>
        </p:txBody>
      </p:sp>
      <p:sp>
        <p:nvSpPr>
          <p:cNvPr id="28" name="Rounded Rectangle 27"/>
          <p:cNvSpPr/>
          <p:nvPr/>
        </p:nvSpPr>
        <p:spPr>
          <a:xfrm>
            <a:off x="1402811" y="5280477"/>
            <a:ext cx="4521768" cy="691652"/>
          </a:xfrm>
          <a:prstGeom prst="roundRect">
            <a:avLst>
              <a:gd name="adj" fmla="val 12903"/>
            </a:avLst>
          </a:prstGeom>
          <a:solidFill>
            <a:srgbClr val="FFFFFF"/>
          </a:solidFill>
          <a:ln w="14874">
            <a:solidFill>
              <a:srgbClr val="1D7A36"/>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29" name="TextBox 28"/>
          <p:cNvSpPr txBox="1"/>
          <p:nvPr/>
        </p:nvSpPr>
        <p:spPr>
          <a:xfrm>
            <a:off x="1588739" y="5374928"/>
            <a:ext cx="5949696" cy="197827"/>
          </a:xfrm>
          <a:prstGeom prst="rect">
            <a:avLst/>
          </a:prstGeom>
          <a:noFill/>
        </p:spPr>
        <p:txBody>
          <a:bodyPr wrap="none" lIns="0" tIns="0" rIns="0" bIns="0" anchor="ctr">
            <a:spAutoFit/>
          </a:bodyPr>
          <a:lstStyle/>
          <a:p>
            <a:pPr algn="l"/>
            <a:r>
              <a:rPr sz="819" b="1" i="0">
                <a:solidFill>
                  <a:srgbClr val="1D7A36"/>
                </a:solidFill>
                <a:latin typeface="맑은 고딕"/>
              </a:rPr>
              <a:t>결과 · hit 100% (3문항 전부)</a:t>
            </a:r>
          </a:p>
        </p:txBody>
      </p:sp>
      <p:sp>
        <p:nvSpPr>
          <p:cNvPr id="30" name="TextBox 29"/>
          <p:cNvSpPr txBox="1"/>
          <p:nvPr/>
        </p:nvSpPr>
        <p:spPr>
          <a:xfrm>
            <a:off x="1588739" y="5597670"/>
            <a:ext cx="5949696" cy="183696"/>
          </a:xfrm>
          <a:prstGeom prst="rect">
            <a:avLst/>
          </a:prstGeom>
          <a:noFill/>
        </p:spPr>
        <p:txBody>
          <a:bodyPr wrap="none" lIns="0" tIns="0" rIns="0" bIns="0" anchor="ctr">
            <a:spAutoFit/>
          </a:bodyPr>
          <a:lstStyle/>
          <a:p>
            <a:pPr algn="l"/>
            <a:r>
              <a:rPr sz="760" b="0" i="0">
                <a:solidFill>
                  <a:srgbClr val="353E54"/>
                </a:solidFill>
                <a:latin typeface="맑은 고딕"/>
              </a:rPr>
              <a:t>옛 값을 지웠는데도 과거 세션을 정확히 회수</a:t>
            </a:r>
          </a:p>
        </p:txBody>
      </p:sp>
      <p:sp>
        <p:nvSpPr>
          <p:cNvPr id="31" name="TextBox 30"/>
          <p:cNvSpPr txBox="1"/>
          <p:nvPr/>
        </p:nvSpPr>
        <p:spPr>
          <a:xfrm>
            <a:off x="1581302" y="5757568"/>
            <a:ext cx="5949696" cy="183696"/>
          </a:xfrm>
          <a:prstGeom prst="rect">
            <a:avLst/>
          </a:prstGeom>
          <a:noFill/>
        </p:spPr>
        <p:txBody>
          <a:bodyPr wrap="none" lIns="0" tIns="0" rIns="0" bIns="0" anchor="ctr">
            <a:spAutoFit/>
          </a:bodyPr>
          <a:lstStyle/>
          <a:p>
            <a:pPr algn="l"/>
            <a:r>
              <a:rPr sz="760" b="0" i="0">
                <a:solidFill>
                  <a:srgbClr val="41495E"/>
                </a:solidFill>
                <a:latin typeface="맑은 고딕"/>
              </a:rPr>
              <a:t>→ 이벤트 발생·변경 이력을 올바로 추적함을 실증</a:t>
            </a:r>
          </a:p>
        </p:txBody>
      </p:sp>
      <p:sp>
        <p:nvSpPr>
          <p:cNvPr id="32" name="Rounded Rectangle 31"/>
          <p:cNvSpPr/>
          <p:nvPr/>
        </p:nvSpPr>
        <p:spPr>
          <a:xfrm>
            <a:off x="6236939" y="5280477"/>
            <a:ext cx="4521768" cy="691652"/>
          </a:xfrm>
          <a:prstGeom prst="roundRect">
            <a:avLst>
              <a:gd name="adj" fmla="val 12903"/>
            </a:avLst>
          </a:prstGeom>
          <a:solidFill>
            <a:srgbClr val="EAF1F9"/>
          </a:solidFill>
          <a:ln w="14874">
            <a:solidFill>
              <a:srgbClr val="3F7F9F"/>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endParaRPr/>
          </a:p>
        </p:txBody>
      </p:sp>
      <p:sp>
        <p:nvSpPr>
          <p:cNvPr id="33" name="TextBox 32"/>
          <p:cNvSpPr txBox="1"/>
          <p:nvPr/>
        </p:nvSpPr>
        <p:spPr>
          <a:xfrm>
            <a:off x="6422867" y="5367863"/>
            <a:ext cx="5949696" cy="211957"/>
          </a:xfrm>
          <a:prstGeom prst="rect">
            <a:avLst/>
          </a:prstGeom>
          <a:noFill/>
        </p:spPr>
        <p:txBody>
          <a:bodyPr wrap="none" lIns="0" tIns="0" rIns="0" bIns="0" anchor="ctr">
            <a:spAutoFit/>
          </a:bodyPr>
          <a:lstStyle/>
          <a:p>
            <a:pPr algn="l"/>
            <a:r>
              <a:rPr sz="880" b="1" i="0">
                <a:solidFill>
                  <a:srgbClr val="065A82"/>
                </a:solidFill>
                <a:latin typeface="맑은 고딕"/>
              </a:rPr>
              <a:t>왜 중요한가 — bi-temporal 실증</a:t>
            </a:r>
          </a:p>
        </p:txBody>
      </p:sp>
      <p:sp>
        <p:nvSpPr>
          <p:cNvPr id="34" name="TextBox 33"/>
          <p:cNvSpPr txBox="1"/>
          <p:nvPr/>
        </p:nvSpPr>
        <p:spPr>
          <a:xfrm>
            <a:off x="6422867" y="5597670"/>
            <a:ext cx="5949696" cy="183696"/>
          </a:xfrm>
          <a:prstGeom prst="rect">
            <a:avLst/>
          </a:prstGeom>
          <a:noFill/>
        </p:spPr>
        <p:txBody>
          <a:bodyPr wrap="none" lIns="0" tIns="0" rIns="0" bIns="0" anchor="ctr">
            <a:spAutoFit/>
          </a:bodyPr>
          <a:lstStyle/>
          <a:p>
            <a:pPr algn="l"/>
            <a:r>
              <a:rPr sz="760" b="0" i="0">
                <a:solidFill>
                  <a:srgbClr val="323C53"/>
                </a:solidFill>
                <a:latin typeface="맑은 고딕"/>
              </a:rPr>
              <a:t>단순 최신값 덮어쓰기였다면 과거는 사라진다</a:t>
            </a:r>
          </a:p>
        </p:txBody>
      </p:sp>
      <p:sp>
        <p:nvSpPr>
          <p:cNvPr id="35" name="TextBox 34"/>
          <p:cNvSpPr txBox="1"/>
          <p:nvPr/>
        </p:nvSpPr>
        <p:spPr>
          <a:xfrm>
            <a:off x="6415430" y="5761286"/>
            <a:ext cx="5949696" cy="183696"/>
          </a:xfrm>
          <a:prstGeom prst="rect">
            <a:avLst/>
          </a:prstGeom>
          <a:noFill/>
        </p:spPr>
        <p:txBody>
          <a:bodyPr wrap="none" lIns="0" tIns="0" rIns="0" bIns="0" anchor="ctr">
            <a:spAutoFit/>
          </a:bodyPr>
          <a:lstStyle/>
          <a:p>
            <a:pPr algn="l"/>
            <a:r>
              <a:rPr sz="760" b="0" i="0">
                <a:solidFill>
                  <a:srgbClr val="323C53"/>
                </a:solidFill>
                <a:latin typeface="맑은 고딕"/>
              </a:rPr>
              <a:t>Graphiti는 이벤트 시점·기록 시점을 함께 보존</a:t>
            </a:r>
          </a:p>
        </p:txBody>
      </p:sp>
      <p:sp>
        <p:nvSpPr>
          <p:cNvPr id="36" name="EmphasisBadge"/>
          <p:cNvSpPr/>
          <p:nvPr/>
        </p:nvSpPr>
        <p:spPr>
          <a:xfrm>
            <a:off x="7918704" y="353568"/>
            <a:ext cx="3444240" cy="377952"/>
          </a:xfrm>
          <a:prstGeom prst="roundRect">
            <a:avLst>
              <a:gd name="adj" fmla="val 50000"/>
            </a:avLst>
          </a:prstGeom>
          <a:solidFill>
            <a:srgbClr val="EAF1F9"/>
          </a:solidFill>
          <a:ln w="9144">
            <a:solidFill>
              <a:srgbClr val="065A8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065A82"/>
                </a:solidFill>
                <a:latin typeface="맑은 고딕"/>
              </a:rPr>
              <a:t>구현 차별점 ② · </a:t>
            </a:r>
            <a:r>
              <a:rPr sz="1100" b="0">
                <a:solidFill>
                  <a:srgbClr val="1C3F55"/>
                </a:solidFill>
                <a:latin typeface="맑은 고딕"/>
              </a:rPr>
              <a:t>temporal 정보를 참조할 수 있다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04 · 성능 평가 — STT</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Soniox 채택 · CLOVA 화자분리 상한 발견</a:t>
            </a:r>
            <a:endParaRPr lang="en-US" sz="3200" dirty="0"/>
          </a:p>
        </p:txBody>
      </p:sp>
      <p:graphicFrame>
        <p:nvGraphicFramePr>
          <p:cNvPr id="4" name="Chart 0"/>
          <p:cNvGraphicFramePr/>
          <p:nvPr/>
        </p:nvGraphicFramePr>
        <p:xfrm>
          <a:off x="548640" y="1828800"/>
          <a:ext cx="54864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309360" y="1828800"/>
            <a:ext cx="5303520" cy="1828800"/>
          </a:xfrm>
          <a:prstGeom prst="roundRect">
            <a:avLst>
              <a:gd name="adj" fmla="val 5000"/>
            </a:avLst>
          </a:prstGeom>
          <a:solidFill>
            <a:srgbClr val="FFFFFF"/>
          </a:solidFill>
          <a:ln w="12700">
            <a:solidFill>
              <a:srgbClr val="D4DEEC"/>
            </a:solidFill>
            <a:prstDash val="solid"/>
          </a:ln>
        </p:spPr>
      </p:sp>
      <p:sp>
        <p:nvSpPr>
          <p:cNvPr id="6" name="Text 3"/>
          <p:cNvSpPr/>
          <p:nvPr/>
        </p:nvSpPr>
        <p:spPr>
          <a:xfrm>
            <a:off x="6537960" y="1947672"/>
            <a:ext cx="4892040" cy="1600200"/>
          </a:xfrm>
          <a:prstGeom prst="rect">
            <a:avLst/>
          </a:prstGeom>
          <a:noFill/>
          <a:ln/>
        </p:spPr>
        <p:txBody>
          <a:bodyPr wrap="square" lIns="0" tIns="0" rIns="0" bIns="0" rtlCol="0" anchor="ctr"/>
          <a:lstStyle/>
          <a:p>
            <a:pPr marL="0" indent="0" algn="l">
              <a:lnSpc>
                <a:spcPct val="104000"/>
              </a:lnSpc>
              <a:buNone/>
            </a:pPr>
            <a:r>
              <a:rPr lang="en-US" sz="1550" b="1" dirty="0">
                <a:solidFill>
                  <a:srgbClr val="065A82"/>
                </a:solidFill>
                <a:latin typeface="Calibri" pitchFamily="34" charset="0"/>
                <a:ea typeface="Calibri" pitchFamily="34" charset="-122"/>
                <a:cs typeface="Calibri" pitchFamily="34" charset="-120"/>
              </a:rPr>
              <a:t>발견 1 · Soniox 전면 우세 → 비용 근거
</a:t>
            </a:r>
            <a:r>
              <a:rPr lang="en-US" sz="1300" dirty="0">
                <a:solidFill>
                  <a:srgbClr val="5A6B8C"/>
                </a:solidFill>
                <a:latin typeface="Calibri" pitchFamily="34" charset="0"/>
                <a:ea typeface="Calibri" pitchFamily="34" charset="-122"/>
                <a:cs typeface="Calibri" pitchFamily="34" charset="-120"/>
              </a:rPr>
              <a:t>WER 9개 중 8개, CER 9개 중 7개에서 Soniox 우세. 더 정확한 엔진 선택은 오전사·재작업을 줄여 하류 LLM 호출까지 절감 — 유료 API 비용을 상쇄하는 근거.</a:t>
            </a:r>
            <a:endParaRPr lang="en-US" sz="1550" dirty="0"/>
          </a:p>
        </p:txBody>
      </p:sp>
      <p:sp>
        <p:nvSpPr>
          <p:cNvPr id="7" name="Shape 4"/>
          <p:cNvSpPr/>
          <p:nvPr/>
        </p:nvSpPr>
        <p:spPr>
          <a:xfrm>
            <a:off x="6309360" y="3840480"/>
            <a:ext cx="5303520" cy="1828800"/>
          </a:xfrm>
          <a:prstGeom prst="roundRect">
            <a:avLst>
              <a:gd name="adj" fmla="val 5000"/>
            </a:avLst>
          </a:prstGeom>
          <a:solidFill>
            <a:srgbClr val="FBF0E4"/>
          </a:solidFill>
          <a:ln w="15240">
            <a:solidFill>
              <a:srgbClr val="C77D0A"/>
            </a:solidFill>
            <a:prstDash val="solid"/>
          </a:ln>
        </p:spPr>
      </p:sp>
      <p:sp>
        <p:nvSpPr>
          <p:cNvPr id="8" name="Text 5"/>
          <p:cNvSpPr/>
          <p:nvPr/>
        </p:nvSpPr>
        <p:spPr>
          <a:xfrm>
            <a:off x="6537960" y="3959352"/>
            <a:ext cx="4892040" cy="1600200"/>
          </a:xfrm>
          <a:prstGeom prst="rect">
            <a:avLst/>
          </a:prstGeom>
          <a:noFill/>
          <a:ln/>
        </p:spPr>
        <p:txBody>
          <a:bodyPr wrap="square" lIns="0" tIns="0" rIns="0" bIns="0" rtlCol="0" anchor="ctr"/>
          <a:lstStyle/>
          <a:p>
            <a:pPr marL="0" indent="0" algn="l">
              <a:lnSpc>
                <a:spcPct val="104000"/>
              </a:lnSpc>
              <a:buNone/>
            </a:pPr>
            <a:r>
              <a:rPr lang="en-US" sz="1550" b="1" dirty="0">
                <a:solidFill>
                  <a:srgbClr val="C77D0A"/>
                </a:solidFill>
                <a:latin typeface="Calibri" pitchFamily="34" charset="0"/>
                <a:ea typeface="Calibri" pitchFamily="34" charset="-122"/>
                <a:cs typeface="Calibri" pitchFamily="34" charset="-120"/>
              </a:rPr>
              <a:t>발견 2 · CLOVA 화자분리 10명 상한 의심
</a:t>
            </a:r>
            <a:r>
              <a:rPr lang="en-US" sz="1300" dirty="0">
                <a:solidFill>
                  <a:srgbClr val="7A5410"/>
                </a:solidFill>
                <a:latin typeface="Calibri" pitchFamily="34" charset="0"/>
                <a:ea typeface="Calibri" pitchFamily="34" charset="-122"/>
                <a:cs typeface="Calibri" pitchFamily="34" charset="-120"/>
              </a:rPr>
              <a:t>검증된 8개 데이터셋 전부에서 검출 화자 수가 10을 넘지 않음. 12~15명 회의는 예외 없이 정확히 10으로 잘림 — 우연으로 보기 어려운 패턴. 화자 많은 회의엔 별도 검증 필요.</a:t>
            </a:r>
            <a:endParaRPr lang="en-US" sz="1550" dirty="0"/>
          </a:p>
        </p:txBody>
      </p:sp>
      <p:sp>
        <p:nvSpPr>
          <p:cNvPr id="9" name="Shape 6"/>
          <p:cNvSpPr/>
          <p:nvPr/>
        </p:nvSpPr>
        <p:spPr>
          <a:xfrm>
            <a:off x="548640" y="5989320"/>
            <a:ext cx="11064240" cy="548640"/>
          </a:xfrm>
          <a:prstGeom prst="roundRect">
            <a:avLst>
              <a:gd name="adj" fmla="val 11667"/>
            </a:avLst>
          </a:prstGeom>
          <a:solidFill>
            <a:srgbClr val="EAF1F9"/>
          </a:solidFill>
          <a:ln w="12700">
            <a:solidFill>
              <a:srgbClr val="065A82"/>
            </a:solidFill>
            <a:prstDash val="solid"/>
          </a:ln>
        </p:spPr>
      </p:sp>
      <p:sp>
        <p:nvSpPr>
          <p:cNvPr id="10" name="Text 7"/>
          <p:cNvSpPr/>
          <p:nvPr/>
        </p:nvSpPr>
        <p:spPr>
          <a:xfrm>
            <a:off x="777240" y="6035040"/>
            <a:ext cx="10607040" cy="457200"/>
          </a:xfrm>
          <a:prstGeom prst="rect">
            <a:avLst/>
          </a:prstGeom>
          <a:noFill/>
          <a:ln/>
        </p:spPr>
        <p:txBody>
          <a:bodyPr wrap="square" lIns="0" tIns="0" rIns="0" bIns="0" rtlCol="0" anchor="ctr"/>
          <a:lstStyle/>
          <a:p>
            <a:pPr marL="0" indent="0" algn="l">
              <a:buNone/>
            </a:pPr>
            <a:r>
              <a:rPr lang="en-US" sz="1300" b="1" dirty="0">
                <a:solidFill>
                  <a:srgbClr val="065A82"/>
                </a:solidFill>
                <a:latin typeface="Calibri" pitchFamily="34" charset="0"/>
                <a:ea typeface="Calibri" pitchFamily="34" charset="-122"/>
                <a:cs typeface="Calibri" pitchFamily="34" charset="-120"/>
              </a:rPr>
              <a:t>비용 관점  </a:t>
            </a:r>
            <a:r>
              <a:rPr lang="en-US" sz="1250" dirty="0">
                <a:solidFill>
                  <a:srgbClr val="16203A"/>
                </a:solidFill>
                <a:latin typeface="Calibri" pitchFamily="34" charset="0"/>
                <a:ea typeface="Calibri" pitchFamily="34" charset="-122"/>
                <a:cs typeface="Calibri" pitchFamily="34" charset="-120"/>
              </a:rPr>
              <a:t>이 모델별 비교가 "왜 유료 외부 API인가"의 답 — 무료 대안이 품질을 못 맞추는 상황에서, 가장 정확한 엔진을 골라 재작업 비용까지 낮췄다.</a:t>
            </a:r>
            <a:endParaRPr lang="en-US" sz="1300" dirty="0"/>
          </a:p>
        </p:txBody>
      </p:sp>
      <p:sp>
        <p:nvSpPr>
          <p:cNvPr id="11" name="Text 8"/>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04 · 성능 평가 — RAG</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E2E — 텍스트 vs STT 경로, 핵심 발견</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394960" cy="2706624"/>
        </p:xfrm>
        <a:graphic>
          <a:graphicData uri="http://schemas.openxmlformats.org/drawingml/2006/table">
            <a:tbl>
              <a:tblPr/>
              <a:tblGrid>
                <a:gridCol w="2468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20624">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지표</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텍스트</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STT(CLOVA)</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Hit (엄격)</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98%</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98%</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정답도 (5점)</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4.07</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4.11</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충실도</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76%</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74%</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인용 Precision</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95%</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84%</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457200">
                <a:tc>
                  <a:txBody>
                    <a:bodyPr/>
                    <a:lstStyle/>
                    <a:p>
                      <a:pPr marL="0" indent="0" algn="l">
                        <a:buNone/>
                      </a:pPr>
                      <a:r>
                        <a:rPr lang="en-US" sz="1400" b="1" dirty="0">
                          <a:solidFill>
                            <a:srgbClr val="16203A"/>
                          </a:solidFill>
                          <a:latin typeface="Calibri" pitchFamily="34" charset="0"/>
                          <a:ea typeface="Calibri" pitchFamily="34" charset="-122"/>
                          <a:cs typeface="Calibri" pitchFamily="34" charset="-120"/>
                        </a:rPr>
                        <a:t>historical hit</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6203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63500" marT="38100" marB="38100" anchor="ctr">
                    <a:lnL w="12700" cap="flat" cmpd="sng" algn="ctr">
                      <a:solidFill>
                        <a:srgbClr val="D4DEEC"/>
                      </a:solidFill>
                      <a:prstDash val="solid"/>
                      <a:round/>
                      <a:headEnd type="none" w="med" len="med"/>
                      <a:tailEnd type="none" w="med" len="med"/>
                    </a:lnL>
                    <a:lnR w="12700" cap="flat" cmpd="sng" algn="ctr">
                      <a:solidFill>
                        <a:srgbClr val="D4DEEC"/>
                      </a:solidFill>
                      <a:prstDash val="solid"/>
                      <a:round/>
                      <a:headEnd type="none" w="med" len="med"/>
                      <a:tailEnd type="none" w="med" len="med"/>
                    </a:lnR>
                    <a:lnT w="12700" cap="flat" cmpd="sng" algn="ctr">
                      <a:solidFill>
                        <a:srgbClr val="D4DEEC"/>
                      </a:solidFill>
                      <a:prstDash val="solid"/>
                      <a:round/>
                      <a:headEnd type="none" w="med" len="med"/>
                      <a:tailEnd type="none" w="med" len="med"/>
                    </a:lnT>
                    <a:lnB w="12700" cap="flat" cmpd="sng" algn="ctr">
                      <a:solidFill>
                        <a:srgbClr val="D4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4800600"/>
            <a:ext cx="5394960" cy="548640"/>
          </a:xfrm>
          <a:prstGeom prst="rect">
            <a:avLst/>
          </a:prstGeom>
          <a:noFill/>
          <a:ln/>
        </p:spPr>
        <p:txBody>
          <a:bodyPr wrap="square" lIns="0" tIns="0" rIns="0" bIns="0" rtlCol="0" anchor="t"/>
          <a:lstStyle/>
          <a:p>
            <a:pPr marL="0" indent="0" algn="l">
              <a:lnSpc>
                <a:spcPct val="105000"/>
              </a:lnSpc>
              <a:buNone/>
            </a:pPr>
            <a:r>
              <a:rPr lang="en-US" sz="1350" b="1" i="1" dirty="0">
                <a:solidFill>
                  <a:srgbClr val="1D7A36"/>
                </a:solidFill>
                <a:latin typeface="Calibri" pitchFamily="34" charset="0"/>
                <a:ea typeface="Calibri" pitchFamily="34" charset="-122"/>
                <a:cs typeface="Calibri" pitchFamily="34" charset="-120"/>
              </a:rPr>
              <a:t>WER 17~46%에도 정답도는 사실상 동등 (4.07 vs 4.11)</a:t>
            </a:r>
            <a:endParaRPr lang="en-US" sz="1350" dirty="0"/>
          </a:p>
        </p:txBody>
      </p:sp>
      <p:sp>
        <p:nvSpPr>
          <p:cNvPr id="6" name="Shape 3"/>
          <p:cNvSpPr/>
          <p:nvPr/>
        </p:nvSpPr>
        <p:spPr>
          <a:xfrm>
            <a:off x="6217920" y="1929384"/>
            <a:ext cx="384048" cy="384048"/>
          </a:xfrm>
          <a:prstGeom prst="ellipse">
            <a:avLst/>
          </a:prstGeom>
          <a:solidFill>
            <a:srgbClr val="1D7A36"/>
          </a:solidFill>
          <a:ln/>
        </p:spPr>
      </p:sp>
      <p:sp>
        <p:nvSpPr>
          <p:cNvPr id="7" name="Text 4"/>
          <p:cNvSpPr/>
          <p:nvPr/>
        </p:nvSpPr>
        <p:spPr>
          <a:xfrm>
            <a:off x="6217920" y="19293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6784848" y="1874520"/>
            <a:ext cx="4828032" cy="1051560"/>
          </a:xfrm>
          <a:prstGeom prst="rect">
            <a:avLst/>
          </a:prstGeom>
          <a:noFill/>
          <a:ln/>
        </p:spPr>
        <p:txBody>
          <a:bodyPr wrap="square" lIns="0" tIns="0" rIns="0" bIns="0" rtlCol="0" anchor="ctr"/>
          <a:lstStyle/>
          <a:p>
            <a:pPr marL="0" indent="0" algn="l">
              <a:lnSpc>
                <a:spcPct val="100000"/>
              </a:lnSpc>
              <a:buNone/>
            </a:pPr>
            <a:r>
              <a:rPr lang="en-US" sz="1600" b="1" dirty="0">
                <a:solidFill>
                  <a:srgbClr val="16203A"/>
                </a:solidFill>
                <a:latin typeface="Calibri" pitchFamily="34" charset="0"/>
                <a:ea typeface="Calibri" pitchFamily="34" charset="-122"/>
                <a:cs typeface="Calibri" pitchFamily="34" charset="-120"/>
              </a:rPr>
              <a:t>STT 잡음을 그래프가 흡수
</a:t>
            </a:r>
            <a:r>
              <a:rPr lang="en-US" sz="1350" dirty="0">
                <a:solidFill>
                  <a:srgbClr val="5A6B8C"/>
                </a:solidFill>
                <a:latin typeface="Calibri" pitchFamily="34" charset="0"/>
                <a:ea typeface="Calibri" pitchFamily="34" charset="-122"/>
                <a:cs typeface="Calibri" pitchFamily="34" charset="-120"/>
              </a:rPr>
              <a:t>WER이 17~46%로 높아도 최종 정답도 유지 — 한글 병기 + LLM 추출의 오전사 정규화 효과</a:t>
            </a:r>
            <a:endParaRPr lang="en-US" sz="1600" dirty="0"/>
          </a:p>
        </p:txBody>
      </p:sp>
      <p:sp>
        <p:nvSpPr>
          <p:cNvPr id="9" name="Shape 6"/>
          <p:cNvSpPr/>
          <p:nvPr/>
        </p:nvSpPr>
        <p:spPr>
          <a:xfrm>
            <a:off x="6217920" y="3127248"/>
            <a:ext cx="384048" cy="384048"/>
          </a:xfrm>
          <a:prstGeom prst="ellipse">
            <a:avLst/>
          </a:prstGeom>
          <a:solidFill>
            <a:srgbClr val="065A82"/>
          </a:solidFill>
          <a:ln/>
        </p:spPr>
      </p:sp>
      <p:sp>
        <p:nvSpPr>
          <p:cNvPr id="10" name="Text 7"/>
          <p:cNvSpPr/>
          <p:nvPr/>
        </p:nvSpPr>
        <p:spPr>
          <a:xfrm>
            <a:off x="6217920" y="3127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6784848" y="3072384"/>
            <a:ext cx="4828032" cy="1051560"/>
          </a:xfrm>
          <a:prstGeom prst="rect">
            <a:avLst/>
          </a:prstGeom>
          <a:noFill/>
          <a:ln/>
        </p:spPr>
        <p:txBody>
          <a:bodyPr wrap="square" lIns="0" tIns="0" rIns="0" bIns="0" rtlCol="0" anchor="ctr"/>
          <a:lstStyle/>
          <a:p>
            <a:pPr marL="0" indent="0" algn="l">
              <a:lnSpc>
                <a:spcPct val="100000"/>
              </a:lnSpc>
              <a:buNone/>
            </a:pPr>
            <a:r>
              <a:rPr lang="en-US" sz="1600" b="1" dirty="0">
                <a:solidFill>
                  <a:srgbClr val="16203A"/>
                </a:solidFill>
                <a:latin typeface="Calibri" pitchFamily="34" charset="0"/>
                <a:ea typeface="Calibri" pitchFamily="34" charset="-122"/>
                <a:cs typeface="Calibri" pitchFamily="34" charset="-120"/>
              </a:rPr>
              <a:t>Graphiti bi-temporal 실증
</a:t>
            </a:r>
            <a:r>
              <a:rPr lang="en-US" sz="1350" dirty="0">
                <a:solidFill>
                  <a:srgbClr val="5A6B8C"/>
                </a:solidFill>
                <a:latin typeface="Calibri" pitchFamily="34" charset="0"/>
                <a:ea typeface="Calibri" pitchFamily="34" charset="-122"/>
                <a:cs typeface="Calibri" pitchFamily="34" charset="-120"/>
              </a:rPr>
              <a:t>temporal(historical) hit 100% — 보강 세션에서 옛 값을 지워도 과거 세션을 정확히 회수</a:t>
            </a:r>
            <a:endParaRPr lang="en-US" sz="1600" dirty="0"/>
          </a:p>
        </p:txBody>
      </p:sp>
      <p:sp>
        <p:nvSpPr>
          <p:cNvPr id="12" name="Shape 9"/>
          <p:cNvSpPr/>
          <p:nvPr/>
        </p:nvSpPr>
        <p:spPr>
          <a:xfrm>
            <a:off x="6217920" y="4325112"/>
            <a:ext cx="384048" cy="384048"/>
          </a:xfrm>
          <a:prstGeom prst="ellipse">
            <a:avLst/>
          </a:prstGeom>
          <a:solidFill>
            <a:srgbClr val="C77D0A"/>
          </a:solidFill>
          <a:ln/>
        </p:spPr>
      </p:sp>
      <p:sp>
        <p:nvSpPr>
          <p:cNvPr id="13" name="Text 10"/>
          <p:cNvSpPr/>
          <p:nvPr/>
        </p:nvSpPr>
        <p:spPr>
          <a:xfrm>
            <a:off x="6217920" y="43251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11"/>
          <p:cNvSpPr/>
          <p:nvPr/>
        </p:nvSpPr>
        <p:spPr>
          <a:xfrm>
            <a:off x="6784848" y="4270248"/>
            <a:ext cx="4828032" cy="1051560"/>
          </a:xfrm>
          <a:prstGeom prst="rect">
            <a:avLst/>
          </a:prstGeom>
          <a:noFill/>
          <a:ln/>
        </p:spPr>
        <p:txBody>
          <a:bodyPr wrap="square" lIns="0" tIns="0" rIns="0" bIns="0" rtlCol="0" anchor="ctr"/>
          <a:lstStyle/>
          <a:p>
            <a:pPr marL="0" indent="0" algn="l">
              <a:lnSpc>
                <a:spcPct val="100000"/>
              </a:lnSpc>
              <a:buNone/>
            </a:pPr>
            <a:r>
              <a:rPr lang="en-US" sz="1600" b="1" dirty="0">
                <a:solidFill>
                  <a:srgbClr val="16203A"/>
                </a:solidFill>
                <a:latin typeface="Calibri" pitchFamily="34" charset="0"/>
                <a:ea typeface="Calibri" pitchFamily="34" charset="-122"/>
                <a:cs typeface="Calibri" pitchFamily="34" charset="-120"/>
              </a:rPr>
              <a:t>실질 비용은 인용 신뢰성
</a:t>
            </a:r>
            <a:r>
              <a:rPr lang="en-US" sz="1350" dirty="0">
                <a:solidFill>
                  <a:srgbClr val="5A6B8C"/>
                </a:solidFill>
                <a:latin typeface="Calibri" pitchFamily="34" charset="0"/>
                <a:ea typeface="Calibri" pitchFamily="34" charset="-122"/>
                <a:cs typeface="Calibri" pitchFamily="34" charset="-120"/>
              </a:rPr>
              <a:t>STT 경로에서 인용 정확도 84%로 하락 — 오염된 fact가 인용되며 정합이 흔들림</a:t>
            </a:r>
            <a:endParaRPr lang="en-US" sz="1600" dirty="0"/>
          </a:p>
        </p:txBody>
      </p:sp>
      <p:sp>
        <p:nvSpPr>
          <p:cNvPr id="15" name="Text 12"/>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13</a:t>
            </a:r>
            <a:endParaRPr lang="en-US" sz="1100" dirty="0"/>
          </a:p>
        </p:txBody>
      </p:sp>
      <p:sp>
        <p:nvSpPr>
          <p:cNvPr id="16" name="EvalCaveat"/>
          <p:cNvSpPr txBox="1"/>
          <p:nvPr/>
        </p:nvSpPr>
        <p:spPr>
          <a:xfrm>
            <a:off x="548640" y="5943600"/>
            <a:ext cx="11064240" cy="347472"/>
          </a:xfrm>
          <a:prstGeom prst="rect">
            <a:avLst/>
          </a:prstGeom>
          <a:noFill/>
        </p:spPr>
        <p:txBody>
          <a:bodyPr wrap="square" lIns="0" tIns="0" rIns="0" bIns="0" anchor="ctr">
            <a:spAutoFit/>
          </a:bodyPr>
          <a:lstStyle/>
          <a:p>
            <a:pPr algn="ctr"/>
            <a:r>
              <a:rPr sz="1150" i="1">
                <a:solidFill>
                  <a:srgbClr val="6B7B98"/>
                </a:solidFill>
                <a:latin typeface="맑은 고딕"/>
              </a:rPr>
              <a:t>평가상 한계: 품질 게이트 보류(환각 24~26%) · temporal은 합성 시나리오 · 유형별 n ≤ 10은 경향 — 사람 교차검수로 확정 예정</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1828800"/>
            <a:ext cx="5029200" cy="5029200"/>
          </a:xfrm>
          <a:prstGeom prst="ellipse">
            <a:avLst/>
          </a:prstGeom>
          <a:solidFill>
            <a:srgbClr val="21295C"/>
          </a:solidFill>
          <a:ln/>
        </p:spPr>
      </p:sp>
      <p:sp>
        <p:nvSpPr>
          <p:cNvPr id="3" name="Text 1"/>
          <p:cNvSpPr/>
          <p:nvPr/>
        </p:nvSpPr>
        <p:spPr>
          <a:xfrm>
            <a:off x="640080" y="457200"/>
            <a:ext cx="7315200" cy="32004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05 · 발전 방향</a:t>
            </a:r>
            <a:endParaRPr lang="en-US" sz="1300" dirty="0"/>
          </a:p>
        </p:txBody>
      </p:sp>
      <p:sp>
        <p:nvSpPr>
          <p:cNvPr id="4" name="Text 2"/>
          <p:cNvSpPr/>
          <p:nvPr/>
        </p:nvSpPr>
        <p:spPr>
          <a:xfrm>
            <a:off x="640080" y="822960"/>
            <a:ext cx="10058400" cy="68580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앞으로의 방향 — 서비스가 곧 학습 데이터가 된다</a:t>
            </a:r>
            <a:endParaRPr lang="en-US" sz="2900" dirty="0"/>
          </a:p>
        </p:txBody>
      </p:sp>
      <p:sp>
        <p:nvSpPr>
          <p:cNvPr id="5" name="Shape 3"/>
          <p:cNvSpPr/>
          <p:nvPr/>
        </p:nvSpPr>
        <p:spPr>
          <a:xfrm>
            <a:off x="640080" y="1691640"/>
            <a:ext cx="10881360" cy="1371600"/>
          </a:xfrm>
          <a:prstGeom prst="roundRect">
            <a:avLst>
              <a:gd name="adj" fmla="val 6667"/>
            </a:avLst>
          </a:prstGeom>
          <a:solidFill>
            <a:srgbClr val="2A2233"/>
          </a:solidFill>
          <a:ln w="16510">
            <a:solidFill>
              <a:srgbClr val="C77D0A"/>
            </a:solidFill>
            <a:prstDash val="solid"/>
          </a:ln>
        </p:spPr>
      </p:sp>
      <p:sp>
        <p:nvSpPr>
          <p:cNvPr id="6" name="Text 4"/>
          <p:cNvSpPr/>
          <p:nvPr/>
        </p:nvSpPr>
        <p:spPr>
          <a:xfrm>
            <a:off x="868680" y="1810512"/>
            <a:ext cx="10424160" cy="1143000"/>
          </a:xfrm>
          <a:prstGeom prst="rect">
            <a:avLst/>
          </a:prstGeom>
          <a:noFill/>
          <a:ln/>
        </p:spPr>
        <p:txBody>
          <a:bodyPr wrap="square" lIns="0" tIns="0" rIns="0" bIns="0" rtlCol="0" anchor="ctr"/>
          <a:lstStyle/>
          <a:p>
            <a:pPr marL="0" indent="0" algn="l">
              <a:lnSpc>
                <a:spcPct val="105000"/>
              </a:lnSpc>
              <a:buNone/>
            </a:pPr>
            <a:r>
              <a:rPr lang="en-US" sz="1600" b="1" dirty="0">
                <a:solidFill>
                  <a:srgbClr val="F0A94A"/>
                </a:solidFill>
                <a:latin typeface="Calibri" pitchFamily="34" charset="0"/>
                <a:ea typeface="Calibri" pitchFamily="34" charset="-122"/>
                <a:cs typeface="Calibri" pitchFamily="34" charset="-120"/>
              </a:rPr>
              <a:t>핵심 전략 — 서비스 운영이 그대로 학습 데이터가 된다
</a:t>
            </a:r>
            <a:r>
              <a:rPr lang="en-US" sz="1350" dirty="0">
                <a:solidFill>
                  <a:srgbClr val="CADCFC"/>
                </a:solidFill>
                <a:latin typeface="Calibri" pitchFamily="34" charset="0"/>
                <a:ea typeface="Calibri" pitchFamily="34" charset="-122"/>
                <a:cs typeface="Calibri" pitchFamily="34" charset="-120"/>
              </a:rPr>
              <a:t>1차는 </a:t>
            </a:r>
            <a:r>
              <a:rPr lang="en-US" sz="1350" b="1" dirty="0">
                <a:solidFill>
                  <a:srgbClr val="FFFFFF"/>
                </a:solidFill>
                <a:latin typeface="Calibri" pitchFamily="34" charset="0"/>
                <a:ea typeface="Calibri" pitchFamily="34" charset="-122"/>
                <a:cs typeface="Calibri" pitchFamily="34" charset="-120"/>
              </a:rPr>
              <a:t>API로 서비스를 운영</a:t>
            </a:r>
            <a:r>
              <a:rPr lang="en-US" sz="1350" dirty="0">
                <a:solidFill>
                  <a:srgbClr val="CADCFC"/>
                </a:solidFill>
                <a:latin typeface="Calibri" pitchFamily="34" charset="0"/>
                <a:ea typeface="Calibri" pitchFamily="34" charset="-122"/>
                <a:cs typeface="Calibri" pitchFamily="34" charset="-120"/>
              </a:rPr>
              <a:t>하며 음성·강의자료 골든 데이터셋을 확보하고, 충분히 쌓이면 </a:t>
            </a:r>
            <a:r>
              <a:rPr lang="en-US" sz="1350" b="1" dirty="0">
                <a:solidFill>
                  <a:srgbClr val="FFFFFF"/>
                </a:solidFill>
                <a:latin typeface="Calibri" pitchFamily="34" charset="0"/>
                <a:ea typeface="Calibri" pitchFamily="34" charset="-122"/>
                <a:cs typeface="Calibri" pitchFamily="34" charset="-120"/>
              </a:rPr>
              <a:t>모델만 갈아끼워 독자 파인튜닝</a:t>
            </a:r>
            <a:r>
              <a:rPr lang="en-US" sz="1350" dirty="0">
                <a:solidFill>
                  <a:srgbClr val="CADCFC"/>
                </a:solidFill>
                <a:latin typeface="Calibri" pitchFamily="34" charset="0"/>
                <a:ea typeface="Calibri" pitchFamily="34" charset="-122"/>
                <a:cs typeface="Calibri" pitchFamily="34" charset="-120"/>
              </a:rPr>
              <a:t>으로 전환한다 — 중간포맷 스키마로 엔진을 추상화해 둔 덕분에 교체 비용이 낮다.</a:t>
            </a:r>
            <a:endParaRPr lang="en-US" sz="1600" dirty="0"/>
          </a:p>
        </p:txBody>
      </p:sp>
      <p:sp>
        <p:nvSpPr>
          <p:cNvPr id="7" name="Text 5"/>
          <p:cNvSpPr/>
          <p:nvPr/>
        </p:nvSpPr>
        <p:spPr>
          <a:xfrm>
            <a:off x="640080" y="3246120"/>
            <a:ext cx="10881360" cy="365760"/>
          </a:xfrm>
          <a:prstGeom prst="rect">
            <a:avLst/>
          </a:prstGeom>
          <a:noFill/>
          <a:ln/>
        </p:spPr>
        <p:txBody>
          <a:bodyPr wrap="square" lIns="0" tIns="0" rIns="0" bIns="0"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실행 계획 — 데이터 확보에서 자체 모델·자체 인프라까지</a:t>
            </a:r>
            <a:endParaRPr lang="en-US" sz="1400" dirty="0"/>
          </a:p>
        </p:txBody>
      </p:sp>
      <p:sp>
        <p:nvSpPr>
          <p:cNvPr id="8" name="Shape 6"/>
          <p:cNvSpPr/>
          <p:nvPr/>
        </p:nvSpPr>
        <p:spPr>
          <a:xfrm>
            <a:off x="640080" y="3703320"/>
            <a:ext cx="3474720" cy="2423160"/>
          </a:xfrm>
          <a:prstGeom prst="roundRect">
            <a:avLst>
              <a:gd name="adj" fmla="val 3774"/>
            </a:avLst>
          </a:prstGeom>
          <a:solidFill>
            <a:srgbClr val="21295C"/>
          </a:solidFill>
          <a:ln/>
        </p:spPr>
      </p:sp>
      <p:sp>
        <p:nvSpPr>
          <p:cNvPr id="9" name="Shape 7"/>
          <p:cNvSpPr/>
          <p:nvPr/>
        </p:nvSpPr>
        <p:spPr>
          <a:xfrm>
            <a:off x="914400" y="3931920"/>
            <a:ext cx="502920" cy="502920"/>
          </a:xfrm>
          <a:prstGeom prst="ellipse">
            <a:avLst/>
          </a:prstGeom>
          <a:solidFill>
            <a:srgbClr val="065A82"/>
          </a:solidFill>
          <a:ln/>
        </p:spPr>
      </p:sp>
      <p:sp>
        <p:nvSpPr>
          <p:cNvPr id="10" name="Text 8"/>
          <p:cNvSpPr/>
          <p:nvPr/>
        </p:nvSpPr>
        <p:spPr>
          <a:xfrm>
            <a:off x="914400" y="3931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914400" y="4553712"/>
            <a:ext cx="2926080" cy="41148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골든 데이터셋 확보</a:t>
            </a:r>
            <a:endParaRPr lang="en-US" sz="1650" dirty="0"/>
          </a:p>
        </p:txBody>
      </p:sp>
      <p:sp>
        <p:nvSpPr>
          <p:cNvPr id="12" name="Text 10"/>
          <p:cNvSpPr/>
          <p:nvPr/>
        </p:nvSpPr>
        <p:spPr>
          <a:xfrm>
            <a:off x="914400" y="4983480"/>
            <a:ext cx="2971800" cy="749808"/>
          </a:xfrm>
          <a:prstGeom prst="rect">
            <a:avLst/>
          </a:prstGeom>
          <a:noFill/>
          <a:ln/>
        </p:spPr>
        <p:txBody>
          <a:bodyPr wrap="square" lIns="0" tIns="0" rIns="0" bIns="0" rtlCol="0" anchor="t"/>
          <a:lstStyle/>
          <a:p>
            <a:pPr marL="0" indent="0" algn="l">
              <a:lnSpc>
                <a:spcPct val="104000"/>
              </a:lnSpc>
              <a:buNone/>
            </a:pPr>
            <a:r>
              <a:rPr lang="en-US" sz="1200" dirty="0">
                <a:solidFill>
                  <a:srgbClr val="CADCFC"/>
                </a:solidFill>
                <a:latin typeface="Calibri" pitchFamily="34" charset="0"/>
                <a:ea typeface="Calibri" pitchFamily="34" charset="-122"/>
                <a:cs typeface="Calibri" pitchFamily="34" charset="-120"/>
              </a:rPr>
              <a:t>서비스를 운영하면 강의 음성과 강의자료가 그대로 쌓인다 — 사람이 검수한 전사·문항이 파인튜닝 학습셋이 된다</a:t>
            </a:r>
            <a:endParaRPr lang="en-US" sz="1200" dirty="0"/>
          </a:p>
        </p:txBody>
      </p:sp>
      <p:sp>
        <p:nvSpPr>
          <p:cNvPr id="13" name="Shape 11"/>
          <p:cNvSpPr/>
          <p:nvPr/>
        </p:nvSpPr>
        <p:spPr>
          <a:xfrm>
            <a:off x="914400" y="5806440"/>
            <a:ext cx="2286000" cy="274320"/>
          </a:xfrm>
          <a:prstGeom prst="roundRect">
            <a:avLst>
              <a:gd name="adj" fmla="val 26667"/>
            </a:avLst>
          </a:prstGeom>
          <a:solidFill>
            <a:srgbClr val="065A82"/>
          </a:solidFill>
          <a:ln/>
        </p:spPr>
      </p:sp>
      <p:sp>
        <p:nvSpPr>
          <p:cNvPr id="14" name="Text 12"/>
          <p:cNvSpPr/>
          <p:nvPr/>
        </p:nvSpPr>
        <p:spPr>
          <a:xfrm>
            <a:off x="914400" y="5806440"/>
            <a:ext cx="2286000" cy="274320"/>
          </a:xfrm>
          <a:prstGeom prst="rect">
            <a:avLst/>
          </a:prstGeom>
          <a:noFill/>
          <a:ln/>
        </p:spPr>
        <p:txBody>
          <a:bodyPr wrap="square" lIns="0" tIns="0" rIns="0" bIns="0" rtlCol="0" anchor="ctr"/>
          <a:lstStyle/>
          <a:p>
            <a:pPr marL="0" indent="0" algn="ctr">
              <a:buNone/>
            </a:pPr>
            <a:r>
              <a:rPr lang="en-US" sz="1100" b="1" dirty="0">
                <a:solidFill>
                  <a:srgbClr val="CADCFC"/>
                </a:solidFill>
                <a:latin typeface="Calibri" pitchFamily="34" charset="0"/>
                <a:ea typeface="Calibri" pitchFamily="34" charset="-122"/>
                <a:cs typeface="Calibri" pitchFamily="34" charset="-120"/>
              </a:rPr>
              <a:t>1차 · API 서비스</a:t>
            </a:r>
            <a:endParaRPr lang="en-US" sz="1100" dirty="0"/>
          </a:p>
        </p:txBody>
      </p:sp>
      <p:sp>
        <p:nvSpPr>
          <p:cNvPr id="15" name="Shape 13"/>
          <p:cNvSpPr/>
          <p:nvPr/>
        </p:nvSpPr>
        <p:spPr>
          <a:xfrm>
            <a:off x="4343400" y="3703320"/>
            <a:ext cx="3474720" cy="2423160"/>
          </a:xfrm>
          <a:prstGeom prst="roundRect">
            <a:avLst>
              <a:gd name="adj" fmla="val 3774"/>
            </a:avLst>
          </a:prstGeom>
          <a:solidFill>
            <a:srgbClr val="21295C"/>
          </a:solidFill>
          <a:ln/>
        </p:spPr>
      </p:sp>
      <p:sp>
        <p:nvSpPr>
          <p:cNvPr id="16" name="Shape 14"/>
          <p:cNvSpPr/>
          <p:nvPr/>
        </p:nvSpPr>
        <p:spPr>
          <a:xfrm>
            <a:off x="4617720" y="3931920"/>
            <a:ext cx="502920" cy="502920"/>
          </a:xfrm>
          <a:prstGeom prst="ellipse">
            <a:avLst/>
          </a:prstGeom>
          <a:solidFill>
            <a:srgbClr val="065A82"/>
          </a:solidFill>
          <a:ln/>
        </p:spPr>
      </p:sp>
      <p:sp>
        <p:nvSpPr>
          <p:cNvPr id="17" name="Text 15"/>
          <p:cNvSpPr/>
          <p:nvPr/>
        </p:nvSpPr>
        <p:spPr>
          <a:xfrm>
            <a:off x="4617720" y="3931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4617720" y="4553712"/>
            <a:ext cx="2926080" cy="41148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독자 모델 파인튜닝</a:t>
            </a:r>
            <a:endParaRPr lang="en-US" sz="1650" dirty="0"/>
          </a:p>
        </p:txBody>
      </p:sp>
      <p:sp>
        <p:nvSpPr>
          <p:cNvPr id="19" name="Text 17"/>
          <p:cNvSpPr/>
          <p:nvPr/>
        </p:nvSpPr>
        <p:spPr>
          <a:xfrm>
            <a:off x="4617720" y="4983480"/>
            <a:ext cx="2971800" cy="749808"/>
          </a:xfrm>
          <a:prstGeom prst="rect">
            <a:avLst/>
          </a:prstGeom>
          <a:noFill/>
          <a:ln/>
        </p:spPr>
        <p:txBody>
          <a:bodyPr wrap="square" lIns="0" tIns="0" rIns="0" bIns="0" rtlCol="0" anchor="t"/>
          <a:lstStyle/>
          <a:p>
            <a:pPr marL="0" indent="0" algn="l">
              <a:lnSpc>
                <a:spcPct val="104000"/>
              </a:lnSpc>
              <a:buNone/>
            </a:pPr>
            <a:r>
              <a:rPr lang="en-US" sz="1200" dirty="0">
                <a:solidFill>
                  <a:srgbClr val="CADCFC"/>
                </a:solidFill>
                <a:latin typeface="Calibri" pitchFamily="34" charset="0"/>
                <a:ea typeface="Calibri" pitchFamily="34" charset="-122"/>
                <a:cs typeface="Calibri" pitchFamily="34" charset="-120"/>
              </a:rPr>
              <a:t>축적된 도메인 데이터로 STT·임베딩을 파인튜닝 — 상위 코드 수정 없이 모델만 갈아끼운다</a:t>
            </a:r>
            <a:endParaRPr lang="en-US" sz="1200" dirty="0"/>
          </a:p>
        </p:txBody>
      </p:sp>
      <p:sp>
        <p:nvSpPr>
          <p:cNvPr id="20" name="Shape 18"/>
          <p:cNvSpPr/>
          <p:nvPr/>
        </p:nvSpPr>
        <p:spPr>
          <a:xfrm>
            <a:off x="4617720" y="5806440"/>
            <a:ext cx="2286000" cy="274320"/>
          </a:xfrm>
          <a:prstGeom prst="roundRect">
            <a:avLst>
              <a:gd name="adj" fmla="val 26667"/>
            </a:avLst>
          </a:prstGeom>
          <a:solidFill>
            <a:srgbClr val="065A82"/>
          </a:solidFill>
          <a:ln/>
        </p:spPr>
      </p:sp>
      <p:sp>
        <p:nvSpPr>
          <p:cNvPr id="21" name="Text 19"/>
          <p:cNvSpPr/>
          <p:nvPr/>
        </p:nvSpPr>
        <p:spPr>
          <a:xfrm>
            <a:off x="4617720" y="5806440"/>
            <a:ext cx="2286000" cy="274320"/>
          </a:xfrm>
          <a:prstGeom prst="rect">
            <a:avLst/>
          </a:prstGeom>
          <a:noFill/>
          <a:ln/>
        </p:spPr>
        <p:txBody>
          <a:bodyPr wrap="square" lIns="0" tIns="0" rIns="0" bIns="0" rtlCol="0" anchor="ctr"/>
          <a:lstStyle/>
          <a:p>
            <a:pPr marL="0" indent="0" algn="ctr">
              <a:buNone/>
            </a:pPr>
            <a:r>
              <a:rPr lang="en-US" sz="1100" b="1" dirty="0">
                <a:solidFill>
                  <a:srgbClr val="CADCFC"/>
                </a:solidFill>
                <a:latin typeface="Calibri" pitchFamily="34" charset="0"/>
                <a:ea typeface="Calibri" pitchFamily="34" charset="-122"/>
                <a:cs typeface="Calibri" pitchFamily="34" charset="-120"/>
              </a:rPr>
              <a:t>2차 · 모델 교체</a:t>
            </a:r>
            <a:endParaRPr lang="en-US" sz="1100" dirty="0"/>
          </a:p>
        </p:txBody>
      </p:sp>
      <p:sp>
        <p:nvSpPr>
          <p:cNvPr id="22" name="Shape 20"/>
          <p:cNvSpPr/>
          <p:nvPr/>
        </p:nvSpPr>
        <p:spPr>
          <a:xfrm>
            <a:off x="8046720" y="3703320"/>
            <a:ext cx="3474720" cy="2423160"/>
          </a:xfrm>
          <a:prstGeom prst="roundRect">
            <a:avLst>
              <a:gd name="adj" fmla="val 3774"/>
            </a:avLst>
          </a:prstGeom>
          <a:solidFill>
            <a:srgbClr val="21295C"/>
          </a:solidFill>
          <a:ln/>
        </p:spPr>
      </p:sp>
      <p:sp>
        <p:nvSpPr>
          <p:cNvPr id="23" name="Shape 21"/>
          <p:cNvSpPr/>
          <p:nvPr/>
        </p:nvSpPr>
        <p:spPr>
          <a:xfrm>
            <a:off x="8321040" y="3931920"/>
            <a:ext cx="502920" cy="502920"/>
          </a:xfrm>
          <a:prstGeom prst="ellipse">
            <a:avLst/>
          </a:prstGeom>
          <a:solidFill>
            <a:srgbClr val="065A82"/>
          </a:solidFill>
          <a:ln/>
        </p:spPr>
      </p:sp>
      <p:sp>
        <p:nvSpPr>
          <p:cNvPr id="24" name="Text 22"/>
          <p:cNvSpPr/>
          <p:nvPr/>
        </p:nvSpPr>
        <p:spPr>
          <a:xfrm>
            <a:off x="8321040" y="3931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Text 23"/>
          <p:cNvSpPr/>
          <p:nvPr/>
        </p:nvSpPr>
        <p:spPr>
          <a:xfrm>
            <a:off x="8321040" y="4553712"/>
            <a:ext cx="2926080" cy="41148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온프레미스 + 클라우드</a:t>
            </a:r>
            <a:endParaRPr lang="en-US" sz="1650" dirty="0"/>
          </a:p>
        </p:txBody>
      </p:sp>
      <p:sp>
        <p:nvSpPr>
          <p:cNvPr id="26" name="Text 24"/>
          <p:cNvSpPr/>
          <p:nvPr/>
        </p:nvSpPr>
        <p:spPr>
          <a:xfrm>
            <a:off x="8321040" y="4983480"/>
            <a:ext cx="2971800" cy="749808"/>
          </a:xfrm>
          <a:prstGeom prst="rect">
            <a:avLst/>
          </a:prstGeom>
          <a:noFill/>
          <a:ln/>
        </p:spPr>
        <p:txBody>
          <a:bodyPr wrap="square" lIns="0" tIns="0" rIns="0" bIns="0" rtlCol="0" anchor="t"/>
          <a:lstStyle/>
          <a:p>
            <a:pPr marL="0" indent="0" algn="l">
              <a:lnSpc>
                <a:spcPct val="104000"/>
              </a:lnSpc>
              <a:buNone/>
            </a:pPr>
            <a:r>
              <a:rPr lang="en-US" sz="1200" dirty="0">
                <a:solidFill>
                  <a:srgbClr val="CADCFC"/>
                </a:solidFill>
                <a:latin typeface="Calibri" pitchFamily="34" charset="0"/>
                <a:ea typeface="Calibri" pitchFamily="34" charset="-122"/>
                <a:cs typeface="Calibri" pitchFamily="34" charset="-120"/>
              </a:rPr>
              <a:t>민감한 강의·회의 음성은 온프레미스에서 처리하고 탄력적 부하만 클라우드로 — 보안과 비용을 함께 잡는다</a:t>
            </a:r>
            <a:endParaRPr lang="en-US" sz="1200" dirty="0"/>
          </a:p>
        </p:txBody>
      </p:sp>
      <p:sp>
        <p:nvSpPr>
          <p:cNvPr id="27" name="Shape 25"/>
          <p:cNvSpPr/>
          <p:nvPr/>
        </p:nvSpPr>
        <p:spPr>
          <a:xfrm>
            <a:off x="8321040" y="5806440"/>
            <a:ext cx="2286000" cy="274320"/>
          </a:xfrm>
          <a:prstGeom prst="roundRect">
            <a:avLst>
              <a:gd name="adj" fmla="val 26667"/>
            </a:avLst>
          </a:prstGeom>
          <a:solidFill>
            <a:srgbClr val="065A82"/>
          </a:solidFill>
          <a:ln/>
        </p:spPr>
      </p:sp>
      <p:sp>
        <p:nvSpPr>
          <p:cNvPr id="28" name="Text 26"/>
          <p:cNvSpPr/>
          <p:nvPr/>
        </p:nvSpPr>
        <p:spPr>
          <a:xfrm>
            <a:off x="8321040" y="5806440"/>
            <a:ext cx="2286000" cy="274320"/>
          </a:xfrm>
          <a:prstGeom prst="rect">
            <a:avLst/>
          </a:prstGeom>
          <a:noFill/>
          <a:ln/>
        </p:spPr>
        <p:txBody>
          <a:bodyPr wrap="square" lIns="0" tIns="0" rIns="0" bIns="0" rtlCol="0" anchor="ctr"/>
          <a:lstStyle/>
          <a:p>
            <a:pPr marL="0" indent="0" algn="ctr">
              <a:buNone/>
            </a:pPr>
            <a:r>
              <a:rPr lang="en-US" sz="1100" b="1" dirty="0">
                <a:solidFill>
                  <a:srgbClr val="CADCFC"/>
                </a:solidFill>
                <a:latin typeface="Calibri" pitchFamily="34" charset="0"/>
                <a:ea typeface="Calibri" pitchFamily="34" charset="-122"/>
                <a:cs typeface="Calibri" pitchFamily="34" charset="-120"/>
              </a:rPr>
              <a:t>보안↑ · 비용↓</a:t>
            </a:r>
            <a:endParaRPr lang="en-US" sz="1100" dirty="0"/>
          </a:p>
        </p:txBody>
      </p:sp>
      <p:sp>
        <p:nvSpPr>
          <p:cNvPr id="29" name="Text 27"/>
          <p:cNvSpPr/>
          <p:nvPr/>
        </p:nvSpPr>
        <p:spPr>
          <a:xfrm>
            <a:off x="640080" y="6236208"/>
            <a:ext cx="10881360" cy="347472"/>
          </a:xfrm>
          <a:prstGeom prst="rect">
            <a:avLst/>
          </a:prstGeom>
          <a:noFill/>
          <a:ln/>
        </p:spPr>
        <p:txBody>
          <a:bodyPr wrap="square" lIns="0" tIns="0" rIns="0" bIns="0" rtlCol="0" anchor="ctr"/>
          <a:lstStyle/>
          <a:p>
            <a:pPr marL="0" indent="0" algn="ctr">
              <a:buNone/>
            </a:pPr>
            <a:r>
              <a:rPr lang="en-US" sz="1150" i="1" dirty="0">
                <a:solidFill>
                  <a:srgbClr val="9FB2D8"/>
                </a:solidFill>
                <a:latin typeface="Calibri" pitchFamily="34" charset="0"/>
                <a:ea typeface="Calibri" pitchFamily="34" charset="-122"/>
                <a:cs typeface="Calibri" pitchFamily="34" charset="-120"/>
              </a:rPr>
              <a:t>로드맵: 1차 API 서비스 → 골든 데이터셋 축적 → 도메인 파인튜닝 → 온프레미스·클라우드 전환 — 엔진을 갈아끼울 수 있는 구조는 이미 확보돼 있다</a:t>
            </a:r>
            <a:endParaRPr lang="en-US" sz="1150" dirty="0"/>
          </a:p>
        </p:txBody>
      </p:sp>
      <p:sp>
        <p:nvSpPr>
          <p:cNvPr id="30" name="Text 28"/>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3200400"/>
            <a:ext cx="5486400" cy="5486400"/>
          </a:xfrm>
          <a:prstGeom prst="ellipse">
            <a:avLst/>
          </a:prstGeom>
          <a:solidFill>
            <a:srgbClr val="21295C"/>
          </a:solidFill>
          <a:ln/>
        </p:spPr>
      </p:sp>
      <p:sp>
        <p:nvSpPr>
          <p:cNvPr id="3" name="Shape 1"/>
          <p:cNvSpPr/>
          <p:nvPr/>
        </p:nvSpPr>
        <p:spPr>
          <a:xfrm>
            <a:off x="9601200" y="-2286000"/>
            <a:ext cx="5486400" cy="5486400"/>
          </a:xfrm>
          <a:prstGeom prst="ellipse">
            <a:avLst/>
          </a:prstGeom>
          <a:solidFill>
            <a:srgbClr val="065A82"/>
          </a:solidFill>
          <a:ln/>
        </p:spPr>
      </p:sp>
      <p:sp>
        <p:nvSpPr>
          <p:cNvPr id="4" name="Text 2"/>
          <p:cNvSpPr/>
          <p:nvPr/>
        </p:nvSpPr>
        <p:spPr>
          <a:xfrm>
            <a:off x="640080" y="1463040"/>
            <a:ext cx="5486400" cy="365760"/>
          </a:xfrm>
          <a:prstGeom prst="rect">
            <a:avLst/>
          </a:prstGeom>
          <a:noFill/>
          <a:ln/>
        </p:spPr>
        <p:txBody>
          <a:bodyPr wrap="square" lIns="0" tIns="0" rIns="0" bIns="0" rtlCol="0" anchor="ctr"/>
          <a:lstStyle/>
          <a:p>
            <a:pPr marL="0" indent="0">
              <a:buNone/>
            </a:pPr>
            <a:r>
              <a:rPr lang="en-US" sz="1500" b="1" kern="0" spc="300" dirty="0">
                <a:solidFill>
                  <a:srgbClr val="CADCFC"/>
                </a:solidFill>
                <a:latin typeface="Calibri" pitchFamily="34" charset="0"/>
                <a:ea typeface="Calibri" pitchFamily="34" charset="-122"/>
                <a:cs typeface="Calibri" pitchFamily="34" charset="-120"/>
              </a:rPr>
              <a:t>요약</a:t>
            </a:r>
            <a:endParaRPr lang="en-US" sz="1500" dirty="0"/>
          </a:p>
        </p:txBody>
      </p:sp>
      <p:sp>
        <p:nvSpPr>
          <p:cNvPr id="5" name="Text 3"/>
          <p:cNvSpPr/>
          <p:nvPr/>
        </p:nvSpPr>
        <p:spPr>
          <a:xfrm>
            <a:off x="640080" y="1965960"/>
            <a:ext cx="10515600" cy="164592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파편화된 음성 기록을,</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연결된 그래프 위의 대화로</a:t>
            </a:r>
            <a:endParaRPr lang="en-US" sz="3800" dirty="0"/>
          </a:p>
        </p:txBody>
      </p:sp>
      <p:sp>
        <p:nvSpPr>
          <p:cNvPr id="6" name="Text 4"/>
          <p:cNvSpPr/>
          <p:nvPr/>
        </p:nvSpPr>
        <p:spPr>
          <a:xfrm>
            <a:off x="640080" y="3977640"/>
            <a:ext cx="10332720" cy="731520"/>
          </a:xfrm>
          <a:prstGeom prst="rect">
            <a:avLst/>
          </a:prstGeom>
          <a:noFill/>
          <a:ln/>
        </p:spPr>
        <p:txBody>
          <a:bodyPr wrap="square" lIns="0" tIns="0" rIns="0" bIns="0" rtlCol="0" anchor="ctr"/>
          <a:lstStyle/>
          <a:p>
            <a:pPr marL="0" indent="0">
              <a:lnSpc>
                <a:spcPct val="110000"/>
              </a:lnSpc>
              <a:buNone/>
            </a:pPr>
            <a:r>
              <a:rPr lang="en-US" sz="1800" dirty="0">
                <a:solidFill>
                  <a:srgbClr val="CADCFC"/>
                </a:solidFill>
                <a:latin typeface="Calibri" pitchFamily="34" charset="0"/>
                <a:ea typeface="Calibri" pitchFamily="34" charset="-122"/>
                <a:cs typeface="Calibri" pitchFamily="34" charset="-120"/>
              </a:rPr>
              <a:t>도메인 특화 STT로 정확히 받아 · 시간·의미로 연결된 그래프로 만들고 · 출처가 추적되는 대화를 한다</a:t>
            </a:r>
            <a:endParaRPr lang="en-US" sz="1800" dirty="0"/>
          </a:p>
        </p:txBody>
      </p:sp>
      <p:sp>
        <p:nvSpPr>
          <p:cNvPr id="7" name="Shape 5"/>
          <p:cNvSpPr/>
          <p:nvPr/>
        </p:nvSpPr>
        <p:spPr>
          <a:xfrm>
            <a:off x="640080" y="5029200"/>
            <a:ext cx="3108960" cy="502920"/>
          </a:xfrm>
          <a:prstGeom prst="roundRect">
            <a:avLst>
              <a:gd name="adj" fmla="val 14545"/>
            </a:avLst>
          </a:prstGeom>
          <a:solidFill>
            <a:srgbClr val="065A82"/>
          </a:solidFill>
          <a:ln/>
        </p:spPr>
      </p:sp>
      <p:sp>
        <p:nvSpPr>
          <p:cNvPr id="8" name="Text 6"/>
          <p:cNvSpPr/>
          <p:nvPr/>
        </p:nvSpPr>
        <p:spPr>
          <a:xfrm>
            <a:off x="640080" y="5029200"/>
            <a:ext cx="3108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Soniox WER 23.5%</a:t>
            </a:r>
            <a:endParaRPr lang="en-US" sz="1400" dirty="0"/>
          </a:p>
        </p:txBody>
      </p:sp>
      <p:sp>
        <p:nvSpPr>
          <p:cNvPr id="9" name="Shape 7"/>
          <p:cNvSpPr/>
          <p:nvPr/>
        </p:nvSpPr>
        <p:spPr>
          <a:xfrm>
            <a:off x="3886200" y="5029200"/>
            <a:ext cx="3383280" cy="502920"/>
          </a:xfrm>
          <a:prstGeom prst="roundRect">
            <a:avLst>
              <a:gd name="adj" fmla="val 14545"/>
            </a:avLst>
          </a:prstGeom>
          <a:solidFill>
            <a:srgbClr val="1C7293"/>
          </a:solidFill>
          <a:ln/>
        </p:spPr>
      </p:sp>
      <p:sp>
        <p:nvSpPr>
          <p:cNvPr id="10" name="Text 8"/>
          <p:cNvSpPr/>
          <p:nvPr/>
        </p:nvSpPr>
        <p:spPr>
          <a:xfrm>
            <a:off x="3886200" y="5029200"/>
            <a:ext cx="338328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정답도 4.07 (WER 무관)</a:t>
            </a:r>
            <a:endParaRPr lang="en-US" sz="1400" dirty="0"/>
          </a:p>
        </p:txBody>
      </p:sp>
      <p:sp>
        <p:nvSpPr>
          <p:cNvPr id="11" name="Shape 9"/>
          <p:cNvSpPr/>
          <p:nvPr/>
        </p:nvSpPr>
        <p:spPr>
          <a:xfrm>
            <a:off x="7406640" y="5029200"/>
            <a:ext cx="3566160" cy="502920"/>
          </a:xfrm>
          <a:prstGeom prst="roundRect">
            <a:avLst>
              <a:gd name="adj" fmla="val 14545"/>
            </a:avLst>
          </a:prstGeom>
          <a:solidFill>
            <a:srgbClr val="21295C"/>
          </a:solidFill>
          <a:ln/>
        </p:spPr>
      </p:sp>
      <p:sp>
        <p:nvSpPr>
          <p:cNvPr id="12" name="Text 10"/>
          <p:cNvSpPr/>
          <p:nvPr/>
        </p:nvSpPr>
        <p:spPr>
          <a:xfrm>
            <a:off x="7406640" y="5029200"/>
            <a:ext cx="3566160" cy="502920"/>
          </a:xfrm>
          <a:prstGeom prst="rect">
            <a:avLst/>
          </a:prstGeom>
          <a:noFill/>
          <a:ln/>
        </p:spPr>
        <p:txBody>
          <a:bodyPr wrap="square" lIns="0" tIns="0" rIns="0" bIns="0" rtlCol="0" anchor="ctr"/>
          <a:lstStyle/>
          <a:p>
            <a:pPr marL="0" indent="0" algn="ctr">
              <a:buNone/>
            </a:pPr>
            <a:r>
              <a:rPr lang="en-US" sz="1400" b="1" dirty="0">
                <a:solidFill>
                  <a:srgbClr val="CADCFC"/>
                </a:solidFill>
                <a:latin typeface="Calibri" pitchFamily="34" charset="0"/>
                <a:ea typeface="Calibri" pitchFamily="34" charset="-122"/>
                <a:cs typeface="Calibri" pitchFamily="34" charset="-120"/>
              </a:rPr>
              <a:t>bi-temporal 실증</a:t>
            </a:r>
            <a:endParaRPr lang="en-US" sz="1400" dirty="0"/>
          </a:p>
        </p:txBody>
      </p:sp>
      <p:sp>
        <p:nvSpPr>
          <p:cNvPr id="13" name="Text 11"/>
          <p:cNvSpPr/>
          <p:nvPr/>
        </p:nvSpPr>
        <p:spPr>
          <a:xfrm>
            <a:off x="640080" y="5943600"/>
            <a:ext cx="54864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감사합니다</a:t>
            </a:r>
            <a:endParaRPr lang="en-US" sz="2000" dirty="0"/>
          </a:p>
        </p:txBody>
      </p:sp>
      <p:sp>
        <p:nvSpPr>
          <p:cNvPr id="14" name="Text 12"/>
          <p:cNvSpPr/>
          <p:nvPr/>
        </p:nvSpPr>
        <p:spPr>
          <a:xfrm>
            <a:off x="11430000" y="6355080"/>
            <a:ext cx="548640" cy="320040"/>
          </a:xfrm>
          <a:prstGeom prst="rect">
            <a:avLst/>
          </a:prstGeom>
          <a:noFill/>
          <a:ln/>
        </p:spPr>
        <p:txBody>
          <a:bodyPr wrap="square" lIns="0" tIns="0" rIns="0" bIns="0" rtlCol="0" anchor="ctr"/>
          <a:lstStyle/>
          <a:p>
            <a:pPr marL="0" indent="0" algn="r">
              <a:buNone/>
            </a:pPr>
            <a:r>
              <a:rPr lang="en-US" sz="1100" dirty="0">
                <a:solidFill>
                  <a:srgbClr val="5A6B8C"/>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 0"/>
          <p:cNvSpPr/>
          <p:nvPr/>
        </p:nvSpPr>
        <p:spPr>
          <a:xfrm>
            <a:off x="548640" y="384048"/>
            <a:ext cx="7315200" cy="292608"/>
          </a:xfrm>
          <a:prstGeom prst="rect">
            <a:avLst/>
          </a:prstGeom>
          <a:noFill/>
          <a:ln/>
        </p:spPr>
        <p:txBody>
          <a:bodyPr wrap="square" lIns="0" tIns="0" rIns="0" bIns="0" rtlCol="0" anchor="ctr"/>
          <a:lstStyle/>
          <a:p>
            <a:pPr marL="0" indent="0" algn="l">
              <a:buNone/>
            </a:pPr>
            <a:r>
              <a:rPr lang="en-US" sz="1300" b="1" kern="0" spc="200" dirty="0">
                <a:solidFill>
                  <a:srgbClr val="065A82"/>
                </a:solidFill>
                <a:latin typeface="Calibri" pitchFamily="34" charset="0"/>
                <a:ea typeface="Calibri" pitchFamily="34" charset="-122"/>
                <a:cs typeface="Calibri" pitchFamily="34" charset="-120"/>
              </a:rPr>
              <a:t>발표 개요</a:t>
            </a:r>
            <a:endParaRPr lang="en-US" sz="1300" dirty="0"/>
          </a:p>
        </p:txBody>
      </p:sp>
      <p:sp>
        <p:nvSpPr>
          <p:cNvPr id="3" name="Text 1"/>
          <p:cNvSpPr/>
          <p:nvPr/>
        </p:nvSpPr>
        <p:spPr>
          <a:xfrm>
            <a:off x="548640" y="658368"/>
            <a:ext cx="11064240" cy="822960"/>
          </a:xfrm>
          <a:prstGeom prst="rect">
            <a:avLst/>
          </a:prstGeom>
          <a:noFill/>
          <a:ln/>
        </p:spPr>
        <p:txBody>
          <a:bodyPr wrap="square" lIns="0" tIns="0" rIns="0" bIns="0" rtlCol="0" anchor="ctr"/>
          <a:lstStyle/>
          <a:p>
            <a:pPr marL="0" indent="0" algn="l">
              <a:buNone/>
            </a:pPr>
            <a:r>
              <a:rPr lang="en-US" sz="3200" b="1" dirty="0">
                <a:solidFill>
                  <a:srgbClr val="16203A"/>
                </a:solidFill>
                <a:latin typeface="Cambria" pitchFamily="34" charset="0"/>
                <a:ea typeface="Cambria" pitchFamily="34" charset="-122"/>
                <a:cs typeface="Cambria" pitchFamily="34" charset="-120"/>
              </a:rPr>
              <a:t>오늘 발표의 흐름 — 다섯 부분</a:t>
            </a:r>
            <a:endParaRPr lang="en-US" sz="3200" dirty="0"/>
          </a:p>
        </p:txBody>
      </p:sp>
      <p:sp>
        <p:nvSpPr>
          <p:cNvPr id="4" name="TextBox 3"/>
          <p:cNvSpPr txBox="1"/>
          <p:nvPr/>
        </p:nvSpPr>
        <p:spPr>
          <a:xfrm>
            <a:off x="658368" y="1783080"/>
            <a:ext cx="914400" cy="822960"/>
          </a:xfrm>
          <a:prstGeom prst="rect">
            <a:avLst/>
          </a:prstGeom>
          <a:noFill/>
        </p:spPr>
        <p:txBody>
          <a:bodyPr wrap="none" anchor="ctr" tIns="0" bIns="0">
            <a:spAutoFit/>
          </a:bodyPr>
          <a:lstStyle/>
          <a:p>
            <a:r>
              <a:rPr sz="3000" b="1">
                <a:solidFill>
                  <a:srgbClr val="065A82"/>
                </a:solidFill>
                <a:latin typeface="맑은 고딕"/>
                <a:ea typeface="맑은 고딕"/>
                <a:cs typeface="맑은 고딕"/>
              </a:rPr>
              <a:t>01</a:t>
            </a:r>
          </a:p>
        </p:txBody>
      </p:sp>
      <p:sp>
        <p:nvSpPr>
          <p:cNvPr id="5" name="TextBox 4"/>
          <p:cNvSpPr txBox="1"/>
          <p:nvPr/>
        </p:nvSpPr>
        <p:spPr>
          <a:xfrm>
            <a:off x="1737360" y="1783080"/>
            <a:ext cx="9784080" cy="822960"/>
          </a:xfrm>
          <a:prstGeom prst="rect">
            <a:avLst/>
          </a:prstGeom>
          <a:noFill/>
        </p:spPr>
        <p:txBody>
          <a:bodyPr wrap="square" anchor="ctr" tIns="0" bIns="0">
            <a:spAutoFit/>
          </a:bodyPr>
          <a:lstStyle/>
          <a:p>
            <a:r>
              <a:rPr sz="2000" b="1">
                <a:solidFill>
                  <a:srgbClr val="16203A"/>
                </a:solidFill>
                <a:latin typeface="맑은 고딕"/>
                <a:ea typeface="맑은 고딕"/>
                <a:cs typeface="맑은 고딕"/>
              </a:rPr>
              <a:t>문제 정의</a:t>
            </a:r>
          </a:p>
          <a:p>
            <a:r>
              <a:rPr sz="1300">
                <a:solidFill>
                  <a:srgbClr val="5A6B8C"/>
                </a:solidFill>
                <a:latin typeface="맑은 고딕"/>
                <a:ea typeface="맑은 고딕"/>
                <a:cs typeface="맑은 고딕"/>
              </a:rPr>
              <a:t>왜 만들었나 — STT 도메인 특화 부재 · 정리의 파편화</a:t>
            </a:r>
          </a:p>
        </p:txBody>
      </p:sp>
      <p:sp>
        <p:nvSpPr>
          <p:cNvPr id="6" name="TextBox 5"/>
          <p:cNvSpPr txBox="1"/>
          <p:nvPr/>
        </p:nvSpPr>
        <p:spPr>
          <a:xfrm>
            <a:off x="658368" y="2679191"/>
            <a:ext cx="914400" cy="822960"/>
          </a:xfrm>
          <a:prstGeom prst="rect">
            <a:avLst/>
          </a:prstGeom>
          <a:noFill/>
        </p:spPr>
        <p:txBody>
          <a:bodyPr wrap="none" anchor="ctr" tIns="0" bIns="0">
            <a:spAutoFit/>
          </a:bodyPr>
          <a:lstStyle/>
          <a:p>
            <a:r>
              <a:rPr sz="3000" b="1">
                <a:solidFill>
                  <a:srgbClr val="065A82"/>
                </a:solidFill>
                <a:latin typeface="맑은 고딕"/>
                <a:ea typeface="맑은 고딕"/>
                <a:cs typeface="맑은 고딕"/>
              </a:rPr>
              <a:t>02</a:t>
            </a:r>
          </a:p>
        </p:txBody>
      </p:sp>
      <p:sp>
        <p:nvSpPr>
          <p:cNvPr id="7" name="TextBox 6"/>
          <p:cNvSpPr txBox="1"/>
          <p:nvPr/>
        </p:nvSpPr>
        <p:spPr>
          <a:xfrm>
            <a:off x="1737360" y="2679191"/>
            <a:ext cx="9784080" cy="822960"/>
          </a:xfrm>
          <a:prstGeom prst="rect">
            <a:avLst/>
          </a:prstGeom>
          <a:noFill/>
        </p:spPr>
        <p:txBody>
          <a:bodyPr wrap="square" anchor="ctr" tIns="0" bIns="0">
            <a:spAutoFit/>
          </a:bodyPr>
          <a:lstStyle/>
          <a:p>
            <a:r>
              <a:rPr sz="2000" b="1">
                <a:solidFill>
                  <a:srgbClr val="16203A"/>
                </a:solidFill>
                <a:latin typeface="맑은 고딕"/>
                <a:ea typeface="맑은 고딕"/>
                <a:cs typeface="맑은 고딕"/>
              </a:rPr>
              <a:t>시스템 아키텍처</a:t>
            </a:r>
          </a:p>
          <a:p>
            <a:r>
              <a:rPr sz="1300">
                <a:solidFill>
                  <a:srgbClr val="5A6B8C"/>
                </a:solidFill>
                <a:latin typeface="맑은 고딕"/>
                <a:ea typeface="맑은 고딕"/>
                <a:cs typeface="맑은 고딕"/>
              </a:rPr>
              <a:t>입력에서 그래프·대화까지 · 세 STT 엔진을 중간포맷 스키마로 통일</a:t>
            </a:r>
          </a:p>
        </p:txBody>
      </p:sp>
      <p:sp>
        <p:nvSpPr>
          <p:cNvPr id="8" name="TextBox 7"/>
          <p:cNvSpPr txBox="1"/>
          <p:nvPr/>
        </p:nvSpPr>
        <p:spPr>
          <a:xfrm>
            <a:off x="658368" y="3575304"/>
            <a:ext cx="914400" cy="822960"/>
          </a:xfrm>
          <a:prstGeom prst="rect">
            <a:avLst/>
          </a:prstGeom>
          <a:noFill/>
        </p:spPr>
        <p:txBody>
          <a:bodyPr wrap="none" anchor="ctr" tIns="0" bIns="0">
            <a:spAutoFit/>
          </a:bodyPr>
          <a:lstStyle/>
          <a:p>
            <a:r>
              <a:rPr sz="3000" b="1">
                <a:solidFill>
                  <a:srgbClr val="065A82"/>
                </a:solidFill>
                <a:latin typeface="맑은 고딕"/>
                <a:ea typeface="맑은 고딕"/>
                <a:cs typeface="맑은 고딕"/>
              </a:rPr>
              <a:t>03</a:t>
            </a:r>
          </a:p>
        </p:txBody>
      </p:sp>
      <p:sp>
        <p:nvSpPr>
          <p:cNvPr id="9" name="TextBox 8"/>
          <p:cNvSpPr txBox="1"/>
          <p:nvPr/>
        </p:nvSpPr>
        <p:spPr>
          <a:xfrm>
            <a:off x="1737360" y="3575304"/>
            <a:ext cx="9784080" cy="822960"/>
          </a:xfrm>
          <a:prstGeom prst="rect">
            <a:avLst/>
          </a:prstGeom>
          <a:noFill/>
        </p:spPr>
        <p:txBody>
          <a:bodyPr wrap="square" anchor="ctr" tIns="0" bIns="0">
            <a:spAutoFit/>
          </a:bodyPr>
          <a:lstStyle/>
          <a:p>
            <a:r>
              <a:rPr sz="2000" b="1">
                <a:solidFill>
                  <a:srgbClr val="16203A"/>
                </a:solidFill>
                <a:latin typeface="맑은 고딕"/>
                <a:ea typeface="맑은 고딕"/>
                <a:cs typeface="맑은 고딕"/>
              </a:rPr>
              <a:t>구현</a:t>
            </a:r>
          </a:p>
          <a:p>
            <a:r>
              <a:rPr sz="1300">
                <a:solidFill>
                  <a:srgbClr val="5A6B8C"/>
                </a:solidFill>
                <a:latin typeface="맑은 고딕"/>
                <a:ea typeface="맑은 고딕"/>
                <a:cs typeface="맑은 고딕"/>
              </a:rPr>
              <a:t>STT 파이프라인 · 지식 그래프(Graphiti) · RAG 챗봇  (+ 사용 모델 · LangSmith)</a:t>
            </a:r>
          </a:p>
        </p:txBody>
      </p:sp>
      <p:sp>
        <p:nvSpPr>
          <p:cNvPr id="10" name="TextBox 9"/>
          <p:cNvSpPr txBox="1"/>
          <p:nvPr/>
        </p:nvSpPr>
        <p:spPr>
          <a:xfrm>
            <a:off x="658368" y="4471416"/>
            <a:ext cx="914400" cy="822960"/>
          </a:xfrm>
          <a:prstGeom prst="rect">
            <a:avLst/>
          </a:prstGeom>
          <a:noFill/>
        </p:spPr>
        <p:txBody>
          <a:bodyPr wrap="none" anchor="ctr" tIns="0" bIns="0">
            <a:spAutoFit/>
          </a:bodyPr>
          <a:lstStyle/>
          <a:p>
            <a:r>
              <a:rPr sz="3000" b="1">
                <a:solidFill>
                  <a:srgbClr val="065A82"/>
                </a:solidFill>
                <a:latin typeface="맑은 고딕"/>
                <a:ea typeface="맑은 고딕"/>
                <a:cs typeface="맑은 고딕"/>
              </a:rPr>
              <a:t>04</a:t>
            </a:r>
          </a:p>
        </p:txBody>
      </p:sp>
      <p:sp>
        <p:nvSpPr>
          <p:cNvPr id="11" name="TextBox 10"/>
          <p:cNvSpPr txBox="1"/>
          <p:nvPr/>
        </p:nvSpPr>
        <p:spPr>
          <a:xfrm>
            <a:off x="1737360" y="4471416"/>
            <a:ext cx="9784080" cy="822960"/>
          </a:xfrm>
          <a:prstGeom prst="rect">
            <a:avLst/>
          </a:prstGeom>
          <a:noFill/>
        </p:spPr>
        <p:txBody>
          <a:bodyPr wrap="square" anchor="ctr" tIns="0" bIns="0">
            <a:spAutoFit/>
          </a:bodyPr>
          <a:lstStyle/>
          <a:p>
            <a:r>
              <a:rPr sz="2000" b="1">
                <a:solidFill>
                  <a:srgbClr val="16203A"/>
                </a:solidFill>
                <a:latin typeface="맑은 고딕"/>
                <a:ea typeface="맑은 고딕"/>
                <a:cs typeface="맑은 고딕"/>
              </a:rPr>
              <a:t>성능 평가</a:t>
            </a:r>
          </a:p>
          <a:p>
            <a:r>
              <a:rPr sz="1300">
                <a:solidFill>
                  <a:srgbClr val="5A6B8C"/>
                </a:solidFill>
                <a:latin typeface="맑은 고딕"/>
                <a:ea typeface="맑은 고딕"/>
                <a:cs typeface="맑은 고딕"/>
              </a:rPr>
              <a:t>STT — WER·화자분리(국회 골든셋) · RAG — 정답도·인용·temporal(49문항)</a:t>
            </a:r>
          </a:p>
        </p:txBody>
      </p:sp>
      <p:sp>
        <p:nvSpPr>
          <p:cNvPr id="12" name="TextBox 11"/>
          <p:cNvSpPr txBox="1"/>
          <p:nvPr/>
        </p:nvSpPr>
        <p:spPr>
          <a:xfrm>
            <a:off x="658368" y="5367528"/>
            <a:ext cx="914400" cy="822960"/>
          </a:xfrm>
          <a:prstGeom prst="rect">
            <a:avLst/>
          </a:prstGeom>
          <a:noFill/>
        </p:spPr>
        <p:txBody>
          <a:bodyPr wrap="none" anchor="ctr" tIns="0" bIns="0">
            <a:spAutoFit/>
          </a:bodyPr>
          <a:lstStyle/>
          <a:p>
            <a:r>
              <a:rPr sz="3000" b="1">
                <a:solidFill>
                  <a:srgbClr val="065A82"/>
                </a:solidFill>
                <a:latin typeface="맑은 고딕"/>
                <a:ea typeface="맑은 고딕"/>
                <a:cs typeface="맑은 고딕"/>
              </a:rPr>
              <a:t>05</a:t>
            </a:r>
          </a:p>
        </p:txBody>
      </p:sp>
      <p:sp>
        <p:nvSpPr>
          <p:cNvPr id="13" name="TextBox 12"/>
          <p:cNvSpPr txBox="1"/>
          <p:nvPr/>
        </p:nvSpPr>
        <p:spPr>
          <a:xfrm>
            <a:off x="1737360" y="5367528"/>
            <a:ext cx="9784080" cy="822960"/>
          </a:xfrm>
          <a:prstGeom prst="rect">
            <a:avLst/>
          </a:prstGeom>
          <a:noFill/>
        </p:spPr>
        <p:txBody>
          <a:bodyPr wrap="square" anchor="ctr" tIns="0" bIns="0">
            <a:spAutoFit/>
          </a:bodyPr>
          <a:lstStyle/>
          <a:p>
            <a:r>
              <a:rPr sz="2000" b="1">
                <a:solidFill>
                  <a:srgbClr val="16203A"/>
                </a:solidFill>
                <a:latin typeface="맑은 고딕"/>
                <a:ea typeface="맑은 고딕"/>
                <a:cs typeface="맑은 고딕"/>
              </a:rPr>
              <a:t>발전 방향</a:t>
            </a:r>
          </a:p>
          <a:p>
            <a:r>
              <a:rPr sz="1300">
                <a:solidFill>
                  <a:srgbClr val="5A6B8C"/>
                </a:solidFill>
                <a:latin typeface="맑은 고딕"/>
                <a:ea typeface="맑은 고딕"/>
                <a:cs typeface="맑은 고딕"/>
              </a:rPr>
              <a:t>서비스 운영이 곧 학습 데이터 — 골든셋 → 독자 모델 파인튜닝 → 온프레미스·클라우드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4649</Words>
  <Application>Microsoft Office PowerPoint</Application>
  <PresentationFormat>와이드스크린</PresentationFormat>
  <Paragraphs>352</Paragraphs>
  <Slides>16</Slides>
  <Notes>16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16</vt:i4>
      </vt:variant>
    </vt:vector>
  </HeadingPairs>
  <TitlesOfParts>
    <vt:vector size="21" baseType="lpstr">
      <vt:lpstr>맑은 고딕</vt:lpstr>
      <vt:lpstr>Arial</vt:lpstr>
      <vt:lpstr>Calibri</vt:lpstr>
      <vt:lpstr>Cambria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SynapVox 발표</dc:title>
  <dc:subject>PptxGenJS Presentation</dc:subject>
  <dc:creator>SynapVox</dc:creator>
  <cp:lastModifiedBy>a bc</cp:lastModifiedBy>
  <cp:revision>2</cp:revision>
  <dcterms:created xsi:type="dcterms:W3CDTF">2026-07-19T23:35:47Z</dcterms:created>
  <dcterms:modified xsi:type="dcterms:W3CDTF">2026-07-20T01:32:01Z</dcterms:modified>
</cp:coreProperties>
</file>